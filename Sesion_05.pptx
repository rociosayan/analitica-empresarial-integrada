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306" r:id="rId2"/>
    <p:sldId id="307" r:id="rId3"/>
    <p:sldId id="258" r:id="rId4"/>
    <p:sldId id="259" r:id="rId5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19" r:id="rId47"/>
    <p:sldId id="320" r:id="rId48"/>
    <p:sldId id="321" r:id="rId49"/>
    <p:sldId id="322" r:id="rId50"/>
    <p:sldId id="308" r:id="rId29"/>
    <p:sldId id="323" r:id="rId51"/>
    <p:sldId id="324" r:id="rId52"/>
    <p:sldId id="325" r:id="rId53"/>
    <p:sldId id="326" r:id="rId54"/>
    <p:sldId id="327" r:id="rId55"/>
    <p:sldId id="328" r:id="rId56"/>
    <p:sldId id="329" r:id="rId57"/>
    <p:sldId id="330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29" Type="http://schemas.openxmlformats.org/officeDocument/2006/relationships/slide" Target="slides/slide28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0D9C41-E925-46F2-8BD1-5CCE9E4476A6}" type="datetimeFigureOut">
              <a:rPr lang="es-PE" smtClean="0"/>
              <a:t>27/09/2026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888531-3C4D-42FD-A92B-15644527B8D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06971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f80e77ae7_4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7" name="Google Shape;237;g3cf80e77ae7_4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CDD1"/>
          </a:solidFill>
          <a:ln/>
        </p:spPr>
      </p:sp>
    </p:spTree>
    <p:extLst>
      <p:ext uri="{BB962C8B-B14F-4D97-AF65-F5344CB8AC3E}">
        <p14:creationId xmlns:p14="http://schemas.microsoft.com/office/powerpoint/2010/main" val="15242655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ENOVO\AppData\Local\Temp\claude\C--Users-LENOVO-Documents-CONTRATOS\f17f3f05-49d0-46aa-84a7-c43f168039e8\scratchpad\eliteed\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212" y="0"/>
            <a:ext cx="12191695" cy="68578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207" y="944856"/>
            <a:ext cx="5242429" cy="737598"/>
          </a:xfrm>
          <a:prstGeom prst="roundRect">
            <a:avLst>
              <a:gd name="adj" fmla="val 49587"/>
            </a:avLst>
          </a:prstGeom>
          <a:ln/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85117" y="1097280"/>
            <a:ext cx="377942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  <a:buClr>
                <a:srgbClr val="000000"/>
              </a:buClr>
            </a:pPr>
            <a:r>
              <a:rPr lang="en-US" sz="1500" b="1" dirty="0">
                <a:solidFill>
                  <a:srgbClr val="031A8D"/>
                </a:solidFill>
                <a:latin typeface="Montserrat"/>
                <a:sym typeface="Arial"/>
              </a:rPr>
              <a:t>PROGRAMA DE ESPECIALIZACIÓN</a:t>
            </a:r>
          </a:p>
        </p:txBody>
      </p:sp>
      <p:sp>
        <p:nvSpPr>
          <p:cNvPr id="5" name="Shape 2"/>
          <p:cNvSpPr/>
          <p:nvPr/>
        </p:nvSpPr>
        <p:spPr>
          <a:xfrm>
            <a:off x="827207" y="1682454"/>
            <a:ext cx="115821" cy="2072588"/>
          </a:xfrm>
          <a:prstGeom prst="rect">
            <a:avLst/>
          </a:prstGeom>
          <a:solidFill>
            <a:srgbClr val="CCA4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097252" y="1783080"/>
            <a:ext cx="889993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8"/>
              </a:lnSpc>
              <a:buClr>
                <a:srgbClr val="000000"/>
              </a:buClr>
            </a:pPr>
            <a:r>
              <a:rPr lang="es-MX" sz="4400" b="1" dirty="0">
                <a:solidFill>
                  <a:srgbClr val="D4AF37"/>
                </a:solidFill>
                <a:latin typeface="Montserrat"/>
                <a:sym typeface="Arial"/>
              </a:rPr>
              <a:t>SELECCIÓN Y VERIFICACIÓN DE FUENTES ACADÉMICAS</a:t>
            </a:r>
          </a:p>
        </p:txBody>
      </p:sp>
      <p:sp>
        <p:nvSpPr>
          <p:cNvPr id="7" name="Text 4"/>
          <p:cNvSpPr/>
          <p:nvPr/>
        </p:nvSpPr>
        <p:spPr>
          <a:xfrm>
            <a:off x="827207" y="3928736"/>
            <a:ext cx="935221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 2: Búsqueda Inteligente de Literatura y Herramientas de IA</a:t>
            </a:r>
          </a:p>
        </p:txBody>
      </p:sp>
      <p:sp>
        <p:nvSpPr>
          <p:cNvPr id="9" name="Text 6"/>
          <p:cNvSpPr/>
          <p:nvPr/>
        </p:nvSpPr>
        <p:spPr>
          <a:xfrm>
            <a:off x="3104143" y="5659755"/>
            <a:ext cx="59309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Docente: Lic. Pilar Rocío Sayán Mejía</a:t>
            </a:r>
            <a:r>
              <a:rPr lang="en-US" sz="21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E9151AAB-818C-8BDA-B0DD-E37A64264434}"/>
              </a:ext>
            </a:extLst>
          </p:cNvPr>
          <p:cNvSpPr/>
          <p:nvPr/>
        </p:nvSpPr>
        <p:spPr>
          <a:xfrm>
            <a:off x="827207" y="4923060"/>
            <a:ext cx="62636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5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Sesión 05: Selección y Verificación de Fuentes Académicas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196" y="784622"/>
            <a:ext cx="11785305" cy="5288756"/>
          </a:xfrm>
          <a:prstGeom prst="roundRect">
            <a:avLst>
              <a:gd name="adj" fmla="val 4353"/>
            </a:avLst>
          </a:prstGeom>
          <a:solidFill>
            <a:srgbClr val="FFFFFF"/>
          </a:solidFill>
          <a:ln w="6350">
            <a:solidFill>
              <a:srgbClr val="BBD9F5"/>
            </a:solidFill>
            <a:prstDash val="solid"/>
          </a:ln>
          <a:effectLst>
            <a:outerShdw blurRad="127" dist="90170" dir="2700000" algn="bl" rotWithShape="0">
              <a:srgbClr val="BBD9F5">
                <a:alpha val="100000"/>
              </a:srgbClr>
            </a:outerShdw>
          </a:effectLst>
        </p:spPr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95" y="784622"/>
            <a:ext cx="4640444" cy="528875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4" name="Text 1"/>
          <p:cNvSpPr/>
          <p:nvPr/>
        </p:nvSpPr>
        <p:spPr>
          <a:xfrm>
            <a:off x="5262134" y="1224260"/>
            <a:ext cx="6086918" cy="249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50" dirty="0">
                <a:latin typeface="Montserrat"/>
              </a:rPr>
              <a:t>Docente</a:t>
            </a:r>
          </a:p>
        </p:txBody>
      </p:sp>
      <p:sp>
        <p:nvSpPr>
          <p:cNvPr id="5" name="Text 2"/>
          <p:cNvSpPr/>
          <p:nvPr/>
        </p:nvSpPr>
        <p:spPr>
          <a:xfrm>
            <a:off x="5262134" y="1537892"/>
            <a:ext cx="6086918" cy="499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100" dirty="0">
                <a:latin typeface="Montserrat"/>
              </a:rPr>
              <a:t>Lic. Pilar Rocío Sayán Mejía</a:t>
            </a:r>
          </a:p>
        </p:txBody>
      </p:sp>
      <p:sp>
        <p:nvSpPr>
          <p:cNvPr id="6" name="Shape 3"/>
          <p:cNvSpPr/>
          <p:nvPr/>
        </p:nvSpPr>
        <p:spPr>
          <a:xfrm>
            <a:off x="5262134" y="2277369"/>
            <a:ext cx="2963491" cy="1981795"/>
          </a:xfrm>
          <a:prstGeom prst="roundRect">
            <a:avLst>
              <a:gd name="adj" fmla="val 7261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41021" y="2456260"/>
            <a:ext cx="2605717" cy="249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50" dirty="0">
                <a:latin typeface="Montserrat"/>
              </a:rPr>
              <a:t>Formación</a:t>
            </a:r>
          </a:p>
        </p:txBody>
      </p:sp>
      <p:sp>
        <p:nvSpPr>
          <p:cNvPr id="8" name="Text 5"/>
          <p:cNvSpPr/>
          <p:nvPr/>
        </p:nvSpPr>
        <p:spPr>
          <a:xfrm>
            <a:off x="5441021" y="2801838"/>
            <a:ext cx="2605717" cy="1278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250" dirty="0">
                <a:latin typeface="Montserrat"/>
              </a:rPr>
              <a:t>Licenciada en Comunicación y especialista en entornos digitales, investigación académica y tecnologías aplicadas a la educación.</a:t>
            </a:r>
          </a:p>
        </p:txBody>
      </p:sp>
      <p:sp>
        <p:nvSpPr>
          <p:cNvPr id="9" name="Shape 6"/>
          <p:cNvSpPr/>
          <p:nvPr/>
        </p:nvSpPr>
        <p:spPr>
          <a:xfrm>
            <a:off x="8385462" y="2277369"/>
            <a:ext cx="2963590" cy="1981795"/>
          </a:xfrm>
          <a:prstGeom prst="roundRect">
            <a:avLst>
              <a:gd name="adj" fmla="val 7261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64348" y="2456260"/>
            <a:ext cx="2605816" cy="249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50" dirty="0">
                <a:latin typeface="Montserrat"/>
              </a:rPr>
              <a:t>Experiencia Docente</a:t>
            </a:r>
          </a:p>
        </p:txBody>
      </p:sp>
      <p:sp>
        <p:nvSpPr>
          <p:cNvPr id="11" name="Text 8"/>
          <p:cNvSpPr/>
          <p:nvPr/>
        </p:nvSpPr>
        <p:spPr>
          <a:xfrm>
            <a:off x="8564348" y="2801839"/>
            <a:ext cx="2605816" cy="1022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>
              <a:lnSpc>
                <a:spcPct val="133000"/>
              </a:lnSpc>
            </a:pPr>
            <a:r>
              <a:rPr lang="en-US" sz="1250" dirty="0">
                <a:latin typeface="Montserrat"/>
              </a:rPr>
              <a:t>Facilitadora de programas de especialización en IA, pensamiento crítico e investigación aplicada con herramientas tecnológicas.</a:t>
            </a:r>
          </a:p>
        </p:txBody>
      </p:sp>
      <p:sp>
        <p:nvSpPr>
          <p:cNvPr id="12" name="Shape 9"/>
          <p:cNvSpPr/>
          <p:nvPr/>
        </p:nvSpPr>
        <p:spPr>
          <a:xfrm>
            <a:off x="5262134" y="4419006"/>
            <a:ext cx="6086918" cy="1214735"/>
          </a:xfrm>
          <a:prstGeom prst="roundRect">
            <a:avLst>
              <a:gd name="adj" fmla="val 11845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41020" y="4597896"/>
            <a:ext cx="5729144" cy="249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50" dirty="0">
                <a:latin typeface="Montserrat"/>
              </a:rPr>
              <a:t>Enfoque</a:t>
            </a:r>
          </a:p>
        </p:txBody>
      </p:sp>
      <p:sp>
        <p:nvSpPr>
          <p:cNvPr id="14" name="Text 11"/>
          <p:cNvSpPr/>
          <p:nvPr/>
        </p:nvSpPr>
        <p:spPr>
          <a:xfrm>
            <a:off x="5441020" y="4943476"/>
            <a:ext cx="5729144" cy="511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250" dirty="0">
                <a:latin typeface="Montserrat"/>
              </a:rPr>
              <a:t>Combina fundamentos teóricos sólidos con laboratorios prácticos que desarrollan criterio analítico y autonomía investigadora.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478B04F-572C-AF9B-FBEC-1C6EA61F0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1890"/>
            <a:ext cx="12192000" cy="6879891"/>
          </a:xfrm>
          <a:prstGeom prst="rect">
            <a:avLst/>
          </a:prstGeom>
        </p:spPr>
      </p:pic>
      <p:sp>
        <p:nvSpPr>
          <p:cNvPr id="17" name="Shape 4">
            <a:extLst>
              <a:ext uri="{FF2B5EF4-FFF2-40B4-BE49-F238E27FC236}">
                <a16:creationId xmlns:a16="http://schemas.microsoft.com/office/drawing/2014/main" id="{F9F8CD91-3EB0-3505-1123-0ABE8AAF20EA}"/>
              </a:ext>
            </a:extLst>
          </p:cNvPr>
          <p:cNvSpPr/>
          <p:nvPr/>
        </p:nvSpPr>
        <p:spPr>
          <a:xfrm>
            <a:off x="2203978" y="4492961"/>
            <a:ext cx="2587453" cy="1394212"/>
          </a:xfrm>
          <a:prstGeom prst="roundRect">
            <a:avLst>
              <a:gd name="adj" fmla="val 1691"/>
            </a:avLst>
          </a:prstGeom>
          <a:solidFill>
            <a:schemeClr val="bg1"/>
          </a:solidFill>
          <a:ln w="38100">
            <a:solidFill>
              <a:srgbClr val="000156"/>
            </a:solidFill>
            <a:prstDash val="sysDot"/>
          </a:ln>
        </p:spPr>
        <p:txBody>
          <a:bodyPr/>
          <a:lstStyle/>
          <a:p>
            <a:endParaRPr lang="es-PE" sz="2400" dirty="0">
              <a:latin typeface="Montserrat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943B41A7-1693-2AEC-4E89-25DD1F82D67B}"/>
              </a:ext>
            </a:extLst>
          </p:cNvPr>
          <p:cNvSpPr/>
          <p:nvPr/>
        </p:nvSpPr>
        <p:spPr>
          <a:xfrm>
            <a:off x="2297412" y="5003660"/>
            <a:ext cx="2317121" cy="883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latin typeface="Montserrat"/>
              </a:rPr>
              <a:t>Python · R · SQL · React · </a:t>
            </a:r>
          </a:p>
          <a:p>
            <a:pPr>
              <a:lnSpc>
                <a:spcPct val="133000"/>
              </a:lnSpc>
            </a:pPr>
            <a:r>
              <a:rPr lang="en-US" sz="1200" dirty="0">
                <a:latin typeface="Montserrat"/>
              </a:rPr>
              <a:t>TypeScript · </a:t>
            </a:r>
            <a:r>
              <a:rPr lang="en-US" sz="1200" dirty="0" err="1">
                <a:latin typeface="Montserrat"/>
              </a:rPr>
              <a:t>Supabase</a:t>
            </a:r>
            <a:r>
              <a:rPr lang="en-US" sz="1200" dirty="0">
                <a:latin typeface="Montserrat"/>
              </a:rPr>
              <a:t> · APIs </a:t>
            </a:r>
          </a:p>
          <a:p>
            <a:pPr>
              <a:lnSpc>
                <a:spcPct val="133000"/>
              </a:lnSpc>
            </a:pPr>
            <a:r>
              <a:rPr lang="en-US" sz="1200" dirty="0">
                <a:latin typeface="Montserrat"/>
              </a:rPr>
              <a:t>· LLMs · Git/GitHub</a:t>
            </a: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40D22330-A528-9B3A-BC4C-A542DCA468EE}"/>
              </a:ext>
            </a:extLst>
          </p:cNvPr>
          <p:cNvSpPr/>
          <p:nvPr/>
        </p:nvSpPr>
        <p:spPr>
          <a:xfrm>
            <a:off x="2302130" y="4633485"/>
            <a:ext cx="1791994" cy="309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latin typeface="Montserrat"/>
              </a:rPr>
              <a:t>Herramientas</a:t>
            </a:r>
            <a:endParaRPr lang="en-US" sz="1400" b="1" dirty="0">
              <a:latin typeface="Montserrat" panose="020B060402020202020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EA0138F-2062-4DE2-47B9-6A5B9F66B869}"/>
              </a:ext>
            </a:extLst>
          </p:cNvPr>
          <p:cNvSpPr/>
          <p:nvPr/>
        </p:nvSpPr>
        <p:spPr>
          <a:xfrm>
            <a:off x="4798165" y="784623"/>
            <a:ext cx="6962647" cy="5448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>
              <a:latin typeface="Montserrat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605810E-BC40-7989-1C4C-3528A873D718}"/>
              </a:ext>
            </a:extLst>
          </p:cNvPr>
          <p:cNvSpPr txBox="1"/>
          <p:nvPr/>
        </p:nvSpPr>
        <p:spPr>
          <a:xfrm>
            <a:off x="4850374" y="624981"/>
            <a:ext cx="6319791" cy="57246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s-MX" sz="1700" dirty="0">
              <a:latin typeface="Montserrat"/>
            </a:endParaRPr>
          </a:p>
          <a:p>
            <a:pPr algn="just"/>
            <a:r>
              <a:rPr lang="es-MX" sz="1500" dirty="0">
                <a:latin typeface="Montserrat"/>
              </a:rPr>
              <a:t>Docente especialista en Estadística Aplicada, Ciencia de Datos, Inteligencia Artificial y Analítica de Negocios, con más de 20 años de experiencia en educación superior y capacitación profesional. Cuenta con trayectoria en análisis de datos, Machine </a:t>
            </a:r>
            <a:r>
              <a:rPr lang="es-MX" sz="1500" dirty="0" err="1">
                <a:latin typeface="Montserrat"/>
              </a:rPr>
              <a:t>Learning</a:t>
            </a:r>
            <a:r>
              <a:rPr lang="es-MX" sz="1500" dirty="0">
                <a:latin typeface="Montserrat"/>
              </a:rPr>
              <a:t>, investigación aplicada y desarrollo de soluciones tecnológicas orientadas a la resolución de problemas reales.</a:t>
            </a:r>
          </a:p>
          <a:p>
            <a:endParaRPr lang="es-MX" sz="1500" dirty="0">
              <a:latin typeface="Montserrat"/>
            </a:endParaRPr>
          </a:p>
          <a:p>
            <a:pPr algn="just"/>
            <a:r>
              <a:rPr lang="es-MX" sz="1500" dirty="0">
                <a:latin typeface="Montserrat"/>
              </a:rPr>
              <a:t>Su experiencia integra herramientas como Python, R y SQL con tecnologías para el desarrollo de aplicaciones como </a:t>
            </a:r>
            <a:r>
              <a:rPr lang="es-MX" sz="1500" dirty="0" err="1">
                <a:latin typeface="Montserrat"/>
              </a:rPr>
              <a:t>React</a:t>
            </a:r>
            <a:r>
              <a:rPr lang="es-MX" sz="1500" dirty="0">
                <a:latin typeface="Montserrat"/>
              </a:rPr>
              <a:t>, </a:t>
            </a:r>
            <a:r>
              <a:rPr lang="es-MX" sz="1500" dirty="0" err="1">
                <a:latin typeface="Montserrat"/>
              </a:rPr>
              <a:t>TypeScript</a:t>
            </a:r>
            <a:r>
              <a:rPr lang="es-MX" sz="1500" dirty="0">
                <a:latin typeface="Montserrat"/>
              </a:rPr>
              <a:t>, </a:t>
            </a:r>
            <a:r>
              <a:rPr lang="es-MX" sz="1500" dirty="0" err="1">
                <a:latin typeface="Montserrat"/>
              </a:rPr>
              <a:t>Supabase</a:t>
            </a:r>
            <a:r>
              <a:rPr lang="es-MX" sz="1500" dirty="0">
                <a:latin typeface="Montserrat"/>
              </a:rPr>
              <a:t> y Git/GitHub, incorporando actualmente IA generativa, modelos de lenguaje (</a:t>
            </a:r>
            <a:r>
              <a:rPr lang="es-MX" sz="1500" dirty="0" err="1">
                <a:latin typeface="Montserrat"/>
              </a:rPr>
              <a:t>LLMs</a:t>
            </a:r>
            <a:r>
              <a:rPr lang="es-MX" sz="1500" dirty="0">
                <a:latin typeface="Montserrat"/>
              </a:rPr>
              <a:t>), </a:t>
            </a:r>
            <a:r>
              <a:rPr lang="es-MX" sz="1500" dirty="0" err="1">
                <a:latin typeface="Montserrat"/>
              </a:rPr>
              <a:t>APIs</a:t>
            </a:r>
            <a:r>
              <a:rPr lang="es-MX" sz="1500" dirty="0">
                <a:latin typeface="Montserrat"/>
              </a:rPr>
              <a:t> de inteligencia artificial y herramientas de desarrollo asistido por IA.</a:t>
            </a:r>
          </a:p>
          <a:p>
            <a:endParaRPr lang="es-MX" sz="1500" dirty="0">
              <a:latin typeface="Montserrat"/>
            </a:endParaRPr>
          </a:p>
          <a:p>
            <a:pPr algn="just"/>
            <a:r>
              <a:rPr lang="es-MX" sz="1500" dirty="0">
                <a:latin typeface="Montserrat"/>
              </a:rPr>
              <a:t>En su labor docente promueve un enfoque práctico basado en proyectos, integrando datos, programación, desarrollo Full </a:t>
            </a:r>
            <a:r>
              <a:rPr lang="es-MX" sz="1500" dirty="0" err="1">
                <a:latin typeface="Montserrat"/>
              </a:rPr>
              <a:t>Stack</a:t>
            </a:r>
            <a:r>
              <a:rPr lang="es-MX" sz="1500" dirty="0">
                <a:latin typeface="Montserrat"/>
              </a:rPr>
              <a:t> e Inteligencia Artificial para que los estudiantes puedan diseñar y construir soluciones funcionales. Actualmente desarrolla actividades de docencia, capacitación y asesoría en Ciencia de Datos, Analítica, Inteligencia Artificial y transformación digital.</a:t>
            </a:r>
          </a:p>
          <a:p>
            <a:endParaRPr lang="es-MX" sz="1700" dirty="0">
              <a:latin typeface="Montserrat"/>
            </a:endParaRPr>
          </a:p>
          <a:p>
            <a:endParaRPr lang="es-MX" sz="1700" dirty="0">
              <a:latin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enda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12" y="427292"/>
            <a:ext cx="10228277" cy="717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700" b="1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515600" cy="841248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792224"/>
            <a:ext cx="548640" cy="54864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645920"/>
            <a:ext cx="237744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Selección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645920"/>
            <a:ext cx="713232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Seleccionar fuentes actuales, pertinentes, de calidad y de acceso abierto a partir de una lista de resultados.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78608"/>
            <a:ext cx="10515600" cy="841248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724912"/>
            <a:ext cx="548640" cy="54864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78608"/>
            <a:ext cx="237744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Lectura rápida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578608"/>
            <a:ext cx="713232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Leer la ficha de un artículo (título, resumen, revista, año y autores) para decidir si merece una lectura completa.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11296"/>
            <a:ext cx="10515600" cy="841248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3657600"/>
            <a:ext cx="548640" cy="54864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511296"/>
            <a:ext cx="237744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Verificación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3511296"/>
            <a:ext cx="713232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Comprobar autor, año, revista y DOI en la página del editor o en Crossref.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43984"/>
            <a:ext cx="10515600" cy="841248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4590288"/>
            <a:ext cx="548640" cy="54864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443984"/>
            <a:ext cx="237744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Referencias falsas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4443984"/>
            <a:ext cx="713232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Reconocer una referencia inventada o incompleta y contrastar lo sugerido por la IA con lo recuperado en Scholar.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376672"/>
            <a:ext cx="10515600" cy="841248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5522976"/>
            <a:ext cx="548640" cy="54864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376672"/>
            <a:ext cx="237744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Registro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5376672"/>
            <a:ext cx="713232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Obtener la cita en APA, revisarla a mano y registrar cinco fuentes verificadas con su justificación.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enda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12" y="427292"/>
            <a:ext cx="10228277" cy="717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700" b="1">
                <a:solidFill>
                  <a:srgbClr val="FFFFFF"/>
                </a:solidFill>
                <a:latin typeface="Calibri"/>
              </a:rPr>
              <a:t>RUTA DE APRENDIZAJE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39319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Bienvenida y punto de partida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1645920"/>
            <a:ext cx="5303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De la lista de resultados a la fuente elegida.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0" y="1755648"/>
            <a:ext cx="914400" cy="466344"/>
          </a:xfrm>
          <a:prstGeom prst="roundRect">
            <a:avLst>
              <a:gd name="adj" fmla="val 3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0" y="1755648"/>
            <a:ext cx="914400" cy="4663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2316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39319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Criterios de selección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423160"/>
            <a:ext cx="5303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Actualidad, pertinencia, calidad y acceso abierto.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0" y="2532888"/>
            <a:ext cx="914400" cy="466344"/>
          </a:xfrm>
          <a:prstGeom prst="roundRect">
            <a:avLst>
              <a:gd name="adj" fmla="val 3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87000" y="2532888"/>
            <a:ext cx="914400" cy="4663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20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0040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39319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Demostración de verificación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200400"/>
            <a:ext cx="5303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Crossref, DOI y el caso de una referencia inventada.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0" y="3310128"/>
            <a:ext cx="914400" cy="466344"/>
          </a:xfrm>
          <a:prstGeom prst="roundRect">
            <a:avLst>
              <a:gd name="adj" fmla="val 3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7000" y="3310128"/>
            <a:ext cx="914400" cy="4663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25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77639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77639"/>
            <a:ext cx="39319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Verificación individual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977639"/>
            <a:ext cx="5303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Compruebas las fuentes de tu propio tema.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0" y="4087368"/>
            <a:ext cx="914400" cy="466344"/>
          </a:xfrm>
          <a:prstGeom prst="roundRect">
            <a:avLst>
              <a:gd name="adj" fmla="val 3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4087368"/>
            <a:ext cx="914400" cy="4663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35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754879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754879"/>
            <a:ext cx="39319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Selección y 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754879"/>
            <a:ext cx="5303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Eliges, justificas y registras tus cinco fuentes.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87000" y="4864607"/>
            <a:ext cx="914400" cy="466344"/>
          </a:xfrm>
          <a:prstGeom prst="roundRect">
            <a:avLst>
              <a:gd name="adj" fmla="val 3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87000" y="4864607"/>
            <a:ext cx="914400" cy="4663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20 min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532119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532119"/>
            <a:ext cx="39319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Cierre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5532119"/>
            <a:ext cx="5303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Síntesis, dudas y transferencia al caso autónomo.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87000" y="5641847"/>
            <a:ext cx="914400" cy="466344"/>
          </a:xfrm>
          <a:prstGeom prst="roundRect">
            <a:avLst>
              <a:gd name="adj" fmla="val 3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87000" y="5641847"/>
            <a:ext cx="914400" cy="4663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f80e77ae7_4_178"/>
          <p:cNvSpPr/>
          <p:nvPr/>
        </p:nvSpPr>
        <p:spPr>
          <a:xfrm>
            <a:off x="-147963" y="-69639"/>
            <a:ext cx="12487926" cy="7117830"/>
          </a:xfrm>
          <a:custGeom>
            <a:avLst/>
            <a:gdLst/>
            <a:ahLst/>
            <a:cxnLst/>
            <a:rect l="l" t="t" r="r" b="b"/>
            <a:pathLst>
              <a:path w="4933502" h="2811982" extrusionOk="0">
                <a:moveTo>
                  <a:pt x="0" y="0"/>
                </a:moveTo>
                <a:lnTo>
                  <a:pt x="4933502" y="0"/>
                </a:lnTo>
                <a:lnTo>
                  <a:pt x="4933502" y="2811982"/>
                </a:lnTo>
                <a:lnTo>
                  <a:pt x="0" y="281198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grpSp>
        <p:nvGrpSpPr>
          <p:cNvPr id="242" name="Google Shape;242;g3cf80e77ae7_4_178"/>
          <p:cNvGrpSpPr/>
          <p:nvPr/>
        </p:nvGrpSpPr>
        <p:grpSpPr>
          <a:xfrm>
            <a:off x="0" y="4707312"/>
            <a:ext cx="12192000" cy="2150689"/>
            <a:chOff x="0" y="-38100"/>
            <a:chExt cx="14449778" cy="2548965"/>
          </a:xfrm>
        </p:grpSpPr>
        <p:sp>
          <p:nvSpPr>
            <p:cNvPr id="243" name="Google Shape;243;g3cf80e77ae7_4_178"/>
            <p:cNvSpPr/>
            <p:nvPr/>
          </p:nvSpPr>
          <p:spPr>
            <a:xfrm>
              <a:off x="0" y="0"/>
              <a:ext cx="14449778" cy="2510865"/>
            </a:xfrm>
            <a:custGeom>
              <a:avLst/>
              <a:gdLst/>
              <a:ahLst/>
              <a:cxnLst/>
              <a:rect l="l" t="t" r="r" b="b"/>
              <a:pathLst>
                <a:path w="14449778" h="2510865" extrusionOk="0">
                  <a:moveTo>
                    <a:pt x="0" y="0"/>
                  </a:moveTo>
                  <a:lnTo>
                    <a:pt x="14449778" y="0"/>
                  </a:lnTo>
                  <a:lnTo>
                    <a:pt x="14449778" y="2510865"/>
                  </a:lnTo>
                  <a:lnTo>
                    <a:pt x="0" y="2510865"/>
                  </a:lnTo>
                  <a:close/>
                </a:path>
              </a:pathLst>
            </a:custGeom>
            <a:gradFill>
              <a:gsLst>
                <a:gs pos="0">
                  <a:srgbClr val="031A8D"/>
                </a:gs>
                <a:gs pos="33333">
                  <a:srgbClr val="000156"/>
                </a:gs>
                <a:gs pos="66667">
                  <a:srgbClr val="000156"/>
                </a:gs>
                <a:gs pos="100000">
                  <a:srgbClr val="000156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244" name="Google Shape;244;g3cf80e77ae7_4_178"/>
            <p:cNvSpPr txBox="1"/>
            <p:nvPr/>
          </p:nvSpPr>
          <p:spPr>
            <a:xfrm>
              <a:off x="0" y="-38100"/>
              <a:ext cx="14449778" cy="2548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g3cf80e77ae7_4_178"/>
          <p:cNvSpPr/>
          <p:nvPr/>
        </p:nvSpPr>
        <p:spPr>
          <a:xfrm>
            <a:off x="7894980" y="0"/>
            <a:ext cx="3611221" cy="8014953"/>
          </a:xfrm>
          <a:custGeom>
            <a:avLst/>
            <a:gdLst/>
            <a:ahLst/>
            <a:cxnLst/>
            <a:rect l="l" t="t" r="r" b="b"/>
            <a:pathLst>
              <a:path w="2858770" h="6344920" extrusionOk="0">
                <a:moveTo>
                  <a:pt x="1827530" y="6344920"/>
                </a:moveTo>
                <a:lnTo>
                  <a:pt x="0" y="6344920"/>
                </a:lnTo>
                <a:lnTo>
                  <a:pt x="0" y="1031240"/>
                </a:lnTo>
                <a:cubicBezTo>
                  <a:pt x="0" y="461010"/>
                  <a:pt x="461010" y="0"/>
                  <a:pt x="1031240" y="0"/>
                </a:cubicBezTo>
                <a:lnTo>
                  <a:pt x="2858770" y="0"/>
                </a:lnTo>
                <a:lnTo>
                  <a:pt x="2858770" y="5313680"/>
                </a:lnTo>
                <a:cubicBezTo>
                  <a:pt x="2858770" y="5883910"/>
                  <a:pt x="2397760" y="6344920"/>
                  <a:pt x="1827530" y="6344920"/>
                </a:cubicBezTo>
                <a:close/>
              </a:path>
            </a:pathLst>
          </a:custGeom>
          <a:blipFill rotWithShape="1">
            <a:blip r:embed="rId3">
              <a:alphaModFix amt="93000"/>
            </a:blip>
            <a:stretch>
              <a:fillRect l="-113407" r="-119516"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endParaRPr sz="1200"/>
          </a:p>
        </p:txBody>
      </p:sp>
      <p:grpSp>
        <p:nvGrpSpPr>
          <p:cNvPr id="246" name="Google Shape;246;g3cf80e77ae7_4_178"/>
          <p:cNvGrpSpPr/>
          <p:nvPr/>
        </p:nvGrpSpPr>
        <p:grpSpPr>
          <a:xfrm>
            <a:off x="11506200" y="-32147"/>
            <a:ext cx="685800" cy="717947"/>
            <a:chOff x="0" y="-38100"/>
            <a:chExt cx="812800" cy="850900"/>
          </a:xfrm>
        </p:grpSpPr>
        <p:sp>
          <p:nvSpPr>
            <p:cNvPr id="247" name="Google Shape;247;g3cf80e77ae7_4_17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11754"/>
            </a:solidFill>
            <a:ln>
              <a:noFill/>
            </a:ln>
          </p:spPr>
        </p:sp>
        <p:sp>
          <p:nvSpPr>
            <p:cNvPr id="248" name="Google Shape;248;g3cf80e77ae7_4_17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g3cf80e77ae7_4_178"/>
          <p:cNvGrpSpPr/>
          <p:nvPr/>
        </p:nvGrpSpPr>
        <p:grpSpPr>
          <a:xfrm>
            <a:off x="7235925" y="462783"/>
            <a:ext cx="1318109" cy="1379896"/>
            <a:chOff x="0" y="-38100"/>
            <a:chExt cx="812800" cy="850900"/>
          </a:xfrm>
        </p:grpSpPr>
        <p:sp>
          <p:nvSpPr>
            <p:cNvPr id="250" name="Google Shape;250;g3cf80e77ae7_4_17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99699" y="0"/>
                  </a:moveTo>
                  <a:lnTo>
                    <a:pt x="613101" y="0"/>
                  </a:lnTo>
                  <a:cubicBezTo>
                    <a:pt x="666064" y="0"/>
                    <a:pt x="716859" y="21040"/>
                    <a:pt x="754309" y="58491"/>
                  </a:cubicBezTo>
                  <a:cubicBezTo>
                    <a:pt x="791760" y="95941"/>
                    <a:pt x="812800" y="146736"/>
                    <a:pt x="812800" y="199699"/>
                  </a:cubicBezTo>
                  <a:lnTo>
                    <a:pt x="812800" y="613101"/>
                  </a:lnTo>
                  <a:cubicBezTo>
                    <a:pt x="812800" y="666064"/>
                    <a:pt x="791760" y="716859"/>
                    <a:pt x="754309" y="754309"/>
                  </a:cubicBezTo>
                  <a:cubicBezTo>
                    <a:pt x="716859" y="791760"/>
                    <a:pt x="666064" y="812800"/>
                    <a:pt x="613101" y="812800"/>
                  </a:cubicBezTo>
                  <a:lnTo>
                    <a:pt x="199699" y="812800"/>
                  </a:lnTo>
                  <a:cubicBezTo>
                    <a:pt x="146736" y="812800"/>
                    <a:pt x="95941" y="791760"/>
                    <a:pt x="58491" y="754309"/>
                  </a:cubicBezTo>
                  <a:cubicBezTo>
                    <a:pt x="21040" y="716859"/>
                    <a:pt x="0" y="666064"/>
                    <a:pt x="0" y="613101"/>
                  </a:cubicBezTo>
                  <a:lnTo>
                    <a:pt x="0" y="199699"/>
                  </a:lnTo>
                  <a:cubicBezTo>
                    <a:pt x="0" y="146736"/>
                    <a:pt x="21040" y="95941"/>
                    <a:pt x="58491" y="58491"/>
                  </a:cubicBezTo>
                  <a:cubicBezTo>
                    <a:pt x="95941" y="21040"/>
                    <a:pt x="146736" y="0"/>
                    <a:pt x="199699" y="0"/>
                  </a:cubicBezTo>
                  <a:close/>
                </a:path>
              </a:pathLst>
            </a:custGeom>
            <a:solidFill>
              <a:srgbClr val="011754">
                <a:alpha val="29803"/>
              </a:srgbClr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251" name="Google Shape;251;g3cf80e77ae7_4_17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g3cf80e77ae7_4_178"/>
          <p:cNvSpPr txBox="1"/>
          <p:nvPr/>
        </p:nvSpPr>
        <p:spPr>
          <a:xfrm>
            <a:off x="904150" y="4800600"/>
            <a:ext cx="67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s-MX" sz="1800" dirty="0">
                <a:solidFill>
                  <a:srgbClr val="FFFFFF"/>
                </a:solidFill>
                <a:latin typeface="Calibri"/>
              </a:rPr>
              <a:t>Trabajaremos con tus resultados de la sesión anterior</a:t>
            </a:r>
          </a:p>
          <a:p>
            <a:pPr marL="331107" indent="-165553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lang="es-MX" sz="1800" dirty="0">
                <a:solidFill>
                  <a:srgbClr val="FFFFFF"/>
                </a:solidFill>
                <a:latin typeface="Calibri"/>
              </a:rPr>
              <a:t>Ten abierta Google Scholar y tus cadenas de búsqueda</a:t>
            </a:r>
          </a:p>
          <a:p>
            <a:pPr marL="331107" indent="-165553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lang="es-MX" sz="1800" dirty="0">
                <a:solidFill>
                  <a:srgbClr val="FFFFFF"/>
                </a:solidFill>
                <a:latin typeface="Calibri"/>
              </a:rPr>
              <a:t>Ten a mano la ficha de verificación</a:t>
            </a:r>
            <a:endParaRPr lang="es-MX" sz="1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3" name="Google Shape;253;g3cf80e77ae7_4_178"/>
          <p:cNvSpPr txBox="1"/>
          <p:nvPr/>
        </p:nvSpPr>
        <p:spPr>
          <a:xfrm>
            <a:off x="1082949" y="1563660"/>
            <a:ext cx="5863764" cy="245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6934" b="1" dirty="0">
                <a:solidFill>
                  <a:srgbClr val="000156"/>
                </a:solidFill>
                <a:latin typeface="Fira Sans"/>
                <a:ea typeface="Fira Sans"/>
                <a:cs typeface="Fira Sans"/>
                <a:sym typeface="Fira Sans"/>
              </a:rPr>
              <a:t>VAMOS A LA PRÁCTICA</a:t>
            </a:r>
            <a:endParaRPr sz="1200" dirty="0"/>
          </a:p>
        </p:txBody>
      </p:sp>
      <p:grpSp>
        <p:nvGrpSpPr>
          <p:cNvPr id="254" name="Google Shape;254;g3cf80e77ae7_4_178"/>
          <p:cNvGrpSpPr/>
          <p:nvPr/>
        </p:nvGrpSpPr>
        <p:grpSpPr>
          <a:xfrm>
            <a:off x="5656329" y="6009371"/>
            <a:ext cx="1697259" cy="1697259"/>
            <a:chOff x="0" y="0"/>
            <a:chExt cx="812800" cy="812800"/>
          </a:xfrm>
        </p:grpSpPr>
        <p:sp>
          <p:nvSpPr>
            <p:cNvPr id="255" name="Google Shape;255;g3cf80e77ae7_4_17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w="571500" cap="sq" cmpd="sng">
              <a:solidFill>
                <a:srgbClr val="0345E4">
                  <a:alpha val="9803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256" name="Google Shape;256;g3cf80e77ae7_4_17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g3cf80e77ae7_4_178"/>
          <p:cNvSpPr/>
          <p:nvPr/>
        </p:nvSpPr>
        <p:spPr>
          <a:xfrm>
            <a:off x="11170168" y="142088"/>
            <a:ext cx="879745" cy="879745"/>
          </a:xfrm>
          <a:custGeom>
            <a:avLst/>
            <a:gdLst/>
            <a:ahLst/>
            <a:cxnLst/>
            <a:rect l="l" t="t" r="r" b="b"/>
            <a:pathLst>
              <a:path w="1319617" h="1319617" extrusionOk="0">
                <a:moveTo>
                  <a:pt x="0" y="0"/>
                </a:moveTo>
                <a:lnTo>
                  <a:pt x="1319617" y="0"/>
                </a:lnTo>
                <a:lnTo>
                  <a:pt x="1319617" y="1319617"/>
                </a:lnTo>
                <a:lnTo>
                  <a:pt x="0" y="13196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 w="47625" cap="sq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EA5FC1F7-28A3-C8DA-1E0C-19D3168E7153}"/>
              </a:ext>
            </a:extLst>
          </p:cNvPr>
          <p:cNvSpPr txBox="1"/>
          <p:nvPr/>
        </p:nvSpPr>
        <p:spPr>
          <a:xfrm>
            <a:off x="324048" y="4124852"/>
            <a:ext cx="9863333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 dirty="0">
                <a:solidFill>
                  <a:srgbClr val="011754"/>
                </a:solidFill>
                <a:latin typeface="Calibri"/>
              </a:rPr>
              <a:t>De una lista de resultados a cinco fuentes verificadas</a:t>
            </a:r>
            <a:endParaRPr sz="1600" b="0" i="0" dirty="0">
              <a:solidFill>
                <a:srgbClr val="01175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Antes de seguir: ¿qué fuente citarías?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11754"/>
                </a:solidFill>
                <a:latin typeface="Calibri"/>
              </a:rPr>
              <a:t>Tienes cuatro resultados sobre tu tema. ¿Cuál incorporarías a tu investigación?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5740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67128"/>
            <a:ext cx="2240280" cy="2432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Artículo de 2012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Muy citado, pero anterior a los modelos de IA generativa actuales.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205740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2167128"/>
            <a:ext cx="2240280" cy="2432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Nota de un blog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Bien redactada, sin autor identificable ni referencias.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205740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167128"/>
            <a:ext cx="2240280" cy="2432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Referencia de la IA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Autor, año, revista y DOI completos, pero no la encuentras en Scholar.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9408" y="205740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62288" y="2167128"/>
            <a:ext cx="2240280" cy="2432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Artículo de 2023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Revista indexada, resumen pertinente y PDF de acceso abierto.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5029200"/>
            <a:ext cx="10972800" cy="8229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02920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Pausa activa: justifica con un compañero qué criterio usaste para descartar cada una.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De la lista de resultados a la fuente elegida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Buscar termina cuando tienes resultados; seleccionar empieza ahí.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5740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48840"/>
            <a:ext cx="2240280" cy="2926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1 · Resultados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Los que devolvió Google Scholar con tus cadenas de la sesión anterior.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205740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2148840"/>
            <a:ext cx="2240280" cy="2926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2 · Preselección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Descartas por título, año y resumen los que claramente no encajan.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205740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148840"/>
            <a:ext cx="2240280" cy="2926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3 · Verificación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Compruebas que la fuente existe y que sus datos son correctos.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9408" y="205740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62288" y="2148840"/>
            <a:ext cx="2240280" cy="2926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D4AF37"/>
                </a:solidFill>
                <a:latin typeface="Calibri"/>
              </a:rPr>
              <a:t>4 · Selección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Conservas las que aportan a tu pregunta y las justificas.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5440680"/>
            <a:ext cx="10972800" cy="73152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4406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Una fuente que aparece en una lista todavía no es una fuente confiable.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Cuatro criterios para seleccionar una fuente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709928"/>
            <a:ext cx="502920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Actualidad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Publicada en un periodo razonable para el tema. En IA generativa, conviene priorizar los últimos 3 a 5 años.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160020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3368" y="1709928"/>
            <a:ext cx="502920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Pertinencia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Responde a tu pregunta: coincide con tus conceptos, tu población y tu contexto.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749039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858768"/>
            <a:ext cx="502920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Calidad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Revista con revisión por pares, autores identificables, método descrito y referencias.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3749039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3858768"/>
            <a:ext cx="502920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Acceso abierto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Puedes leer el texto completo; si no, hay una versión en repositorio o por tu biblioteca.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5486400"/>
            <a:ext cx="10972800" cy="64008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54864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Una fuente debe cumplir los cuatro; si falla uno, justifica por qué la conservas.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Señales de calidad de una fuente académica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108960" cy="77724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292607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Revista o editorial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3048" y="1600200"/>
            <a:ext cx="7772400" cy="7772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40" y="1600200"/>
            <a:ext cx="749807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Tiene sitio web propio, comité editorial y política de revisión por pares.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487168"/>
            <a:ext cx="3108960" cy="77724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87168"/>
            <a:ext cx="292607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Autores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3048" y="2487168"/>
            <a:ext cx="7772400" cy="7772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2487168"/>
            <a:ext cx="749807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Con nombre completo, afiliación institucional y otras publicaciones.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374135"/>
            <a:ext cx="3108960" cy="77724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74135"/>
            <a:ext cx="292607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Método descrito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13048" y="3374135"/>
            <a:ext cx="7772400" cy="7772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40" y="3374135"/>
            <a:ext cx="749807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Explica cómo obtuvo los datos: muestra, instrumentos y análisis.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261103"/>
            <a:ext cx="3108960" cy="77724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61103"/>
            <a:ext cx="292607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Referencias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13048" y="4261103"/>
            <a:ext cx="7772400" cy="7772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40" y="4261103"/>
            <a:ext cx="749807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Cita fuentes verificables que respaldan lo que afirma.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148071"/>
            <a:ext cx="3108960" cy="77724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48071"/>
            <a:ext cx="292607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Citas recibidas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3048" y="5148071"/>
            <a:ext cx="7772400" cy="7772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40" y="5148071"/>
            <a:ext cx="7498079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«Citado por» orienta, pero no mide por sí solo la calidad del estudio.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5806440"/>
            <a:ext cx="10972800" cy="50292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806440"/>
            <a:ext cx="10515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Cuidado con las revistas que publican sin revisión real: verifica antes de confiar.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Lectura rápida de la ficha de un artículo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Antes de leer completo, revisa estos cinco datos en la ficha.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11680"/>
            <a:ext cx="3535680" cy="17830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1408"/>
            <a:ext cx="3169920" cy="1563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Título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¿Contiene tus conceptos o términos relacionados?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1208" y="2011680"/>
            <a:ext cx="3535680" cy="17830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4088" y="2121408"/>
            <a:ext cx="3169920" cy="1563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Resumen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¿Su objetivo y su población se parecen a los tuyos?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9767" y="2011680"/>
            <a:ext cx="3535680" cy="17830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2647" y="2121408"/>
            <a:ext cx="3169920" cy="1563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Revista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¿Es una revista académica reconocible?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3977639"/>
            <a:ext cx="3535680" cy="17830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4087368"/>
            <a:ext cx="3169920" cy="1563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Año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¿Es suficientemente reciente para tu tema?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1208" y="3977639"/>
            <a:ext cx="3535680" cy="17830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4088" y="4087368"/>
            <a:ext cx="3169920" cy="1563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Autores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¿Aparecen con nombre completo y afiliación?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9767" y="3977639"/>
            <a:ext cx="3535680" cy="17830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2647" y="4087368"/>
            <a:ext cx="3169920" cy="1563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Decisión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Leer completo, guardar para después o descartar.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9436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Leer rápido sirve para filtrar; no sustituye la verificación.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Anatomía de una referencia en APA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10972800" cy="155448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00200"/>
            <a:ext cx="10515600" cy="1554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4AF37"/>
                </a:solidFill>
                <a:latin typeface="Calibri"/>
              </a:rPr>
              <a:t>Ejemplo real y verificable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Page, M. J. et al. (2021). The PRISMA 2020 statement: an updated guideline for reporting systematic reviews. BMJ, 372, n71. https://doi.org/10.1136/bmj.n71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38328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3493008"/>
            <a:ext cx="2240280" cy="21579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Autores y año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Page, M. J. et al. ·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338328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3493008"/>
            <a:ext cx="2240280" cy="21579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Título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The PRISMA 2020 statement…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338328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3493008"/>
            <a:ext cx="2240280" cy="21579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Revista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BMJ, volumen 372, artículo n71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79408" y="3383280"/>
            <a:ext cx="2606040" cy="23774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62288" y="3493008"/>
            <a:ext cx="2240280" cy="21579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DOI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Identificador único y permanente: 10.1136/bmj.n71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89788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Cada elemento de la referencia se puede comprobar por separado.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Qué se comprueba en el documento original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53568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709928"/>
            <a:ext cx="316992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Datos bibliográficos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Autores, año, título y revista coinciden con los de la referencia.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1208" y="1600200"/>
            <a:ext cx="353568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14088" y="1709928"/>
            <a:ext cx="316992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DOI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Existe y lleva exactamente a ese artículo.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9767" y="1600200"/>
            <a:ext cx="353568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2647" y="1709928"/>
            <a:ext cx="316992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Propósito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El objetivo del estudio se parece a lo que tú buscas.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49039"/>
            <a:ext cx="353568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3858768"/>
            <a:ext cx="316992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Metodología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Qué muestra, qué instrumentos y qué análisis usó.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208" y="3749039"/>
            <a:ext cx="353568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4088" y="3858768"/>
            <a:ext cx="316992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Resultados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Lo que dice el texto coincide con lo que se afirma de él.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9767" y="3749039"/>
            <a:ext cx="353568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2647" y="3858768"/>
            <a:ext cx="316992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Limitaciones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Qué reconoce el propio estudio que no pudo resolver.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5760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En esta sesión se verifica la existencia y los datos; la lectura profunda es posterior.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Verificación obligatoria: dónde mirar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206240"/>
                <a:gridCol w="42062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Dato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Dónde se verifica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Qué debe coincidir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Autor(es)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Página del editor o Crossref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Nombres y orden en la referencia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Año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Página del editor o Crossref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Año de publicación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Revista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Página del editor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Nombre, volumen y número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DOI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doi.org o Crossref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Lleva a ese mismo artículo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5486400"/>
            <a:ext cx="10972800" cy="64008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54864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Un solo dato que no coincide es suficiente para dudar de toda la referencia.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Cómo verificar una referencia en Crossref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25603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 · Abrir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7288" y="160020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600200"/>
            <a:ext cx="786384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Entra al buscador de metadatos de Crossref (search.crossref.org).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65176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25603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 · Buscar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265176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651760"/>
            <a:ext cx="786384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Pega el título o la referencia completa y ejecuta la búsqueda.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70332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25603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 · Comparar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8" y="370332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3703320"/>
            <a:ext cx="786384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Revisa autores, año, revista y DOI del resultado frente a tu referencia.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754879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54879"/>
            <a:ext cx="25603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 · Abrir el DOI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47288" y="4754879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4754879"/>
            <a:ext cx="786384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Haz clic en el DOI y confirma que llega a la página del editor.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669280"/>
            <a:ext cx="10972800" cy="5943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69280"/>
            <a:ext cx="105156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Si Crossref no devuelve nada parecido, busca también en Scholar y en la web de la revista.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Cómo se ve una referencia inventada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931920"/>
                <a:gridCol w="393192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Señal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Por qué alerta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Cómo comprobarla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DOI que no abre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Los DOI reales siempre resuelven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Pegarlo tras doi.org/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Autores sin rastro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No tienen otras publicaciones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Buscar el nombre en Scholar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Título no localizable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Ningún buscador lo recupera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Buscarlo entre comillas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Revista real, artículo no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Mezcla de datos ciertos y falsos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Revisar el índice del volumen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Datos demasiado perfectos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Cifras y páginas sin respaldo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Comparar con el texto original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85216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Una referencia inventada suele ser verosímil: por eso se verifica siempre.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Caso: una verificación que falla,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1">
                <a:solidFill>
                  <a:srgbClr val="011754"/>
                </a:solidFill>
                <a:latin typeface="Calibri"/>
              </a:rPr>
              <a:t>Referencia sugerida por una IA (ejemplo preparado por la docente, ficticio).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11680"/>
            <a:ext cx="2743200" cy="749808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56032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 · Google Scholar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2011680"/>
            <a:ext cx="8138160" cy="749808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011680"/>
            <a:ext cx="786384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Se busca el título entre comillas: no aparece ningún resultado.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2871216"/>
            <a:ext cx="2743200" cy="749808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71216"/>
            <a:ext cx="256032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 · Crossref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2871216"/>
            <a:ext cx="8138160" cy="749808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871216"/>
            <a:ext cx="786384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Se pega el título y los autores: no hay coincidencias.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3730752"/>
            <a:ext cx="2743200" cy="749808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30752"/>
            <a:ext cx="256032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 · El DOI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7288" y="3730752"/>
            <a:ext cx="8138160" cy="749808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3730752"/>
            <a:ext cx="786384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Se escribe tras doi.org/: aparece «DOI no encontrado».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4590288"/>
            <a:ext cx="2743200" cy="749808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90288"/>
            <a:ext cx="256032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 · La revista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47288" y="4590288"/>
            <a:ext cx="8138160" cy="749808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4590288"/>
            <a:ext cx="786384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El sitio de la revista no lista ese artículo en el volumen indicado.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5623560"/>
            <a:ext cx="10972800" cy="5943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5623560"/>
            <a:ext cx="105156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Decisión: descartar la referencia y registrar el motivo en la ficha de verificación.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Lo sugerido por la IA frente a lo recuperado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97680"/>
                <a:gridCol w="42976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Sugerido por ChatGPT o Claude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Recuperado en Scholar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Origen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Texto generado por un modelo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Documento que existe y se abre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Datos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Pueden estar completos pero falsos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Provienen de la fuente indexada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Verificación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Siempre necesaria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Necesaria, pero parte de un documento real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Uso adecuado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Pistas de términos y autores a buscar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Fuente candidata a evaluar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5486400"/>
            <a:ext cx="10972800" cy="64008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54864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La IA puede orientar la búsqueda; solo el documento original respalda la afirmación.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Obtener la cita en APA desde Google Scholar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27432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 · Citar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30168" y="1600200"/>
            <a:ext cx="7955280" cy="914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1600200"/>
            <a:ext cx="76809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Bajo el resultado, haz clic en el icono de comillas «Citar».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65176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27432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 · Elegir APA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0168" y="2651760"/>
            <a:ext cx="7955280" cy="914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651760"/>
            <a:ext cx="76809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Copia el formato APA que ofrece Scholar.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70332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27432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 · Revisar a mano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30168" y="3703320"/>
            <a:ext cx="7955280" cy="914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3703320"/>
            <a:ext cx="76809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Compara con la página del editor: autores, mayúsculas y DOI.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754879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54879"/>
            <a:ext cx="27432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 · Corregir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0168" y="4754879"/>
            <a:ext cx="7955280" cy="914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60" y="4754879"/>
            <a:ext cx="76809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Completa lo que falte, por ejemplo el DOI, y unifica el formato.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669280"/>
            <a:ext cx="10972800" cy="5943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69280"/>
            <a:ext cx="105156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La cita automática es un borrador: puede omitir el DOI o tener errores.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Registro bibliográfico y trazabilidad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704088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Campo de la ficha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Qué se anota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Referencia completa (APA)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Cita revisada a mano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Cómo se encontró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Cadena, base y fecha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Verificación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Dónde se comprobó y qué coincidió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Criterios cumplidos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Actualidad, pertinencia, calidad y acceso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Justificación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Por qué se conserva o se descarta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5394960"/>
            <a:ext cx="10972800" cy="73152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539496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Un gestor bibliográfico gratuito es opcional; el cuaderno de la ficha es obligatorio.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Paso 1 · De la lista a la preselección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63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Caso: partimos de los resultados de la cadena específica sobre IA generativa y aprendizaje autónomo en universitarios.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233172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13232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Acción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Qué se espera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Reabrir la cadena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Ejecuta de nuevo la cadena específica con el filtro de años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Revisar 10 resultados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Lee título, año y resumen de los primeros diez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Preseleccionar 5 a 8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Quédate con los que parecen pertinentes y recientes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Anotar la razón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Una frase por cada resultado descartado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Paso 2 · Aplicamos los cuatro criterios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126480"/>
                <a:gridCol w="210312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Pregunta de control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Cumple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Actualidad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¿Es de los últimos 3 a 5 años?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Sí / No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Pertinencia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¿Trata los tres conceptos de la pregunta?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Sí / No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Calidad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¿Revista, autores y método identificables?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Sí / No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Acceso abierto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¿Puedo abrir el texto completo?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Sí / No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5440680"/>
            <a:ext cx="10972800" cy="73152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54406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Si una fuente falla un criterio, escribe por qué aun así la conservas o la descartas.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Paso 3 · Verificamos cada fuente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535680" cy="3200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709928"/>
            <a:ext cx="3169920" cy="2980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Datos de la referencia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Compara autores, año, revista y DOI con la página del editor o Crossref.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1208" y="1600200"/>
            <a:ext cx="3535680" cy="3200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14088" y="1709928"/>
            <a:ext cx="3169920" cy="2980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Resultado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Marca coincide, no coincide o no se pudo comprobar, y anota el motivo.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9767" y="1600200"/>
            <a:ext cx="3535680" cy="3200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2647" y="1709928"/>
            <a:ext cx="3169920" cy="2980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Contraste con la IA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Pide a ChatGPT o Claude una referencia sobre tu tema y verifícala igual.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5074920"/>
            <a:ext cx="10972800" cy="8229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507492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Toda referencia sugerida por una IA se trata como una pista, no como una fuente.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Paso 4 · Cita en APA y revisión manual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5394960" cy="3200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709928"/>
            <a:ext cx="5029200" cy="2980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Lo que hace Scholar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Genera una cita en APA a partir de los datos que indexó.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Puede omitir el DOI.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1600200"/>
            <a:ext cx="5394960" cy="3200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3368" y="1709928"/>
            <a:ext cx="5029200" cy="2980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Lo que revisas tú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Que los nombres y el año coincidan con la página del editor.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Que el título y la revista estén bien escritos.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5074920"/>
            <a:ext cx="10972800" cy="8229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07492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Entrega siempre la cita corregida, no la copiada tal cual.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Paso 5 · Registro y selección justificada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10972800" cy="17373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00200"/>
            <a:ext cx="10515600" cy="1737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4AF37"/>
                </a:solidFill>
                <a:latin typeface="Calibri"/>
              </a:rPr>
              <a:t>Ejemplo de justificación</a:t>
            </a:r>
          </a:p>
          <a:p>
            <a:pPr algn="l">
              <a:spcAft>
                <a:spcPts val="400"/>
              </a:spcAft>
            </a:pPr>
            <a:r>
              <a:rPr sz="1800" b="0" i="1">
                <a:solidFill>
                  <a:srgbClr val="FFFFFF"/>
                </a:solidFill>
                <a:latin typeface="Calibri"/>
              </a:rPr>
              <a:t>«Conservo este artículo porque es de 2023, aborda IA generativa y autorregulación en universitarios, aparece en una revista indexada, su DOI coincide en Crossref y tiene PDF de acceso abierto.»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56616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3675887"/>
            <a:ext cx="5029200" cy="1883663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Fuente verificada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Con su ficha completa y la cita corregida.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356616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3675887"/>
            <a:ext cx="5029200" cy="1883663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Fuente descartada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Con el motivo anotado: dato falso, no pertinente, etc.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85216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Producto de la sesión: cinco fuentes reales verificadas, con ficha y justificación.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Práctica autónoma: aplica el procedimiento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11754"/>
                </a:solidFill>
                <a:latin typeface="Calibri"/>
              </a:rPr>
              <a:t>Caso: relación entre el uso de redes sociales y la calidad del sueño en estudiantes universitarios.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57400"/>
            <a:ext cx="3535680" cy="19202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67128"/>
            <a:ext cx="3169920" cy="1700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1 · Preselección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Parte de tus cadenas de la sesión anterior.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1208" y="2057400"/>
            <a:ext cx="3535680" cy="19202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4088" y="2167128"/>
            <a:ext cx="3169920" cy="1700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2 · Criterios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Evalúa actualidad, pertinencia, calidad y acceso.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9767" y="2057400"/>
            <a:ext cx="3535680" cy="19202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2647" y="2167128"/>
            <a:ext cx="3169920" cy="1700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3 · Verificación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Comprueba autor, año, revista y DOI.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4160520"/>
            <a:ext cx="3535680" cy="19202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4270248"/>
            <a:ext cx="3169920" cy="1700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4 · Contraste con IA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Verifica una referencia sugerida por la 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1208" y="4160520"/>
            <a:ext cx="3535680" cy="19202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4088" y="4270248"/>
            <a:ext cx="3169920" cy="1700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5 · Cita en APA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Obtén la cita en Scholar y corrígela.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9767" y="4160520"/>
            <a:ext cx="3535680" cy="19202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2647" y="4270248"/>
            <a:ext cx="3169920" cy="1700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6 · Selección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Registra cinco fuentes con su justificación.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Producto: cinco fuentes verificadas, con ficha y justificación.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Cinco ideas para llevarte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383280" cy="786384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20040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 · Seleccionar es decidir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87368" y="1600200"/>
            <a:ext cx="7498080" cy="786384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600200"/>
            <a:ext cx="722376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Una lista de resultados no es una lista de fuentes confiables.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505456"/>
            <a:ext cx="3383280" cy="786384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05456"/>
            <a:ext cx="320040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 · Cuatro criterios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87368" y="2505456"/>
            <a:ext cx="7498080" cy="786384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505456"/>
            <a:ext cx="722376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Actualidad, pertinencia, calidad y acceso abierto.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410712"/>
            <a:ext cx="3383280" cy="786384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10712"/>
            <a:ext cx="320040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 · Verificar siempre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87368" y="3410712"/>
            <a:ext cx="7498080" cy="786384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3410712"/>
            <a:ext cx="722376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Autor, año, revista y DOI se comprueban en el original.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315968"/>
            <a:ext cx="3383280" cy="786384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15968"/>
            <a:ext cx="320040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 · La IA puede inventar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87368" y="4315968"/>
            <a:ext cx="7498080" cy="786384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4315968"/>
            <a:ext cx="722376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Una referencia completa puede ser falsa.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221224"/>
            <a:ext cx="3383280" cy="786384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21224"/>
            <a:ext cx="320040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 · Registrar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87368" y="5221224"/>
            <a:ext cx="7498080" cy="786384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5221224"/>
            <a:ext cx="722376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La ficha deja constancia de por qué conservas cada fuente.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5669280"/>
            <a:ext cx="10972800" cy="5943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669280"/>
            <a:ext cx="105156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¿Qué te da más confianza: una referencia completa o una referencia comprobada?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Bibliografía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630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Fuentes que sustentan los criterios y las prácticas de verificación de esta sesión.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828800"/>
            <a:ext cx="5449824" cy="14630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938528"/>
            <a:ext cx="5084064" cy="12435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Page, M. J. et al. (2021)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The PRISMA 2020 statement: an updated guideline for reporting systematic reviews. BMJ, 372.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828800"/>
            <a:ext cx="5449824" cy="14630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938528"/>
            <a:ext cx="5084064" cy="12435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Gusenbauer &amp; Haddaway (2020)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Which academic search systems are suitable for systematic reviews? Res. Synth. Methods, 11(2).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364992"/>
            <a:ext cx="5449824" cy="14630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3474720"/>
            <a:ext cx="5084064" cy="12435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Snyder, H. (2019)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Literature review as a research methodology. Journal of Business Research, 104, 333–339.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3364992"/>
            <a:ext cx="5449824" cy="14630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3474720"/>
            <a:ext cx="5084064" cy="12435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Google Scholar (s. f.)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Search help.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901184"/>
            <a:ext cx="5449824" cy="14630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5010912"/>
            <a:ext cx="5084064" cy="12435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Crossref (s. f.)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Metadata Search.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4901184"/>
            <a:ext cx="5449824" cy="14630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5010912"/>
            <a:ext cx="5084064" cy="12435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Walters &amp; Wilder (2023)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Fabrication and errors in the bibliographic citations generated by ChatGPT. Sci. Rep., 13.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1271</Words>
  <Application>Microsoft Office PowerPoint</Application>
  <PresentationFormat>Panorámica</PresentationFormat>
  <Paragraphs>233</Paragraphs>
  <Slides>30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Aptos</vt:lpstr>
      <vt:lpstr>Arial</vt:lpstr>
      <vt:lpstr>Calibri</vt:lpstr>
      <vt:lpstr>Fira Sans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PILAR SAYAN MEJIA</cp:lastModifiedBy>
  <cp:revision>7</cp:revision>
  <dcterms:created xsi:type="dcterms:W3CDTF">2013-01-27T09:14:16Z</dcterms:created>
  <dcterms:modified xsi:type="dcterms:W3CDTF">2026-09-27T19:09:21Z</dcterms:modified>
  <cp:category/>
</cp:coreProperties>
</file>