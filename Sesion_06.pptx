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2"/>
  </p:notesMasterIdLst>
  <p:sldIdLst>
    <p:sldId id="306" r:id="rId2"/>
    <p:sldId id="307" r:id="rId3"/>
    <p:sldId id="258" r:id="rId4"/>
    <p:sldId id="259" r:id="rId5"/>
    <p:sldId id="309" r:id="rId37"/>
    <p:sldId id="310" r:id="rId38"/>
    <p:sldId id="311" r:id="rId39"/>
    <p:sldId id="312" r:id="rId40"/>
    <p:sldId id="313" r:id="rId41"/>
    <p:sldId id="314" r:id="rId42"/>
    <p:sldId id="315" r:id="rId43"/>
    <p:sldId id="316" r:id="rId44"/>
    <p:sldId id="317" r:id="rId45"/>
    <p:sldId id="318" r:id="rId46"/>
    <p:sldId id="319" r:id="rId47"/>
    <p:sldId id="320" r:id="rId48"/>
    <p:sldId id="321" r:id="rId49"/>
    <p:sldId id="322" r:id="rId50"/>
    <p:sldId id="323" r:id="rId51"/>
    <p:sldId id="324" r:id="rId52"/>
    <p:sldId id="308" r:id="rId29"/>
    <p:sldId id="325" r:id="rId53"/>
    <p:sldId id="326" r:id="rId54"/>
    <p:sldId id="327" r:id="rId55"/>
    <p:sldId id="328" r:id="rId56"/>
    <p:sldId id="329" r:id="rId57"/>
    <p:sldId id="330" r:id="rId58"/>
    <p:sldId id="331" r:id="rId5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29" Type="http://schemas.openxmlformats.org/officeDocument/2006/relationships/slide" Target="slides/slide28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0D9C41-E925-46F2-8BD1-5CCE9E4476A6}" type="datetimeFigureOut">
              <a:rPr lang="es-PE" smtClean="0"/>
              <a:t>27/09/2026</a:t>
            </a:fld>
            <a:endParaRPr lang="es-PE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E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0888531-3C4D-42FD-A92B-15644527B8D1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9069711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cf80e77ae7_4_1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37" name="Google Shape;237;g3cf80e77ae7_4_1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B9CDD1"/>
          </a:solidFill>
          <a:ln/>
        </p:spPr>
      </p:sp>
    </p:spTree>
    <p:extLst>
      <p:ext uri="{BB962C8B-B14F-4D97-AF65-F5344CB8AC3E}">
        <p14:creationId xmlns:p14="http://schemas.microsoft.com/office/powerpoint/2010/main" val="152426555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e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jpg"/><Relationship Id="rId4" Type="http://schemas.openxmlformats.org/officeDocument/2006/relationships/image" Target="../media/image8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LENOVO\AppData\Local\Temp\claude\C--Users-LENOVO-Documents-CONTRATOS\f17f3f05-49d0-46aa-84a7-c43f168039e8\scratchpad\eliteed\bg_tit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6212" y="0"/>
            <a:ext cx="12191695" cy="685782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27207" y="944856"/>
            <a:ext cx="5242429" cy="737598"/>
          </a:xfrm>
          <a:prstGeom prst="roundRect">
            <a:avLst>
              <a:gd name="adj" fmla="val 49587"/>
            </a:avLst>
          </a:prstGeom>
          <a:ln/>
        </p:spPr>
        <p:txBody>
          <a:bodyPr/>
          <a:lstStyle/>
          <a:p>
            <a:endParaRPr/>
          </a:p>
        </p:txBody>
      </p:sp>
      <p:sp>
        <p:nvSpPr>
          <p:cNvPr id="4" name="Text 1"/>
          <p:cNvSpPr/>
          <p:nvPr/>
        </p:nvSpPr>
        <p:spPr>
          <a:xfrm>
            <a:off x="885117" y="1097280"/>
            <a:ext cx="377942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  <a:buClr>
                <a:srgbClr val="000000"/>
              </a:buClr>
            </a:pPr>
            <a:r>
              <a:rPr lang="en-US" sz="1500" b="1" dirty="0">
                <a:solidFill>
                  <a:srgbClr val="031A8D"/>
                </a:solidFill>
                <a:latin typeface="Montserrat"/>
                <a:sym typeface="Arial"/>
              </a:rPr>
              <a:t>PROGRAMA DE ESPECIALIZACIÓN</a:t>
            </a:r>
          </a:p>
        </p:txBody>
      </p:sp>
      <p:sp>
        <p:nvSpPr>
          <p:cNvPr id="5" name="Shape 2"/>
          <p:cNvSpPr/>
          <p:nvPr/>
        </p:nvSpPr>
        <p:spPr>
          <a:xfrm>
            <a:off x="827207" y="1682454"/>
            <a:ext cx="115821" cy="2072588"/>
          </a:xfrm>
          <a:prstGeom prst="rect">
            <a:avLst/>
          </a:prstGeom>
          <a:solidFill>
            <a:srgbClr val="CCA45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3"/>
          <p:cNvSpPr/>
          <p:nvPr/>
        </p:nvSpPr>
        <p:spPr>
          <a:xfrm>
            <a:off x="1097252" y="1783080"/>
            <a:ext cx="8899937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8"/>
              </a:lnSpc>
              <a:buClr>
                <a:srgbClr val="000000"/>
              </a:buClr>
            </a:pPr>
            <a:r>
              <a:rPr lang="es-MX" sz="4400" b="1" dirty="0">
                <a:solidFill>
                  <a:srgbClr val="D4AF37"/>
                </a:solidFill>
                <a:latin typeface="Montserrat"/>
                <a:sym typeface="Arial"/>
              </a:rPr>
              <a:t>LECTURA ASISTIDA Y MATRIZ DE ANTECEDENTES</a:t>
            </a:r>
          </a:p>
        </p:txBody>
      </p:sp>
      <p:sp>
        <p:nvSpPr>
          <p:cNvPr id="7" name="Text 4"/>
          <p:cNvSpPr/>
          <p:nvPr/>
        </p:nvSpPr>
        <p:spPr>
          <a:xfrm>
            <a:off x="827207" y="3928736"/>
            <a:ext cx="9352217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MX" sz="2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Módulo 2: Búsqueda Inteligente de Literatura y Herramientas de IA</a:t>
            </a:r>
          </a:p>
        </p:txBody>
      </p:sp>
      <p:sp>
        <p:nvSpPr>
          <p:cNvPr id="9" name="Text 6"/>
          <p:cNvSpPr/>
          <p:nvPr/>
        </p:nvSpPr>
        <p:spPr>
          <a:xfrm>
            <a:off x="3104143" y="5659755"/>
            <a:ext cx="593098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D4AF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Docente: Lic. Pilar Rocío Sayán Mejía</a:t>
            </a:r>
            <a:r>
              <a:rPr lang="en-US" sz="2100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/>
            </a:r>
            <a:endParaRPr lang="en-US" sz="2100" dirty="0">
              <a:solidFill>
                <a:schemeClr val="bg1"/>
              </a:solidFill>
            </a:endParaRPr>
          </a:p>
        </p:txBody>
      </p:sp>
      <p:sp>
        <p:nvSpPr>
          <p:cNvPr id="12" name="Text 5">
            <a:extLst>
              <a:ext uri="{FF2B5EF4-FFF2-40B4-BE49-F238E27FC236}">
                <a16:creationId xmlns:a16="http://schemas.microsoft.com/office/drawing/2014/main" id="{E9151AAB-818C-8BDA-B0DD-E37A64264434}"/>
              </a:ext>
            </a:extLst>
          </p:cNvPr>
          <p:cNvSpPr/>
          <p:nvPr/>
        </p:nvSpPr>
        <p:spPr>
          <a:xfrm>
            <a:off x="827207" y="4923060"/>
            <a:ext cx="626364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MX" sz="1500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Sesión 06: Lectura Académica, Edición y Revisión con 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3196" y="784622"/>
            <a:ext cx="11785305" cy="5288756"/>
          </a:xfrm>
          <a:prstGeom prst="roundRect">
            <a:avLst>
              <a:gd name="adj" fmla="val 4353"/>
            </a:avLst>
          </a:prstGeom>
          <a:solidFill>
            <a:srgbClr val="FFFFFF"/>
          </a:solidFill>
          <a:ln w="6350">
            <a:solidFill>
              <a:srgbClr val="BBD9F5"/>
            </a:solidFill>
            <a:prstDash val="solid"/>
          </a:ln>
          <a:effectLst>
            <a:outerShdw blurRad="127" dist="90170" dir="2700000" algn="bl" rotWithShape="0">
              <a:srgbClr val="BBD9F5">
                <a:alpha val="100000"/>
              </a:srgbClr>
            </a:outerShdw>
          </a:effectLst>
        </p:spPr>
      </p:sp>
      <p:pic>
        <p:nvPicPr>
          <p:cNvPr id="3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195" y="784622"/>
            <a:ext cx="4640444" cy="5288756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91210" y="0"/>
                </a:lnTo>
                <a:lnTo>
                  <a:pt x="92090" y="2640"/>
                </a:lnTo>
                <a:lnTo>
                  <a:pt x="93070" y="7030"/>
                </a:lnTo>
                <a:lnTo>
                  <a:pt x="93650" y="11330"/>
                </a:lnTo>
                <a:lnTo>
                  <a:pt x="93850" y="14750"/>
                </a:lnTo>
                <a:lnTo>
                  <a:pt x="93460" y="21970"/>
                </a:lnTo>
                <a:lnTo>
                  <a:pt x="91990" y="31150"/>
                </a:lnTo>
                <a:lnTo>
                  <a:pt x="91410" y="36520"/>
                </a:lnTo>
                <a:lnTo>
                  <a:pt x="91210" y="40040"/>
                </a:lnTo>
                <a:lnTo>
                  <a:pt x="91310" y="45700"/>
                </a:lnTo>
                <a:lnTo>
                  <a:pt x="91890" y="48930"/>
                </a:lnTo>
                <a:lnTo>
                  <a:pt x="93160" y="52540"/>
                </a:lnTo>
                <a:lnTo>
                  <a:pt x="94920" y="56050"/>
                </a:lnTo>
                <a:lnTo>
                  <a:pt x="97170" y="59860"/>
                </a:lnTo>
                <a:lnTo>
                  <a:pt x="98730" y="63280"/>
                </a:lnTo>
                <a:lnTo>
                  <a:pt x="99800" y="67290"/>
                </a:lnTo>
                <a:lnTo>
                  <a:pt x="100000" y="71480"/>
                </a:lnTo>
                <a:lnTo>
                  <a:pt x="99710" y="73630"/>
                </a:lnTo>
                <a:lnTo>
                  <a:pt x="99020" y="76460"/>
                </a:lnTo>
                <a:lnTo>
                  <a:pt x="97750" y="80180"/>
                </a:lnTo>
                <a:lnTo>
                  <a:pt x="96390" y="83400"/>
                </a:lnTo>
                <a:lnTo>
                  <a:pt x="91890" y="91990"/>
                </a:lnTo>
                <a:lnTo>
                  <a:pt x="89450" y="96000"/>
                </a:lnTo>
                <a:lnTo>
                  <a:pt x="86720" y="100000"/>
                </a:lnTo>
                <a:lnTo>
                  <a:pt x="0" y="100000"/>
                </a:lnTo>
                <a:close/>
              </a:path>
            </a:pathLst>
          </a:custGeom>
        </p:spPr>
      </p:pic>
      <p:sp>
        <p:nvSpPr>
          <p:cNvPr id="4" name="Text 1"/>
          <p:cNvSpPr/>
          <p:nvPr/>
        </p:nvSpPr>
        <p:spPr>
          <a:xfrm>
            <a:off x="5262134" y="1224260"/>
            <a:ext cx="6086918" cy="2497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550" dirty="0">
                <a:latin typeface="Montserrat"/>
              </a:rPr>
              <a:t>Docente</a:t>
            </a:r>
          </a:p>
        </p:txBody>
      </p:sp>
      <p:sp>
        <p:nvSpPr>
          <p:cNvPr id="5" name="Text 2"/>
          <p:cNvSpPr/>
          <p:nvPr/>
        </p:nvSpPr>
        <p:spPr>
          <a:xfrm>
            <a:off x="5262134" y="1537892"/>
            <a:ext cx="6086918" cy="499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3100" dirty="0">
                <a:latin typeface="Montserrat"/>
              </a:rPr>
              <a:t>Lic. Pilar Rocío Sayán Mejía</a:t>
            </a:r>
          </a:p>
        </p:txBody>
      </p:sp>
      <p:sp>
        <p:nvSpPr>
          <p:cNvPr id="6" name="Shape 3"/>
          <p:cNvSpPr/>
          <p:nvPr/>
        </p:nvSpPr>
        <p:spPr>
          <a:xfrm>
            <a:off x="5262134" y="2277369"/>
            <a:ext cx="2963491" cy="1981795"/>
          </a:xfrm>
          <a:prstGeom prst="roundRect">
            <a:avLst>
              <a:gd name="adj" fmla="val 7261"/>
            </a:avLst>
          </a:prstGeom>
          <a:solidFill>
            <a:srgbClr val="FFFFFF"/>
          </a:solidFill>
          <a:ln w="19050">
            <a:solidFill>
              <a:srgbClr val="B4CCE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441021" y="2456260"/>
            <a:ext cx="2605717" cy="2497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550" dirty="0">
                <a:latin typeface="Montserrat"/>
              </a:rPr>
              <a:t>Formación</a:t>
            </a:r>
          </a:p>
        </p:txBody>
      </p:sp>
      <p:sp>
        <p:nvSpPr>
          <p:cNvPr id="8" name="Text 5"/>
          <p:cNvSpPr/>
          <p:nvPr/>
        </p:nvSpPr>
        <p:spPr>
          <a:xfrm>
            <a:off x="5441021" y="2801838"/>
            <a:ext cx="2605717" cy="12784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33000"/>
              </a:lnSpc>
            </a:pPr>
            <a:r>
              <a:rPr lang="en-US" sz="1250" dirty="0">
                <a:latin typeface="Montserrat"/>
              </a:rPr>
              <a:t>Licenciada en Comunicación y especialista en entornos digitales, investigación académica y tecnologías aplicadas a la educación.</a:t>
            </a:r>
          </a:p>
        </p:txBody>
      </p:sp>
      <p:sp>
        <p:nvSpPr>
          <p:cNvPr id="9" name="Shape 6"/>
          <p:cNvSpPr/>
          <p:nvPr/>
        </p:nvSpPr>
        <p:spPr>
          <a:xfrm>
            <a:off x="8385462" y="2277369"/>
            <a:ext cx="2963590" cy="1981795"/>
          </a:xfrm>
          <a:prstGeom prst="roundRect">
            <a:avLst>
              <a:gd name="adj" fmla="val 7261"/>
            </a:avLst>
          </a:prstGeom>
          <a:solidFill>
            <a:srgbClr val="FFFFFF"/>
          </a:solidFill>
          <a:ln w="19050">
            <a:solidFill>
              <a:srgbClr val="B4CCE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564348" y="2456260"/>
            <a:ext cx="2605816" cy="2497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550" dirty="0">
                <a:latin typeface="Montserrat"/>
              </a:rPr>
              <a:t>Experiencia Docente</a:t>
            </a:r>
          </a:p>
        </p:txBody>
      </p:sp>
      <p:sp>
        <p:nvSpPr>
          <p:cNvPr id="11" name="Text 8"/>
          <p:cNvSpPr/>
          <p:nvPr/>
        </p:nvSpPr>
        <p:spPr>
          <a:xfrm>
            <a:off x="8564348" y="2801839"/>
            <a:ext cx="2605816" cy="10227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>
              <a:lnSpc>
                <a:spcPct val="133000"/>
              </a:lnSpc>
            </a:pPr>
            <a:r>
              <a:rPr lang="en-US" sz="1250" dirty="0">
                <a:latin typeface="Montserrat"/>
              </a:rPr>
              <a:t>Facilitadora de programas de especialización en IA, pensamiento crítico e investigación aplicada con herramientas tecnológicas.</a:t>
            </a:r>
          </a:p>
        </p:txBody>
      </p:sp>
      <p:sp>
        <p:nvSpPr>
          <p:cNvPr id="12" name="Shape 9"/>
          <p:cNvSpPr/>
          <p:nvPr/>
        </p:nvSpPr>
        <p:spPr>
          <a:xfrm>
            <a:off x="5262134" y="4419006"/>
            <a:ext cx="6086918" cy="1214735"/>
          </a:xfrm>
          <a:prstGeom prst="roundRect">
            <a:avLst>
              <a:gd name="adj" fmla="val 11845"/>
            </a:avLst>
          </a:prstGeom>
          <a:solidFill>
            <a:srgbClr val="FFFFFF"/>
          </a:solidFill>
          <a:ln w="19050">
            <a:solidFill>
              <a:srgbClr val="B4CCE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441020" y="4597896"/>
            <a:ext cx="5729144" cy="2497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550" dirty="0">
                <a:latin typeface="Montserrat"/>
              </a:rPr>
              <a:t>Enfoque</a:t>
            </a:r>
          </a:p>
        </p:txBody>
      </p:sp>
      <p:sp>
        <p:nvSpPr>
          <p:cNvPr id="14" name="Text 11"/>
          <p:cNvSpPr/>
          <p:nvPr/>
        </p:nvSpPr>
        <p:spPr>
          <a:xfrm>
            <a:off x="5441020" y="4943476"/>
            <a:ext cx="5729144" cy="511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33000"/>
              </a:lnSpc>
            </a:pPr>
            <a:r>
              <a:rPr lang="en-US" sz="1250" dirty="0">
                <a:latin typeface="Montserrat"/>
              </a:rPr>
              <a:t>Combina fundamentos teóricos sólidos con laboratorios prácticos que desarrollan criterio analítico y autonomía investigadora.</a:t>
            </a:r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A478B04F-572C-AF9B-FBEC-1C6EA61F04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-21890"/>
            <a:ext cx="12192000" cy="6879891"/>
          </a:xfrm>
          <a:prstGeom prst="rect">
            <a:avLst/>
          </a:prstGeom>
        </p:spPr>
      </p:pic>
      <p:sp>
        <p:nvSpPr>
          <p:cNvPr id="17" name="Shape 4">
            <a:extLst>
              <a:ext uri="{FF2B5EF4-FFF2-40B4-BE49-F238E27FC236}">
                <a16:creationId xmlns:a16="http://schemas.microsoft.com/office/drawing/2014/main" id="{F9F8CD91-3EB0-3505-1123-0ABE8AAF20EA}"/>
              </a:ext>
            </a:extLst>
          </p:cNvPr>
          <p:cNvSpPr/>
          <p:nvPr/>
        </p:nvSpPr>
        <p:spPr>
          <a:xfrm>
            <a:off x="2203978" y="4492961"/>
            <a:ext cx="2587453" cy="1394212"/>
          </a:xfrm>
          <a:prstGeom prst="roundRect">
            <a:avLst>
              <a:gd name="adj" fmla="val 1691"/>
            </a:avLst>
          </a:prstGeom>
          <a:solidFill>
            <a:schemeClr val="bg1"/>
          </a:solidFill>
          <a:ln w="38100">
            <a:solidFill>
              <a:srgbClr val="000156"/>
            </a:solidFill>
            <a:prstDash val="sysDot"/>
          </a:ln>
        </p:spPr>
        <p:txBody>
          <a:bodyPr/>
          <a:lstStyle/>
          <a:p>
            <a:endParaRPr lang="es-PE" sz="2400" dirty="0">
              <a:latin typeface="Montserrat"/>
            </a:endParaRPr>
          </a:p>
        </p:txBody>
      </p:sp>
      <p:sp>
        <p:nvSpPr>
          <p:cNvPr id="18" name="Text 12">
            <a:extLst>
              <a:ext uri="{FF2B5EF4-FFF2-40B4-BE49-F238E27FC236}">
                <a16:creationId xmlns:a16="http://schemas.microsoft.com/office/drawing/2014/main" id="{943B41A7-1693-2AEC-4E89-25DD1F82D67B}"/>
              </a:ext>
            </a:extLst>
          </p:cNvPr>
          <p:cNvSpPr/>
          <p:nvPr/>
        </p:nvSpPr>
        <p:spPr>
          <a:xfrm>
            <a:off x="2297412" y="5003660"/>
            <a:ext cx="2317121" cy="883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33000"/>
              </a:lnSpc>
            </a:pPr>
            <a:r>
              <a:rPr lang="en-US" sz="1200" dirty="0">
                <a:latin typeface="Montserrat"/>
              </a:rPr>
              <a:t>Python · R · SQL · React · </a:t>
            </a:r>
          </a:p>
          <a:p>
            <a:pPr>
              <a:lnSpc>
                <a:spcPct val="133000"/>
              </a:lnSpc>
            </a:pPr>
            <a:r>
              <a:rPr lang="en-US" sz="1200" dirty="0">
                <a:latin typeface="Montserrat"/>
              </a:rPr>
              <a:t>TypeScript · </a:t>
            </a:r>
            <a:r>
              <a:rPr lang="en-US" sz="1200" dirty="0" err="1">
                <a:latin typeface="Montserrat"/>
              </a:rPr>
              <a:t>Supabase</a:t>
            </a:r>
            <a:r>
              <a:rPr lang="en-US" sz="1200" dirty="0">
                <a:latin typeface="Montserrat"/>
              </a:rPr>
              <a:t> · APIs </a:t>
            </a:r>
          </a:p>
          <a:p>
            <a:pPr>
              <a:lnSpc>
                <a:spcPct val="133000"/>
              </a:lnSpc>
            </a:pPr>
            <a:r>
              <a:rPr lang="en-US" sz="1200" dirty="0">
                <a:latin typeface="Montserrat"/>
              </a:rPr>
              <a:t>· LLMs · Git/GitHub</a:t>
            </a:r>
          </a:p>
        </p:txBody>
      </p:sp>
      <p:sp>
        <p:nvSpPr>
          <p:cNvPr id="19" name="Text 11">
            <a:extLst>
              <a:ext uri="{FF2B5EF4-FFF2-40B4-BE49-F238E27FC236}">
                <a16:creationId xmlns:a16="http://schemas.microsoft.com/office/drawing/2014/main" id="{40D22330-A528-9B3A-BC4C-A542DCA468EE}"/>
              </a:ext>
            </a:extLst>
          </p:cNvPr>
          <p:cNvSpPr/>
          <p:nvPr/>
        </p:nvSpPr>
        <p:spPr>
          <a:xfrm>
            <a:off x="2302130" y="4633485"/>
            <a:ext cx="1791994" cy="3099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00" b="1" dirty="0">
                <a:latin typeface="Montserrat"/>
              </a:rPr>
              <a:t>Herramientas</a:t>
            </a:r>
            <a:endParaRPr lang="en-US" sz="1400" b="1" dirty="0">
              <a:latin typeface="Montserrat" panose="020B0604020202020204" charset="0"/>
            </a:endParaRP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2EA0138F-2062-4DE2-47B9-6A5B9F66B869}"/>
              </a:ext>
            </a:extLst>
          </p:cNvPr>
          <p:cNvSpPr/>
          <p:nvPr/>
        </p:nvSpPr>
        <p:spPr>
          <a:xfrm>
            <a:off x="4798165" y="784623"/>
            <a:ext cx="6962647" cy="544839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sz="1400">
              <a:latin typeface="Montserrat"/>
            </a:endParaRP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D605810E-BC40-7989-1C4C-3528A873D718}"/>
              </a:ext>
            </a:extLst>
          </p:cNvPr>
          <p:cNvSpPr txBox="1"/>
          <p:nvPr/>
        </p:nvSpPr>
        <p:spPr>
          <a:xfrm>
            <a:off x="4850374" y="624981"/>
            <a:ext cx="6319791" cy="572464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s-MX" sz="1700" dirty="0">
              <a:latin typeface="Montserrat"/>
            </a:endParaRPr>
          </a:p>
          <a:p>
            <a:pPr algn="just"/>
            <a:r>
              <a:rPr lang="es-MX" sz="1500" dirty="0">
                <a:latin typeface="Montserrat"/>
              </a:rPr>
              <a:t>Docente especialista en Estadística Aplicada, Ciencia de Datos, Inteligencia Artificial y Analítica de Negocios, con más de 20 años de experiencia en educación superior y capacitación profesional. Cuenta con trayectoria en análisis de datos, Machine </a:t>
            </a:r>
            <a:r>
              <a:rPr lang="es-MX" sz="1500" dirty="0" err="1">
                <a:latin typeface="Montserrat"/>
              </a:rPr>
              <a:t>Learning</a:t>
            </a:r>
            <a:r>
              <a:rPr lang="es-MX" sz="1500" dirty="0">
                <a:latin typeface="Montserrat"/>
              </a:rPr>
              <a:t>, investigación aplicada y desarrollo de soluciones tecnológicas orientadas a la resolución de problemas reales.</a:t>
            </a:r>
          </a:p>
          <a:p>
            <a:endParaRPr lang="es-MX" sz="1500" dirty="0">
              <a:latin typeface="Montserrat"/>
            </a:endParaRPr>
          </a:p>
          <a:p>
            <a:pPr algn="just"/>
            <a:r>
              <a:rPr lang="es-MX" sz="1500" dirty="0">
                <a:latin typeface="Montserrat"/>
              </a:rPr>
              <a:t>Su experiencia integra herramientas como Python, R y SQL con tecnologías para el desarrollo de aplicaciones como </a:t>
            </a:r>
            <a:r>
              <a:rPr lang="es-MX" sz="1500" dirty="0" err="1">
                <a:latin typeface="Montserrat"/>
              </a:rPr>
              <a:t>React</a:t>
            </a:r>
            <a:r>
              <a:rPr lang="es-MX" sz="1500" dirty="0">
                <a:latin typeface="Montserrat"/>
              </a:rPr>
              <a:t>, </a:t>
            </a:r>
            <a:r>
              <a:rPr lang="es-MX" sz="1500" dirty="0" err="1">
                <a:latin typeface="Montserrat"/>
              </a:rPr>
              <a:t>TypeScript</a:t>
            </a:r>
            <a:r>
              <a:rPr lang="es-MX" sz="1500" dirty="0">
                <a:latin typeface="Montserrat"/>
              </a:rPr>
              <a:t>, </a:t>
            </a:r>
            <a:r>
              <a:rPr lang="es-MX" sz="1500" dirty="0" err="1">
                <a:latin typeface="Montserrat"/>
              </a:rPr>
              <a:t>Supabase</a:t>
            </a:r>
            <a:r>
              <a:rPr lang="es-MX" sz="1500" dirty="0">
                <a:latin typeface="Montserrat"/>
              </a:rPr>
              <a:t> y Git/GitHub, incorporando actualmente IA generativa, modelos de lenguaje (</a:t>
            </a:r>
            <a:r>
              <a:rPr lang="es-MX" sz="1500" dirty="0" err="1">
                <a:latin typeface="Montserrat"/>
              </a:rPr>
              <a:t>LLMs</a:t>
            </a:r>
            <a:r>
              <a:rPr lang="es-MX" sz="1500" dirty="0">
                <a:latin typeface="Montserrat"/>
              </a:rPr>
              <a:t>), </a:t>
            </a:r>
            <a:r>
              <a:rPr lang="es-MX" sz="1500" dirty="0" err="1">
                <a:latin typeface="Montserrat"/>
              </a:rPr>
              <a:t>APIs</a:t>
            </a:r>
            <a:r>
              <a:rPr lang="es-MX" sz="1500" dirty="0">
                <a:latin typeface="Montserrat"/>
              </a:rPr>
              <a:t> de inteligencia artificial y herramientas de desarrollo asistido por IA.</a:t>
            </a:r>
          </a:p>
          <a:p>
            <a:endParaRPr lang="es-MX" sz="1500" dirty="0">
              <a:latin typeface="Montserrat"/>
            </a:endParaRPr>
          </a:p>
          <a:p>
            <a:pPr algn="just"/>
            <a:r>
              <a:rPr lang="es-MX" sz="1500" dirty="0">
                <a:latin typeface="Montserrat"/>
              </a:rPr>
              <a:t>En su labor docente promueve un enfoque práctico basado en proyectos, integrando datos, programación, desarrollo Full </a:t>
            </a:r>
            <a:r>
              <a:rPr lang="es-MX" sz="1500" dirty="0" err="1">
                <a:latin typeface="Montserrat"/>
              </a:rPr>
              <a:t>Stack</a:t>
            </a:r>
            <a:r>
              <a:rPr lang="es-MX" sz="1500" dirty="0">
                <a:latin typeface="Montserrat"/>
              </a:rPr>
              <a:t> e Inteligencia Artificial para que los estudiantes puedan diseñar y construir soluciones funcionales. Actualmente desarrolla actividades de docencia, capacitación y asesoría en Ciencia de Datos, Analítica, Inteligencia Artificial y transformación digital.</a:t>
            </a:r>
          </a:p>
          <a:p>
            <a:endParaRPr lang="es-MX" sz="1700" dirty="0">
              <a:latin typeface="Montserrat"/>
            </a:endParaRPr>
          </a:p>
          <a:p>
            <a:endParaRPr lang="es-MX" sz="1700" dirty="0">
              <a:latin typeface="Montserra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genda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82912" y="427292"/>
            <a:ext cx="10228277" cy="7174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700" b="1">
                <a:solidFill>
                  <a:srgbClr val="FFFFFF"/>
                </a:solidFill>
                <a:latin typeface="Calibri"/>
              </a:rPr>
              <a:t>OBJETIVOS DE LA SESIÓN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645920"/>
            <a:ext cx="10515600" cy="841248"/>
          </a:xfrm>
          <a:prstGeom prst="roundRect">
            <a:avLst>
              <a:gd name="adj" fmla="val 6000"/>
            </a:avLst>
          </a:prstGeom>
          <a:solidFill>
            <a:srgbClr val="D9D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60120" y="1792224"/>
            <a:ext cx="548640" cy="548640"/>
          </a:xfrm>
          <a:prstGeom prst="ellipse">
            <a:avLst/>
          </a:prstGeom>
          <a:solidFill>
            <a:srgbClr val="2B4E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91640" y="1645920"/>
            <a:ext cx="2377440" cy="84124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2B4EB4"/>
                </a:solidFill>
                <a:latin typeface="Calibri"/>
              </a:rPr>
              <a:t>Lectura asistida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69080" y="1645920"/>
            <a:ext cx="7132320" cy="84124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011754"/>
                </a:solidFill>
                <a:latin typeface="Calibri"/>
              </a:rPr>
              <a:t>Pedir a la IA una síntesis con formato definido y contrastarla con el artículo original.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578608"/>
            <a:ext cx="10515600" cy="841248"/>
          </a:xfrm>
          <a:prstGeom prst="roundRect">
            <a:avLst>
              <a:gd name="adj" fmla="val 6000"/>
            </a:avLst>
          </a:prstGeom>
          <a:solidFill>
            <a:srgbClr val="D9D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0120" y="2724912"/>
            <a:ext cx="548640" cy="548640"/>
          </a:xfrm>
          <a:prstGeom prst="ellipse">
            <a:avLst/>
          </a:prstGeom>
          <a:solidFill>
            <a:srgbClr val="2B4E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578608"/>
            <a:ext cx="2377440" cy="84124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2B4EB4"/>
                </a:solidFill>
                <a:latin typeface="Calibri"/>
              </a:rPr>
              <a:t>Extracción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69080" y="2578608"/>
            <a:ext cx="7132320" cy="84124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011754"/>
                </a:solidFill>
                <a:latin typeface="Calibri"/>
              </a:rPr>
              <a:t>Extraer objetivo, metodología, muestra y resultados de cada fuente verificada.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511296"/>
            <a:ext cx="10515600" cy="841248"/>
          </a:xfrm>
          <a:prstGeom prst="roundRect">
            <a:avLst>
              <a:gd name="adj" fmla="val 6000"/>
            </a:avLst>
          </a:prstGeom>
          <a:solidFill>
            <a:srgbClr val="D9D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60120" y="3657600"/>
            <a:ext cx="548640" cy="548640"/>
          </a:xfrm>
          <a:prstGeom prst="ellipse">
            <a:avLst/>
          </a:prstGeom>
          <a:solidFill>
            <a:srgbClr val="2B4E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3511296"/>
            <a:ext cx="2377440" cy="84124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2B4EB4"/>
                </a:solidFill>
                <a:latin typeface="Calibri"/>
              </a:rPr>
              <a:t>Matriz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69080" y="3511296"/>
            <a:ext cx="7132320" cy="84124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011754"/>
                </a:solidFill>
                <a:latin typeface="Calibri"/>
              </a:rPr>
              <a:t>Construir una matriz de antecedentes en Word o Google Sheets y comparar hallazgos.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443984"/>
            <a:ext cx="10515600" cy="841248"/>
          </a:xfrm>
          <a:prstGeom prst="roundRect">
            <a:avLst>
              <a:gd name="adj" fmla="val 6000"/>
            </a:avLst>
          </a:prstGeom>
          <a:solidFill>
            <a:srgbClr val="D9D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60120" y="4590288"/>
            <a:ext cx="548640" cy="548640"/>
          </a:xfrm>
          <a:prstGeom prst="ellipse">
            <a:avLst/>
          </a:prstGeom>
          <a:solidFill>
            <a:srgbClr val="2B4E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91640" y="4443984"/>
            <a:ext cx="2377440" cy="84124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2B4EB4"/>
                </a:solidFill>
                <a:latin typeface="Calibri"/>
              </a:rPr>
              <a:t>Esquema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69080" y="4443984"/>
            <a:ext cx="7132320" cy="84124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011754"/>
                </a:solidFill>
                <a:latin typeface="Calibri"/>
              </a:rPr>
              <a:t>Pasar de los antecedentes a un esquema del estado del arte y del marco teórico.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5376672"/>
            <a:ext cx="10515600" cy="841248"/>
          </a:xfrm>
          <a:prstGeom prst="roundRect">
            <a:avLst>
              <a:gd name="adj" fmla="val 6000"/>
            </a:avLst>
          </a:prstGeom>
          <a:solidFill>
            <a:srgbClr val="D9D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60120" y="5522976"/>
            <a:ext cx="548640" cy="548640"/>
          </a:xfrm>
          <a:prstGeom prst="ellipse">
            <a:avLst/>
          </a:prstGeom>
          <a:solidFill>
            <a:srgbClr val="2B4E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91640" y="5376672"/>
            <a:ext cx="2377440" cy="84124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2B4EB4"/>
                </a:solidFill>
                <a:latin typeface="Calibri"/>
              </a:rPr>
              <a:t>Voz propia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69080" y="5376672"/>
            <a:ext cx="7132320" cy="841248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011754"/>
                </a:solidFill>
                <a:latin typeface="Calibri"/>
              </a:rPr>
              <a:t>Distinguir corrección de estilo de redacción sustituta y declarar el uso de IA en el dossier.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genda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82912" y="427292"/>
            <a:ext cx="10228277" cy="7174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700" b="1">
                <a:solidFill>
                  <a:srgbClr val="FFFFFF"/>
                </a:solidFill>
                <a:latin typeface="Calibri"/>
              </a:rPr>
              <a:t>RUTA DE APRENDIZAJE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645920"/>
            <a:ext cx="10515600" cy="685800"/>
          </a:xfrm>
          <a:prstGeom prst="roundRect">
            <a:avLst>
              <a:gd name="adj" fmla="val 6000"/>
            </a:avLst>
          </a:prstGeom>
          <a:solidFill>
            <a:srgbClr val="D9D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645920"/>
            <a:ext cx="3931920" cy="6858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2B4EB4"/>
                </a:solidFill>
                <a:latin typeface="Calibri"/>
              </a:rPr>
              <a:t>Bienvenida y punto de partida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92040" y="1645920"/>
            <a:ext cx="5303520" cy="6858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011754"/>
                </a:solidFill>
                <a:latin typeface="Calibri"/>
              </a:rPr>
              <a:t>Qué es una matriz de antecedentes y para qué sirve.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287000" y="1755648"/>
            <a:ext cx="914400" cy="466344"/>
          </a:xfrm>
          <a:prstGeom prst="roundRect">
            <a:avLst>
              <a:gd name="adj" fmla="val 30000"/>
            </a:avLst>
          </a:prstGeom>
          <a:solidFill>
            <a:srgbClr val="2B4E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87000" y="1755648"/>
            <a:ext cx="914400" cy="46634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10 min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423160"/>
            <a:ext cx="10515600" cy="685800"/>
          </a:xfrm>
          <a:prstGeom prst="roundRect">
            <a:avLst>
              <a:gd name="adj" fmla="val 6000"/>
            </a:avLst>
          </a:prstGeom>
          <a:solidFill>
            <a:srgbClr val="D9D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423160"/>
            <a:ext cx="3931920" cy="6858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2B4EB4"/>
                </a:solidFill>
                <a:latin typeface="Calibri"/>
              </a:rPr>
              <a:t>Demostración de lectura asistida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92040" y="2423160"/>
            <a:ext cx="5303520" cy="6858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011754"/>
                </a:solidFill>
                <a:latin typeface="Calibri"/>
              </a:rPr>
              <a:t>Cargar un artículo y pedir una síntesis con formato.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287000" y="2532888"/>
            <a:ext cx="914400" cy="466344"/>
          </a:xfrm>
          <a:prstGeom prst="roundRect">
            <a:avLst>
              <a:gd name="adj" fmla="val 30000"/>
            </a:avLst>
          </a:prstGeom>
          <a:solidFill>
            <a:srgbClr val="2B4E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87000" y="2532888"/>
            <a:ext cx="914400" cy="46634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20 min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200400"/>
            <a:ext cx="10515600" cy="685800"/>
          </a:xfrm>
          <a:prstGeom prst="roundRect">
            <a:avLst>
              <a:gd name="adj" fmla="val 6000"/>
            </a:avLst>
          </a:prstGeom>
          <a:solidFill>
            <a:srgbClr val="D9D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200400"/>
            <a:ext cx="3931920" cy="6858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2B4EB4"/>
                </a:solidFill>
                <a:latin typeface="Calibri"/>
              </a:rPr>
              <a:t>Síntesis de fuentes propias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92040" y="3200400"/>
            <a:ext cx="5303520" cy="6858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011754"/>
                </a:solidFill>
                <a:latin typeface="Calibri"/>
              </a:rPr>
              <a:t>Sintetizas tus fuentes verificadas con apoyo de la IA.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287000" y="3310128"/>
            <a:ext cx="914400" cy="466344"/>
          </a:xfrm>
          <a:prstGeom prst="roundRect">
            <a:avLst>
              <a:gd name="adj" fmla="val 30000"/>
            </a:avLst>
          </a:prstGeom>
          <a:solidFill>
            <a:srgbClr val="2B4E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287000" y="3310128"/>
            <a:ext cx="914400" cy="46634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30 min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3977639"/>
            <a:ext cx="10515600" cy="685800"/>
          </a:xfrm>
          <a:prstGeom prst="roundRect">
            <a:avLst>
              <a:gd name="adj" fmla="val 6000"/>
            </a:avLst>
          </a:prstGeom>
          <a:solidFill>
            <a:srgbClr val="D9D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3977639"/>
            <a:ext cx="3931920" cy="6858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2B4EB4"/>
                </a:solidFill>
                <a:latin typeface="Calibri"/>
              </a:rPr>
              <a:t>Construcción de la matriz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92040" y="3977639"/>
            <a:ext cx="5303520" cy="6858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011754"/>
                </a:solidFill>
                <a:latin typeface="Calibri"/>
              </a:rPr>
              <a:t>Extraes, comparas y ordenas los antecedentes.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287000" y="4087368"/>
            <a:ext cx="914400" cy="466344"/>
          </a:xfrm>
          <a:prstGeom prst="roundRect">
            <a:avLst>
              <a:gd name="adj" fmla="val 30000"/>
            </a:avLst>
          </a:prstGeom>
          <a:solidFill>
            <a:srgbClr val="2B4E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87000" y="4087368"/>
            <a:ext cx="914400" cy="46634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30 min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" y="4754879"/>
            <a:ext cx="10515600" cy="685800"/>
          </a:xfrm>
          <a:prstGeom prst="roundRect">
            <a:avLst>
              <a:gd name="adj" fmla="val 6000"/>
            </a:avLst>
          </a:prstGeom>
          <a:solidFill>
            <a:srgbClr val="D9D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0120" y="4754879"/>
            <a:ext cx="3931920" cy="6858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2B4EB4"/>
                </a:solidFill>
                <a:latin typeface="Calibri"/>
              </a:rPr>
              <a:t>Esquema y exportación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92040" y="4754879"/>
            <a:ext cx="5303520" cy="6858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011754"/>
                </a:solidFill>
                <a:latin typeface="Calibri"/>
              </a:rPr>
              <a:t>Esquema del marco teórico, revisión humana y dossier.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287000" y="4864607"/>
            <a:ext cx="914400" cy="466344"/>
          </a:xfrm>
          <a:prstGeom prst="roundRect">
            <a:avLst>
              <a:gd name="adj" fmla="val 30000"/>
            </a:avLst>
          </a:prstGeom>
          <a:solidFill>
            <a:srgbClr val="2B4E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287000" y="4864607"/>
            <a:ext cx="914400" cy="46634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20 min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2960" y="5532119"/>
            <a:ext cx="10515600" cy="685800"/>
          </a:xfrm>
          <a:prstGeom prst="roundRect">
            <a:avLst>
              <a:gd name="adj" fmla="val 6000"/>
            </a:avLst>
          </a:prstGeom>
          <a:solidFill>
            <a:srgbClr val="D9D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0120" y="5532119"/>
            <a:ext cx="3931920" cy="6858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2B4EB4"/>
                </a:solidFill>
                <a:latin typeface="Calibri"/>
              </a:rPr>
              <a:t>Cierre del curso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92040" y="5532119"/>
            <a:ext cx="5303520" cy="6858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011754"/>
                </a:solidFill>
                <a:latin typeface="Calibri"/>
              </a:rPr>
              <a:t>Declaración de uso de IA y entrega del dossier final.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287000" y="5641847"/>
            <a:ext cx="914400" cy="466344"/>
          </a:xfrm>
          <a:prstGeom prst="roundRect">
            <a:avLst>
              <a:gd name="adj" fmla="val 30000"/>
            </a:avLst>
          </a:prstGeom>
          <a:solidFill>
            <a:srgbClr val="2B4E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287000" y="5641847"/>
            <a:ext cx="914400" cy="46634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10 min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cf80e77ae7_4_178"/>
          <p:cNvSpPr/>
          <p:nvPr/>
        </p:nvSpPr>
        <p:spPr>
          <a:xfrm>
            <a:off x="-147963" y="-69639"/>
            <a:ext cx="12487926" cy="7117830"/>
          </a:xfrm>
          <a:custGeom>
            <a:avLst/>
            <a:gdLst/>
            <a:ahLst/>
            <a:cxnLst/>
            <a:rect l="l" t="t" r="r" b="b"/>
            <a:pathLst>
              <a:path w="4933502" h="2811982" extrusionOk="0">
                <a:moveTo>
                  <a:pt x="0" y="0"/>
                </a:moveTo>
                <a:lnTo>
                  <a:pt x="4933502" y="0"/>
                </a:lnTo>
                <a:lnTo>
                  <a:pt x="4933502" y="2811982"/>
                </a:lnTo>
                <a:lnTo>
                  <a:pt x="0" y="2811982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p/>
        </p:txBody>
      </p:sp>
      <p:grpSp>
        <p:nvGrpSpPr>
          <p:cNvPr id="242" name="Google Shape;242;g3cf80e77ae7_4_178"/>
          <p:cNvGrpSpPr/>
          <p:nvPr/>
        </p:nvGrpSpPr>
        <p:grpSpPr>
          <a:xfrm>
            <a:off x="0" y="4707312"/>
            <a:ext cx="12192000" cy="2150689"/>
            <a:chOff x="0" y="-38100"/>
            <a:chExt cx="14449778" cy="2548965"/>
          </a:xfrm>
        </p:grpSpPr>
        <p:sp>
          <p:nvSpPr>
            <p:cNvPr id="243" name="Google Shape;243;g3cf80e77ae7_4_178"/>
            <p:cNvSpPr/>
            <p:nvPr/>
          </p:nvSpPr>
          <p:spPr>
            <a:xfrm>
              <a:off x="0" y="0"/>
              <a:ext cx="14449778" cy="2510865"/>
            </a:xfrm>
            <a:custGeom>
              <a:avLst/>
              <a:gdLst/>
              <a:ahLst/>
              <a:cxnLst/>
              <a:rect l="l" t="t" r="r" b="b"/>
              <a:pathLst>
                <a:path w="14449778" h="2510865" extrusionOk="0">
                  <a:moveTo>
                    <a:pt x="0" y="0"/>
                  </a:moveTo>
                  <a:lnTo>
                    <a:pt x="14449778" y="0"/>
                  </a:lnTo>
                  <a:lnTo>
                    <a:pt x="14449778" y="2510865"/>
                  </a:lnTo>
                  <a:lnTo>
                    <a:pt x="0" y="2510865"/>
                  </a:lnTo>
                  <a:close/>
                </a:path>
              </a:pathLst>
            </a:custGeom>
            <a:gradFill>
              <a:gsLst>
                <a:gs pos="0">
                  <a:srgbClr val="031A8D"/>
                </a:gs>
                <a:gs pos="33333">
                  <a:srgbClr val="000156"/>
                </a:gs>
                <a:gs pos="66667">
                  <a:srgbClr val="000156"/>
                </a:gs>
                <a:gs pos="100000">
                  <a:srgbClr val="000156"/>
                </a:gs>
              </a:gsLst>
              <a:lin ang="2700000" scaled="0"/>
            </a:gradFill>
            <a:ln>
              <a:noFill/>
            </a:ln>
          </p:spPr>
        </p:sp>
        <p:sp>
          <p:nvSpPr>
            <p:cNvPr id="244" name="Google Shape;244;g3cf80e77ae7_4_178"/>
            <p:cNvSpPr txBox="1"/>
            <p:nvPr/>
          </p:nvSpPr>
          <p:spPr>
            <a:xfrm>
              <a:off x="0" y="-38100"/>
              <a:ext cx="14449778" cy="254896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3867" tIns="33867" rIns="33867" bIns="33867" anchor="ctr" anchorCtr="0">
              <a:noAutofit/>
            </a:bodyPr>
            <a:lstStyle/>
            <a:p>
              <a:pPr algn="ctr">
                <a:lnSpc>
                  <a:spcPct val="147722"/>
                </a:lnSpc>
              </a:pP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5" name="Google Shape;245;g3cf80e77ae7_4_178"/>
          <p:cNvSpPr/>
          <p:nvPr/>
        </p:nvSpPr>
        <p:spPr>
          <a:xfrm>
            <a:off x="7894980" y="0"/>
            <a:ext cx="3611221" cy="8014953"/>
          </a:xfrm>
          <a:custGeom>
            <a:avLst/>
            <a:gdLst/>
            <a:ahLst/>
            <a:cxnLst/>
            <a:rect l="l" t="t" r="r" b="b"/>
            <a:pathLst>
              <a:path w="2858770" h="6344920" extrusionOk="0">
                <a:moveTo>
                  <a:pt x="1827530" y="6344920"/>
                </a:moveTo>
                <a:lnTo>
                  <a:pt x="0" y="6344920"/>
                </a:lnTo>
                <a:lnTo>
                  <a:pt x="0" y="1031240"/>
                </a:lnTo>
                <a:cubicBezTo>
                  <a:pt x="0" y="461010"/>
                  <a:pt x="461010" y="0"/>
                  <a:pt x="1031240" y="0"/>
                </a:cubicBezTo>
                <a:lnTo>
                  <a:pt x="2858770" y="0"/>
                </a:lnTo>
                <a:lnTo>
                  <a:pt x="2858770" y="5313680"/>
                </a:lnTo>
                <a:cubicBezTo>
                  <a:pt x="2858770" y="5883910"/>
                  <a:pt x="2397760" y="6344920"/>
                  <a:pt x="1827530" y="6344920"/>
                </a:cubicBezTo>
                <a:close/>
              </a:path>
            </a:pathLst>
          </a:custGeom>
          <a:blipFill rotWithShape="1">
            <a:blip r:embed="rId3">
              <a:alphaModFix amt="93000"/>
            </a:blip>
            <a:stretch>
              <a:fillRect l="-113407" r="-119516"/>
            </a:stretch>
          </a:blipFill>
          <a:ln>
            <a:noFill/>
          </a:ln>
        </p:spPr>
        <p:txBody>
          <a:bodyPr spcFirstLastPara="1" wrap="square" lIns="60950" tIns="60950" rIns="60950" bIns="60950" anchor="ctr" anchorCtr="0">
            <a:noAutofit/>
          </a:bodyPr>
          <a:lstStyle/>
          <a:p>
            <a:endParaRPr sz="1200"/>
          </a:p>
        </p:txBody>
      </p:sp>
      <p:grpSp>
        <p:nvGrpSpPr>
          <p:cNvPr id="246" name="Google Shape;246;g3cf80e77ae7_4_178"/>
          <p:cNvGrpSpPr/>
          <p:nvPr/>
        </p:nvGrpSpPr>
        <p:grpSpPr>
          <a:xfrm>
            <a:off x="11506200" y="-32147"/>
            <a:ext cx="685800" cy="717947"/>
            <a:chOff x="0" y="-38100"/>
            <a:chExt cx="812800" cy="850900"/>
          </a:xfrm>
        </p:grpSpPr>
        <p:sp>
          <p:nvSpPr>
            <p:cNvPr id="247" name="Google Shape;247;g3cf80e77ae7_4_17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11754"/>
            </a:solidFill>
            <a:ln>
              <a:noFill/>
            </a:ln>
          </p:spPr>
        </p:sp>
        <p:sp>
          <p:nvSpPr>
            <p:cNvPr id="248" name="Google Shape;248;g3cf80e77ae7_4_178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3867" tIns="33867" rIns="33867" bIns="33867" anchor="ctr" anchorCtr="0">
              <a:noAutofit/>
            </a:bodyPr>
            <a:lstStyle/>
            <a:p>
              <a:pPr algn="ctr">
                <a:lnSpc>
                  <a:spcPct val="147722"/>
                </a:lnSpc>
              </a:pP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49" name="Google Shape;249;g3cf80e77ae7_4_178"/>
          <p:cNvGrpSpPr/>
          <p:nvPr/>
        </p:nvGrpSpPr>
        <p:grpSpPr>
          <a:xfrm>
            <a:off x="7235925" y="462783"/>
            <a:ext cx="1318109" cy="1379896"/>
            <a:chOff x="0" y="-38100"/>
            <a:chExt cx="812800" cy="850900"/>
          </a:xfrm>
        </p:grpSpPr>
        <p:sp>
          <p:nvSpPr>
            <p:cNvPr id="250" name="Google Shape;250;g3cf80e77ae7_4_17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199699" y="0"/>
                  </a:moveTo>
                  <a:lnTo>
                    <a:pt x="613101" y="0"/>
                  </a:lnTo>
                  <a:cubicBezTo>
                    <a:pt x="666064" y="0"/>
                    <a:pt x="716859" y="21040"/>
                    <a:pt x="754309" y="58491"/>
                  </a:cubicBezTo>
                  <a:cubicBezTo>
                    <a:pt x="791760" y="95941"/>
                    <a:pt x="812800" y="146736"/>
                    <a:pt x="812800" y="199699"/>
                  </a:cubicBezTo>
                  <a:lnTo>
                    <a:pt x="812800" y="613101"/>
                  </a:lnTo>
                  <a:cubicBezTo>
                    <a:pt x="812800" y="666064"/>
                    <a:pt x="791760" y="716859"/>
                    <a:pt x="754309" y="754309"/>
                  </a:cubicBezTo>
                  <a:cubicBezTo>
                    <a:pt x="716859" y="791760"/>
                    <a:pt x="666064" y="812800"/>
                    <a:pt x="613101" y="812800"/>
                  </a:cubicBezTo>
                  <a:lnTo>
                    <a:pt x="199699" y="812800"/>
                  </a:lnTo>
                  <a:cubicBezTo>
                    <a:pt x="146736" y="812800"/>
                    <a:pt x="95941" y="791760"/>
                    <a:pt x="58491" y="754309"/>
                  </a:cubicBezTo>
                  <a:cubicBezTo>
                    <a:pt x="21040" y="716859"/>
                    <a:pt x="0" y="666064"/>
                    <a:pt x="0" y="613101"/>
                  </a:cubicBezTo>
                  <a:lnTo>
                    <a:pt x="0" y="199699"/>
                  </a:lnTo>
                  <a:cubicBezTo>
                    <a:pt x="0" y="146736"/>
                    <a:pt x="21040" y="95941"/>
                    <a:pt x="58491" y="58491"/>
                  </a:cubicBezTo>
                  <a:cubicBezTo>
                    <a:pt x="95941" y="21040"/>
                    <a:pt x="146736" y="0"/>
                    <a:pt x="199699" y="0"/>
                  </a:cubicBezTo>
                  <a:close/>
                </a:path>
              </a:pathLst>
            </a:custGeom>
            <a:solidFill>
              <a:srgbClr val="011754">
                <a:alpha val="29803"/>
              </a:srgbClr>
            </a:solidFill>
            <a:ln>
              <a:noFill/>
            </a:ln>
          </p:spPr>
          <p:txBody>
            <a:bodyPr spcFirstLastPara="1" wrap="square" lIns="60950" tIns="60950" rIns="60950" bIns="60950" anchor="ctr" anchorCtr="0">
              <a:noAutofit/>
            </a:bodyPr>
            <a:lstStyle/>
            <a:p>
              <a:endParaRPr sz="1200"/>
            </a:p>
          </p:txBody>
        </p:sp>
        <p:sp>
          <p:nvSpPr>
            <p:cNvPr id="251" name="Google Shape;251;g3cf80e77ae7_4_178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3867" tIns="33867" rIns="33867" bIns="33867" anchor="ctr" anchorCtr="0">
              <a:noAutofit/>
            </a:bodyPr>
            <a:lstStyle/>
            <a:p>
              <a:pPr algn="ctr">
                <a:lnSpc>
                  <a:spcPct val="147722"/>
                </a:lnSpc>
              </a:pP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52" name="Google Shape;252;g3cf80e77ae7_4_178"/>
          <p:cNvSpPr txBox="1"/>
          <p:nvPr/>
        </p:nvSpPr>
        <p:spPr>
          <a:xfrm>
            <a:off x="904150" y="4800600"/>
            <a:ext cx="6710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spcAft>
                <a:spcPts val="800"/>
              </a:spcAft>
            </a:pPr>
            <a:r>
              <a:rPr lang="es-MX" sz="1800" dirty="0">
                <a:solidFill>
                  <a:srgbClr val="FFFFFF"/>
                </a:solidFill>
                <a:latin typeface="Calibri"/>
              </a:rPr>
              <a:t>Trabajaremos con tus cinco fuentes verificadas</a:t>
            </a:r>
          </a:p>
          <a:p>
            <a:pPr marL="331107" indent="-165553">
              <a:spcAft>
                <a:spcPts val="800"/>
              </a:spcAft>
              <a:buClr>
                <a:srgbClr val="FFFFFF"/>
              </a:buClr>
              <a:buChar char="•"/>
            </a:pPr>
            <a:r>
              <a:rPr lang="es-MX" sz="1800" dirty="0">
                <a:solidFill>
                  <a:srgbClr val="FFFFFF"/>
                </a:solidFill>
                <a:latin typeface="Calibri"/>
              </a:rPr>
              <a:t>Ten abiertos ChatGPT o Claude y tus artículos</a:t>
            </a:r>
          </a:p>
          <a:p>
            <a:pPr marL="331107" indent="-165553">
              <a:spcAft>
                <a:spcPts val="800"/>
              </a:spcAft>
              <a:buClr>
                <a:srgbClr val="FFFFFF"/>
              </a:buClr>
              <a:buChar char="•"/>
            </a:pPr>
            <a:r>
              <a:rPr lang="es-MX" sz="1800" dirty="0">
                <a:solidFill>
                  <a:srgbClr val="FFFFFF"/>
                </a:solidFill>
                <a:latin typeface="Calibri"/>
              </a:rPr>
              <a:t>Ten a mano la plantilla de la matriz</a:t>
            </a:r>
            <a:endParaRPr lang="es-MX" sz="160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53" name="Google Shape;253;g3cf80e77ae7_4_178"/>
          <p:cNvSpPr txBox="1"/>
          <p:nvPr/>
        </p:nvSpPr>
        <p:spPr>
          <a:xfrm>
            <a:off x="1082949" y="1563660"/>
            <a:ext cx="5863764" cy="2454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15000"/>
              </a:lnSpc>
            </a:pPr>
            <a:r>
              <a:rPr lang="en-US" sz="6934" b="1" dirty="0">
                <a:solidFill>
                  <a:srgbClr val="000156"/>
                </a:solidFill>
                <a:latin typeface="Fira Sans"/>
                <a:ea typeface="Fira Sans"/>
                <a:cs typeface="Fira Sans"/>
                <a:sym typeface="Fira Sans"/>
              </a:rPr>
              <a:t>VAMOS A LA PRÁCTICA</a:t>
            </a:r>
            <a:endParaRPr sz="1200" dirty="0"/>
          </a:p>
        </p:txBody>
      </p:sp>
      <p:grpSp>
        <p:nvGrpSpPr>
          <p:cNvPr id="254" name="Google Shape;254;g3cf80e77ae7_4_178"/>
          <p:cNvGrpSpPr/>
          <p:nvPr/>
        </p:nvGrpSpPr>
        <p:grpSpPr>
          <a:xfrm>
            <a:off x="5656329" y="6009371"/>
            <a:ext cx="1697259" cy="1697259"/>
            <a:chOff x="0" y="0"/>
            <a:chExt cx="812800" cy="812800"/>
          </a:xfrm>
        </p:grpSpPr>
        <p:sp>
          <p:nvSpPr>
            <p:cNvPr id="255" name="Google Shape;255;g3cf80e77ae7_4_17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noFill/>
            <a:ln w="571500" cap="sq" cmpd="sng">
              <a:solidFill>
                <a:srgbClr val="0345E4">
                  <a:alpha val="9803"/>
                </a:srgb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60950" tIns="60950" rIns="60950" bIns="60950" anchor="ctr" anchorCtr="0">
              <a:noAutofit/>
            </a:bodyPr>
            <a:lstStyle/>
            <a:p>
              <a:endParaRPr sz="1200"/>
            </a:p>
          </p:txBody>
        </p:sp>
        <p:sp>
          <p:nvSpPr>
            <p:cNvPr id="256" name="Google Shape;256;g3cf80e77ae7_4_17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3867" tIns="33867" rIns="33867" bIns="33867" anchor="ctr" anchorCtr="0">
              <a:noAutofit/>
            </a:bodyPr>
            <a:lstStyle/>
            <a:p>
              <a:pPr algn="ctr">
                <a:lnSpc>
                  <a:spcPct val="147722"/>
                </a:lnSpc>
              </a:pPr>
              <a:endParaRPr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57" name="Google Shape;257;g3cf80e77ae7_4_178"/>
          <p:cNvSpPr/>
          <p:nvPr/>
        </p:nvSpPr>
        <p:spPr>
          <a:xfrm>
            <a:off x="11170168" y="142088"/>
            <a:ext cx="879745" cy="879745"/>
          </a:xfrm>
          <a:custGeom>
            <a:avLst/>
            <a:gdLst/>
            <a:ahLst/>
            <a:cxnLst/>
            <a:rect l="l" t="t" r="r" b="b"/>
            <a:pathLst>
              <a:path w="1319617" h="1319617" extrusionOk="0">
                <a:moveTo>
                  <a:pt x="0" y="0"/>
                </a:moveTo>
                <a:lnTo>
                  <a:pt x="1319617" y="0"/>
                </a:lnTo>
                <a:lnTo>
                  <a:pt x="1319617" y="1319617"/>
                </a:lnTo>
                <a:lnTo>
                  <a:pt x="0" y="13196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 w="47625" cap="sq" cmpd="sng">
            <a:solidFill>
              <a:srgbClr val="FFFFF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" name="TextBox 4">
            <a:extLst>
              <a:ext uri="{FF2B5EF4-FFF2-40B4-BE49-F238E27FC236}">
                <a16:creationId xmlns:a16="http://schemas.microsoft.com/office/drawing/2014/main" id="{EA5FC1F7-28A3-C8DA-1E0C-19D3168E7153}"/>
              </a:ext>
            </a:extLst>
          </p:cNvPr>
          <p:cNvSpPr txBox="1"/>
          <p:nvPr/>
        </p:nvSpPr>
        <p:spPr>
          <a:xfrm>
            <a:off x="324048" y="4124852"/>
            <a:ext cx="9863333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 dirty="0">
                <a:solidFill>
                  <a:srgbClr val="011754"/>
                </a:solidFill>
                <a:latin typeface="Calibri"/>
              </a:rPr>
              <a:t>De cinco fuentes a una matriz y un esquema del marco teórico</a:t>
            </a:r>
            <a:endParaRPr sz="1600" b="0" i="0" dirty="0">
              <a:solidFill>
                <a:srgbClr val="011754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12648" y="777240"/>
            <a:ext cx="10332720" cy="6400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836B2"/>
                </a:solidFill>
                <a:latin typeface="Calibri"/>
              </a:rPr>
              <a:t>Ya tienes cinco fuentes verificadas: ¿y ahora?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463040"/>
            <a:ext cx="1097280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011754"/>
                </a:solidFill>
                <a:latin typeface="Calibri"/>
              </a:rPr>
              <a:t>¿Cuál sería tu siguiente paso para usarlas en tu investigación?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" y="2057400"/>
            <a:ext cx="2606040" cy="2651760"/>
          </a:xfrm>
          <a:prstGeom prst="roundRect">
            <a:avLst>
              <a:gd name="adj" fmla="val 6000"/>
            </a:avLst>
          </a:prstGeom>
          <a:solidFill>
            <a:srgbClr val="D9D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8" y="2167128"/>
            <a:ext cx="2240280" cy="243230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2B4EB4"/>
                </a:solidFill>
                <a:latin typeface="Calibri"/>
              </a:rPr>
              <a:t>Leer todo una por una</a:t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011754"/>
                </a:solidFill>
                <a:latin typeface="Calibri"/>
              </a:rPr>
              <a:t>Es riguroso, pero consume mucho tiempo sin una estructura para comparar.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01568" y="2057400"/>
            <a:ext cx="2606040" cy="2651760"/>
          </a:xfrm>
          <a:prstGeom prst="roundRect">
            <a:avLst>
              <a:gd name="adj" fmla="val 6000"/>
            </a:avLst>
          </a:prstGeom>
          <a:solidFill>
            <a:srgbClr val="D9D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84448" y="2167128"/>
            <a:ext cx="2240280" cy="243230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2B4EB4"/>
                </a:solidFill>
                <a:latin typeface="Calibri"/>
              </a:rPr>
              <a:t>Pedir a la IA el estado del arte</a:t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011754"/>
                </a:solidFill>
                <a:latin typeface="Calibri"/>
              </a:rPr>
              <a:t>Rápido, pero la IA puede inventar y tu voz desaparece.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0488" y="2057400"/>
            <a:ext cx="2606040" cy="2651760"/>
          </a:xfrm>
          <a:prstGeom prst="roundRect">
            <a:avLst>
              <a:gd name="adj" fmla="val 6000"/>
            </a:avLst>
          </a:prstGeom>
          <a:solidFill>
            <a:srgbClr val="D9D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73368" y="2167128"/>
            <a:ext cx="2240280" cy="243230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2B4EB4"/>
                </a:solidFill>
                <a:latin typeface="Calibri"/>
              </a:rPr>
              <a:t>Resumir y comparar en tabla</a:t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011754"/>
                </a:solidFill>
                <a:latin typeface="Calibri"/>
              </a:rPr>
              <a:t>Ordena la información y permite ver coincidencias y vacíos.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79408" y="2057400"/>
            <a:ext cx="2606040" cy="2651760"/>
          </a:xfrm>
          <a:prstGeom prst="roundRect">
            <a:avLst>
              <a:gd name="adj" fmla="val 6000"/>
            </a:avLst>
          </a:prstGeom>
          <a:solidFill>
            <a:srgbClr val="D9D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62288" y="2167128"/>
            <a:ext cx="2240280" cy="243230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2B4EB4"/>
                </a:solidFill>
                <a:latin typeface="Calibri"/>
              </a:rPr>
              <a:t>Copiar fragmentos de cada una</a:t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011754"/>
                </a:solidFill>
                <a:latin typeface="Calibri"/>
              </a:rPr>
              <a:t>Riesgo de plagio y de texto sin integrar.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" y="5029200"/>
            <a:ext cx="10972800" cy="822960"/>
          </a:xfrm>
          <a:prstGeom prst="roundRect">
            <a:avLst>
              <a:gd name="adj" fmla="val 6000"/>
            </a:avLst>
          </a:prstGeom>
          <a:solidFill>
            <a:srgbClr val="0117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5029200"/>
            <a:ext cx="10515600" cy="8229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Pausa activa: comenta con un compañero cuál elegirías y por qué.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12648" y="777240"/>
            <a:ext cx="10332720" cy="6400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836B2"/>
                </a:solidFill>
                <a:latin typeface="Calibri"/>
              </a:rPr>
              <a:t>Punto de partida: la matriz de antecedentes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600200"/>
            <a:ext cx="5394960" cy="1965960"/>
          </a:xfrm>
          <a:prstGeom prst="roundRect">
            <a:avLst>
              <a:gd name="adj" fmla="val 6000"/>
            </a:avLst>
          </a:prstGeom>
          <a:solidFill>
            <a:srgbClr val="D9D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5528" y="1709928"/>
            <a:ext cx="5029200" cy="174650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2B4EB4"/>
                </a:solidFill>
                <a:latin typeface="Calibri"/>
              </a:rPr>
              <a:t>Qué es</a:t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011754"/>
                </a:solidFill>
                <a:latin typeface="Calibri"/>
              </a:rPr>
              <a:t>Una tabla que reúne, fuente por fuente, los datos clave de los estudios previos sobre tu tema.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90488" y="1600200"/>
            <a:ext cx="5394960" cy="1965960"/>
          </a:xfrm>
          <a:prstGeom prst="roundRect">
            <a:avLst>
              <a:gd name="adj" fmla="val 6000"/>
            </a:avLst>
          </a:prstGeom>
          <a:solidFill>
            <a:srgbClr val="D9D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73368" y="1709928"/>
            <a:ext cx="5029200" cy="174650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2B4EB4"/>
                </a:solidFill>
                <a:latin typeface="Calibri"/>
              </a:rPr>
              <a:t>Para qué sirve</a:t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011754"/>
                </a:solidFill>
                <a:latin typeface="Calibri"/>
              </a:rPr>
              <a:t>Para comparar estudios, ver qué se sabe y detectar el vacío que justifica tu investigación.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" y="3749039"/>
            <a:ext cx="5394960" cy="1965960"/>
          </a:xfrm>
          <a:prstGeom prst="roundRect">
            <a:avLst>
              <a:gd name="adj" fmla="val 6000"/>
            </a:avLst>
          </a:prstGeom>
          <a:solidFill>
            <a:srgbClr val="D9D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3858768"/>
            <a:ext cx="5029200" cy="174650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2B4EB4"/>
                </a:solidFill>
                <a:latin typeface="Calibri"/>
              </a:rPr>
              <a:t>Qué contiene</a:t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011754"/>
                </a:solidFill>
                <a:latin typeface="Calibri"/>
              </a:rPr>
              <a:t>Cita APA, objetivo, metodología, muestra, resultados, limitaciones y aporte a tu estudio.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0488" y="3749039"/>
            <a:ext cx="5394960" cy="1965960"/>
          </a:xfrm>
          <a:prstGeom prst="roundRect">
            <a:avLst>
              <a:gd name="adj" fmla="val 6000"/>
            </a:avLst>
          </a:prstGeom>
          <a:solidFill>
            <a:srgbClr val="D9D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73368" y="3858768"/>
            <a:ext cx="5029200" cy="174650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2B4EB4"/>
                </a:solidFill>
                <a:latin typeface="Calibri"/>
              </a:rPr>
              <a:t>Qué no es</a:t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011754"/>
                </a:solidFill>
                <a:latin typeface="Calibri"/>
              </a:rPr>
              <a:t>Un resumen suelto ni un texto generado por la IA sin revisar.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" y="5486400"/>
            <a:ext cx="10972800" cy="685800"/>
          </a:xfrm>
          <a:prstGeom prst="roundRect">
            <a:avLst>
              <a:gd name="adj" fmla="val 6000"/>
            </a:avLst>
          </a:prstGeom>
          <a:solidFill>
            <a:srgbClr val="0117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" y="5486400"/>
            <a:ext cx="10515600" cy="6858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Esta sesión es autocontenida: partimos de artículos de muestra si no tienes fuentes previas.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12648" y="777240"/>
            <a:ext cx="10332720" cy="6400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836B2"/>
                </a:solidFill>
                <a:latin typeface="Calibri"/>
              </a:rPr>
              <a:t>De los artículos al estado del arte y al marco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737360"/>
            <a:ext cx="2606040" cy="3200400"/>
          </a:xfrm>
          <a:prstGeom prst="roundRect">
            <a:avLst>
              <a:gd name="adj" fmla="val 6000"/>
            </a:avLst>
          </a:prstGeom>
          <a:solidFill>
            <a:srgbClr val="D9D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5528" y="1828800"/>
            <a:ext cx="2240280" cy="3017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 i="0">
                <a:solidFill>
                  <a:srgbClr val="2B4EB4"/>
                </a:solidFill>
                <a:latin typeface="Calibri"/>
              </a:rPr>
              <a:t>1 · Matriz</a:t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011754"/>
                </a:solidFill>
                <a:latin typeface="Calibri"/>
              </a:rPr>
              <a:t>Reúnes los datos clave de cada fuente verificada.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01568" y="1737360"/>
            <a:ext cx="2606040" cy="3200400"/>
          </a:xfrm>
          <a:prstGeom prst="roundRect">
            <a:avLst>
              <a:gd name="adj" fmla="val 6000"/>
            </a:avLst>
          </a:prstGeom>
          <a:solidFill>
            <a:srgbClr val="D9D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84448" y="1828800"/>
            <a:ext cx="2240280" cy="3017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 i="0">
                <a:solidFill>
                  <a:srgbClr val="2B4EB4"/>
                </a:solidFill>
                <a:latin typeface="Calibri"/>
              </a:rPr>
              <a:t>2 · Comparación</a:t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011754"/>
                </a:solidFill>
                <a:latin typeface="Calibri"/>
              </a:rPr>
              <a:t>Identificas coincidencias, contradicciones y vacíos.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0488" y="1737360"/>
            <a:ext cx="2606040" cy="3200400"/>
          </a:xfrm>
          <a:prstGeom prst="roundRect">
            <a:avLst>
              <a:gd name="adj" fmla="val 6000"/>
            </a:avLst>
          </a:prstGeom>
          <a:solidFill>
            <a:srgbClr val="D9D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73368" y="1828800"/>
            <a:ext cx="2240280" cy="3017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 i="0">
                <a:solidFill>
                  <a:srgbClr val="2B4EB4"/>
                </a:solidFill>
                <a:latin typeface="Calibri"/>
              </a:rPr>
              <a:t>3 · Estado del arte</a:t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011754"/>
                </a:solidFill>
                <a:latin typeface="Calibri"/>
              </a:rPr>
              <a:t>Describes qué se sabe y qué falta, con tu propia voz.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79408" y="1737360"/>
            <a:ext cx="2606040" cy="3200400"/>
          </a:xfrm>
          <a:prstGeom prst="roundRect">
            <a:avLst>
              <a:gd name="adj" fmla="val 6000"/>
            </a:avLst>
          </a:prstGeom>
          <a:solidFill>
            <a:srgbClr val="0117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62288" y="1828800"/>
            <a:ext cx="2240280" cy="3017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 i="0">
                <a:solidFill>
                  <a:srgbClr val="D4AF37"/>
                </a:solidFill>
                <a:latin typeface="Calibri"/>
              </a:rPr>
              <a:t>4 · Marco teórico</a:t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FFFFFF"/>
                </a:solidFill>
                <a:latin typeface="Calibri"/>
              </a:rPr>
              <a:t>Defines conceptos, teorías y dimensiones de tu estudio.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" y="5257800"/>
            <a:ext cx="10972800" cy="731520"/>
          </a:xfrm>
          <a:prstGeom prst="roundRect">
            <a:avLst>
              <a:gd name="adj" fmla="val 6000"/>
            </a:avLst>
          </a:prstGeom>
          <a:solidFill>
            <a:srgbClr val="0117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" y="5257800"/>
            <a:ext cx="10515600" cy="7315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Cada paso se apoya en el anterior: sin matriz no hay comparación confiable.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12648" y="777240"/>
            <a:ext cx="10332720" cy="6400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836B2"/>
                </a:solidFill>
                <a:latin typeface="Calibri"/>
              </a:rPr>
              <a:t>Lectura asistida de un artículo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600200"/>
            <a:ext cx="5394960" cy="2743200"/>
          </a:xfrm>
          <a:prstGeom prst="roundRect">
            <a:avLst>
              <a:gd name="adj" fmla="val 6000"/>
            </a:avLst>
          </a:prstGeom>
          <a:solidFill>
            <a:srgbClr val="D9D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5528" y="1709928"/>
            <a:ext cx="5029200" cy="25237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2B4EB4"/>
                </a:solidFill>
                <a:latin typeface="Calibri"/>
              </a:rPr>
              <a:t>Opción 1 · Cargar el PDF</a:t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011754"/>
                </a:solidFill>
                <a:latin typeface="Calibri"/>
              </a:rPr>
              <a:t>Sube el artículo a ChatGPT o Claude y pide la síntesis. Útil cuando tienes el texto completo.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90488" y="1600200"/>
            <a:ext cx="5394960" cy="2743200"/>
          </a:xfrm>
          <a:prstGeom prst="roundRect">
            <a:avLst>
              <a:gd name="adj" fmla="val 6000"/>
            </a:avLst>
          </a:prstGeom>
          <a:solidFill>
            <a:srgbClr val="D9D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73368" y="1709928"/>
            <a:ext cx="5029200" cy="25237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2B4EB4"/>
                </a:solidFill>
                <a:latin typeface="Calibri"/>
              </a:rPr>
              <a:t>Opción 2 · Pegar el resumen</a:t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011754"/>
                </a:solidFill>
                <a:latin typeface="Calibri"/>
              </a:rPr>
              <a:t>Pega el abstract o un fragmento. Es más rápido, pero la síntesis solo será tan buena como ese texto.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" y="4572000"/>
            <a:ext cx="10972800" cy="822960"/>
          </a:xfrm>
          <a:prstGeom prst="roundRect">
            <a:avLst>
              <a:gd name="adj" fmla="val 6000"/>
            </a:avLst>
          </a:prstGeom>
          <a:solidFill>
            <a:srgbClr val="0117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4572000"/>
            <a:ext cx="10515600" cy="8229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Usa solo artículos de acceso abierto o propios; no cargues documentos confidenciales ni inéditos.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5577840"/>
            <a:ext cx="1097280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2B4EB4"/>
                </a:solidFill>
                <a:latin typeface="Calibri"/>
              </a:rPr>
              <a:t>Recuerda la sesión anterior: la IA lee lo que le das; no verifica que exista.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12648" y="777240"/>
            <a:ext cx="10332720" cy="6400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836B2"/>
                </a:solidFill>
                <a:latin typeface="Calibri"/>
              </a:rPr>
              <a:t>Pedir la síntesis con un formato definido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600200"/>
            <a:ext cx="10972800" cy="2011680"/>
          </a:xfrm>
          <a:prstGeom prst="roundRect">
            <a:avLst>
              <a:gd name="adj" fmla="val 6000"/>
            </a:avLst>
          </a:prstGeom>
          <a:solidFill>
            <a:srgbClr val="0117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1600200"/>
            <a:ext cx="10515600" cy="20116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D4AF37"/>
                </a:solidFill>
                <a:latin typeface="Calibri"/>
              </a:rPr>
              <a:t>Prompt sugerido</a:t>
            </a:r>
          </a:p>
          <a:p>
            <a:pPr algn="l">
              <a:spcAft>
                <a:spcPts val="400"/>
              </a:spcAft>
            </a:pPr>
            <a:r>
              <a:rPr sz="1800" b="0" i="1">
                <a:solidFill>
                  <a:srgbClr val="FFFFFF"/>
                </a:solidFill>
                <a:latin typeface="Calibri"/>
              </a:rPr>
              <a:t>«Con el texto que te adjunto, completa una ficha con: objetivo, metodología, muestra, resultados principales y limitaciones. Usa solo información que aparezca en el texto, cita la sección de donde la tomas y señala lo que no figure.»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" y="3840480"/>
            <a:ext cx="3535680" cy="2011680"/>
          </a:xfrm>
          <a:prstGeom prst="roundRect">
            <a:avLst>
              <a:gd name="adj" fmla="val 6000"/>
            </a:avLst>
          </a:prstGeom>
          <a:solidFill>
            <a:srgbClr val="D9D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3950208"/>
            <a:ext cx="3169920" cy="179222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2B4EB4"/>
                </a:solidFill>
                <a:latin typeface="Calibri"/>
              </a:rPr>
              <a:t>Solo el texto</a:t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011754"/>
                </a:solidFill>
                <a:latin typeface="Calibri"/>
              </a:rPr>
              <a:t>Pide que no use conocimiento externo.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31208" y="3840480"/>
            <a:ext cx="3535680" cy="2011680"/>
          </a:xfrm>
          <a:prstGeom prst="roundRect">
            <a:avLst>
              <a:gd name="adj" fmla="val 6000"/>
            </a:avLst>
          </a:prstGeom>
          <a:solidFill>
            <a:srgbClr val="D9D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14088" y="3950208"/>
            <a:ext cx="3169920" cy="179222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2B4EB4"/>
                </a:solidFill>
                <a:latin typeface="Calibri"/>
              </a:rPr>
              <a:t>Formato fijo</a:t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011754"/>
                </a:solidFill>
                <a:latin typeface="Calibri"/>
              </a:rPr>
              <a:t>Los mismos campos para todas las fuentes.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9767" y="3840480"/>
            <a:ext cx="3535680" cy="2011680"/>
          </a:xfrm>
          <a:prstGeom prst="roundRect">
            <a:avLst>
              <a:gd name="adj" fmla="val 6000"/>
            </a:avLst>
          </a:prstGeom>
          <a:solidFill>
            <a:srgbClr val="D9D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32647" y="3950208"/>
            <a:ext cx="3169920" cy="179222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2B4EB4"/>
                </a:solidFill>
                <a:latin typeface="Calibri"/>
              </a:rPr>
              <a:t>Marcar lo ausente</a:t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011754"/>
                </a:solidFill>
                <a:latin typeface="Calibri"/>
              </a:rPr>
              <a:t>Que indique qué dato no aparece.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12648" y="777240"/>
            <a:ext cx="10332720" cy="6400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836B2"/>
                </a:solidFill>
                <a:latin typeface="Calibri"/>
              </a:rPr>
              <a:t>Qué se extrae de cada fuente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600200"/>
            <a:ext cx="3535680" cy="1965960"/>
          </a:xfrm>
          <a:prstGeom prst="roundRect">
            <a:avLst>
              <a:gd name="adj" fmla="val 6000"/>
            </a:avLst>
          </a:prstGeom>
          <a:solidFill>
            <a:srgbClr val="D9D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5528" y="1709928"/>
            <a:ext cx="3169920" cy="174650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2B4EB4"/>
                </a:solidFill>
                <a:latin typeface="Calibri"/>
              </a:rPr>
              <a:t>Objetivo</a:t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011754"/>
                </a:solidFill>
                <a:latin typeface="Calibri"/>
              </a:rPr>
              <a:t>Qué pregunta o hipótesis buscó responder el estudio.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31208" y="1600200"/>
            <a:ext cx="3535680" cy="1965960"/>
          </a:xfrm>
          <a:prstGeom prst="roundRect">
            <a:avLst>
              <a:gd name="adj" fmla="val 6000"/>
            </a:avLst>
          </a:prstGeom>
          <a:solidFill>
            <a:srgbClr val="D9D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14088" y="1709928"/>
            <a:ext cx="3169920" cy="174650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2B4EB4"/>
                </a:solidFill>
                <a:latin typeface="Calibri"/>
              </a:rPr>
              <a:t>Metodología</a:t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011754"/>
                </a:solidFill>
                <a:latin typeface="Calibri"/>
              </a:rPr>
              <a:t>Diseño del estudio: experimental, transversal, cualitativo, revisión.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9767" y="1600200"/>
            <a:ext cx="3535680" cy="1965960"/>
          </a:xfrm>
          <a:prstGeom prst="roundRect">
            <a:avLst>
              <a:gd name="adj" fmla="val 6000"/>
            </a:avLst>
          </a:prstGeom>
          <a:solidFill>
            <a:srgbClr val="D9D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32647" y="1709928"/>
            <a:ext cx="3169920" cy="174650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2B4EB4"/>
                </a:solidFill>
                <a:latin typeface="Calibri"/>
              </a:rPr>
              <a:t>Muestra</a:t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011754"/>
                </a:solidFill>
                <a:latin typeface="Calibri"/>
              </a:rPr>
              <a:t>Quiénes participaron, cuántos y en qué contexto.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" y="3749039"/>
            <a:ext cx="3535680" cy="1965960"/>
          </a:xfrm>
          <a:prstGeom prst="roundRect">
            <a:avLst>
              <a:gd name="adj" fmla="val 6000"/>
            </a:avLst>
          </a:prstGeom>
          <a:solidFill>
            <a:srgbClr val="D9D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8" y="3858768"/>
            <a:ext cx="3169920" cy="174650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2B4EB4"/>
                </a:solidFill>
                <a:latin typeface="Calibri"/>
              </a:rPr>
              <a:t>Resultados</a:t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011754"/>
                </a:solidFill>
                <a:latin typeface="Calibri"/>
              </a:rPr>
              <a:t>Hallazgos principales, con cifras si las hay.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31208" y="3749039"/>
            <a:ext cx="3535680" cy="1965960"/>
          </a:xfrm>
          <a:prstGeom prst="roundRect">
            <a:avLst>
              <a:gd name="adj" fmla="val 6000"/>
            </a:avLst>
          </a:prstGeom>
          <a:solidFill>
            <a:srgbClr val="D9D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14088" y="3858768"/>
            <a:ext cx="3169920" cy="174650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2B4EB4"/>
                </a:solidFill>
                <a:latin typeface="Calibri"/>
              </a:rPr>
              <a:t>Limitaciones</a:t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011754"/>
                </a:solidFill>
                <a:latin typeface="Calibri"/>
              </a:rPr>
              <a:t>Lo que el propio estudio reconoce que no pudo resolver.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9767" y="3749039"/>
            <a:ext cx="3535680" cy="1965960"/>
          </a:xfrm>
          <a:prstGeom prst="roundRect">
            <a:avLst>
              <a:gd name="adj" fmla="val 6000"/>
            </a:avLst>
          </a:prstGeom>
          <a:solidFill>
            <a:srgbClr val="D9D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32647" y="3858768"/>
            <a:ext cx="3169920" cy="174650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2B4EB4"/>
                </a:solidFill>
                <a:latin typeface="Calibri"/>
              </a:rPr>
              <a:t>Aporte a tu estudio</a:t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011754"/>
                </a:solidFill>
                <a:latin typeface="Calibri"/>
              </a:rPr>
              <a:t>Cómo se relaciona con tu pregunta y tu población.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" y="5760720"/>
            <a:ext cx="1097280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2B4EB4"/>
                </a:solidFill>
                <a:latin typeface="Calibri"/>
              </a:rPr>
              <a:t>Estos campos se convierten en las columnas de tu matriz.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12648" y="777240"/>
            <a:ext cx="10332720" cy="6400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836B2"/>
                </a:solidFill>
                <a:latin typeface="Calibri"/>
              </a:rPr>
              <a:t>La síntesis de la IA también puede fallar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12648" y="1600200"/>
          <a:ext cx="1097280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3360"/>
                <a:gridCol w="6949440"/>
              </a:tblGrid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Error posible</a:t>
                      </a:r>
                    </a:p>
                  </a:txBody>
                  <a:tcPr anchor="ctr" marL="109728" marR="109728">
                    <a:solidFill>
                      <a:srgbClr val="01175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Cómo detectarlo</a:t>
                      </a:r>
                    </a:p>
                  </a:txBody>
                  <a:tcPr anchor="ctr" marL="109728" marR="109728">
                    <a:solidFill>
                      <a:srgbClr val="011754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800" b="1">
                          <a:solidFill>
                            <a:srgbClr val="011754"/>
                          </a:solidFill>
                          <a:latin typeface="Calibri"/>
                        </a:rPr>
                        <a:t>Dato cambiado</a:t>
                      </a:r>
                    </a:p>
                  </a:txBody>
                  <a:tcPr anchor="ctr" marL="109728" marR="109728">
                    <a:solidFill>
                      <a:srgbClr val="D9DE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0">
                          <a:solidFill>
                            <a:srgbClr val="011754"/>
                          </a:solidFill>
                          <a:latin typeface="Calibri"/>
                        </a:rPr>
                        <a:t>Comparar muestra y año con el original</a:t>
                      </a:r>
                    </a:p>
                  </a:txBody>
                  <a:tcPr anchor="ctr" marL="109728" marR="109728">
                    <a:solidFill>
                      <a:srgbClr val="D9DEE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800" b="1">
                          <a:solidFill>
                            <a:srgbClr val="011754"/>
                          </a:solidFill>
                          <a:latin typeface="Calibri"/>
                        </a:rPr>
                        <a:t>Cifra inventada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0">
                          <a:solidFill>
                            <a:srgbClr val="011754"/>
                          </a:solidFill>
                          <a:latin typeface="Calibri"/>
                        </a:rPr>
                        <a:t>Buscar la cifra en el texto del artículo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800" b="1">
                          <a:solidFill>
                            <a:srgbClr val="011754"/>
                          </a:solidFill>
                          <a:latin typeface="Calibri"/>
                        </a:rPr>
                        <a:t>Conclusión exagerada</a:t>
                      </a:r>
                    </a:p>
                  </a:txBody>
                  <a:tcPr anchor="ctr" marL="109728" marR="109728">
                    <a:solidFill>
                      <a:srgbClr val="D9DE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0">
                          <a:solidFill>
                            <a:srgbClr val="011754"/>
                          </a:solidFill>
                          <a:latin typeface="Calibri"/>
                        </a:rPr>
                        <a:t>Verificar si el diseño permite hablar de causa</a:t>
                      </a:r>
                    </a:p>
                  </a:txBody>
                  <a:tcPr anchor="ctr" marL="109728" marR="109728">
                    <a:solidFill>
                      <a:srgbClr val="D9DEE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800" b="1">
                          <a:solidFill>
                            <a:srgbClr val="011754"/>
                          </a:solidFill>
                          <a:latin typeface="Calibri"/>
                        </a:rPr>
                        <a:t>Limitaciones omitidas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0">
                          <a:solidFill>
                            <a:srgbClr val="011754"/>
                          </a:solidFill>
                          <a:latin typeface="Calibri"/>
                        </a:rPr>
                        <a:t>Leer la sección de limitaciones o discusión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612648" y="5394960"/>
            <a:ext cx="10972800" cy="731520"/>
          </a:xfrm>
          <a:prstGeom prst="roundRect">
            <a:avLst>
              <a:gd name="adj" fmla="val 6000"/>
            </a:avLst>
          </a:prstGeom>
          <a:solidFill>
            <a:srgbClr val="0117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5394960"/>
            <a:ext cx="10515600" cy="7315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Una síntesis fluida no es una síntesis correcta: se contrasta con el original.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12648" y="777240"/>
            <a:ext cx="10332720" cy="6400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836B2"/>
                </a:solidFill>
                <a:latin typeface="Calibri"/>
              </a:rPr>
              <a:t>Revisión humana de cada síntesis y cada cita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600200"/>
            <a:ext cx="3017520" cy="914400"/>
          </a:xfrm>
          <a:prstGeom prst="roundRect">
            <a:avLst>
              <a:gd name="adj" fmla="val 6000"/>
            </a:avLst>
          </a:prstGeom>
          <a:solidFill>
            <a:srgbClr val="2B4E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2834639" cy="9144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1 · Dato por dato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721607" y="1600200"/>
            <a:ext cx="7863840" cy="914400"/>
          </a:xfrm>
          <a:prstGeom prst="roundRect">
            <a:avLst>
              <a:gd name="adj" fmla="val 6000"/>
            </a:avLst>
          </a:prstGeom>
          <a:solidFill>
            <a:srgbClr val="D9D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86200" y="1600200"/>
            <a:ext cx="7589519" cy="9144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011754"/>
                </a:solidFill>
                <a:latin typeface="Calibri"/>
              </a:rPr>
              <a:t>Contrasta objetivo, muestra y resultados con el texto original.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" y="2651760"/>
            <a:ext cx="3017520" cy="914400"/>
          </a:xfrm>
          <a:prstGeom prst="roundRect">
            <a:avLst>
              <a:gd name="adj" fmla="val 6000"/>
            </a:avLst>
          </a:prstGeom>
          <a:solidFill>
            <a:srgbClr val="2B4E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651760"/>
            <a:ext cx="2834639" cy="9144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2 · Cita y referencia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721607" y="2651760"/>
            <a:ext cx="7863840" cy="914400"/>
          </a:xfrm>
          <a:prstGeom prst="roundRect">
            <a:avLst>
              <a:gd name="adj" fmla="val 6000"/>
            </a:avLst>
          </a:prstGeom>
          <a:solidFill>
            <a:srgbClr val="D9D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86200" y="2651760"/>
            <a:ext cx="7589519" cy="9144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011754"/>
                </a:solidFill>
                <a:latin typeface="Calibri"/>
              </a:rPr>
              <a:t>Confirma que la cita corresponde a la fuente verificada.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" y="3703320"/>
            <a:ext cx="3017520" cy="914400"/>
          </a:xfrm>
          <a:prstGeom prst="roundRect">
            <a:avLst>
              <a:gd name="adj" fmla="val 6000"/>
            </a:avLst>
          </a:prstGeom>
          <a:solidFill>
            <a:srgbClr val="2B4E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703320"/>
            <a:ext cx="2834639" cy="9144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3 · Alcance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721607" y="3703320"/>
            <a:ext cx="7863840" cy="914400"/>
          </a:xfrm>
          <a:prstGeom prst="roundRect">
            <a:avLst>
              <a:gd name="adj" fmla="val 6000"/>
            </a:avLst>
          </a:prstGeom>
          <a:solidFill>
            <a:srgbClr val="D9D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86200" y="3703320"/>
            <a:ext cx="7589519" cy="9144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011754"/>
                </a:solidFill>
                <a:latin typeface="Calibri"/>
              </a:rPr>
              <a:t>Revisa que la conclusión no diga más de lo que el estudio permite.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" y="4754879"/>
            <a:ext cx="3017520" cy="914400"/>
          </a:xfrm>
          <a:prstGeom prst="roundRect">
            <a:avLst>
              <a:gd name="adj" fmla="val 6000"/>
            </a:avLst>
          </a:prstGeom>
          <a:solidFill>
            <a:srgbClr val="2B4E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754879"/>
            <a:ext cx="2834639" cy="9144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4 · Registro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721607" y="4754879"/>
            <a:ext cx="7863840" cy="914400"/>
          </a:xfrm>
          <a:prstGeom prst="roundRect">
            <a:avLst>
              <a:gd name="adj" fmla="val 6000"/>
            </a:avLst>
          </a:prstGeom>
          <a:solidFill>
            <a:srgbClr val="D9D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86200" y="4754879"/>
            <a:ext cx="7589519" cy="9144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011754"/>
                </a:solidFill>
                <a:latin typeface="Calibri"/>
              </a:rPr>
              <a:t>Anota qué corregiste y deja la ficha firmada por ti.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2648" y="5669280"/>
            <a:ext cx="10972800" cy="594360"/>
          </a:xfrm>
          <a:prstGeom prst="roundRect">
            <a:avLst>
              <a:gd name="adj" fmla="val 6000"/>
            </a:avLst>
          </a:prstGeom>
          <a:solidFill>
            <a:srgbClr val="0117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" y="5669280"/>
            <a:ext cx="10515600" cy="5943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Cada síntesis que entra a tu dossier ya fue revisada por una persona.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12648" y="777240"/>
            <a:ext cx="10332720" cy="6400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836B2"/>
                </a:solidFill>
                <a:latin typeface="Calibri"/>
              </a:rPr>
              <a:t>Estructura de la matriz de antecedentes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12648" y="1600200"/>
          <a:ext cx="10972800" cy="3977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4206240"/>
                <a:gridCol w="3657600"/>
              </a:tblGrid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Columna</a:t>
                      </a:r>
                    </a:p>
                  </a:txBody>
                  <a:tcPr anchor="ctr" marL="109728" marR="109728">
                    <a:solidFill>
                      <a:srgbClr val="01175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Qué se anota</a:t>
                      </a:r>
                    </a:p>
                  </a:txBody>
                  <a:tcPr anchor="ctr" marL="109728" marR="109728">
                    <a:solidFill>
                      <a:srgbClr val="01175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Ejemplo</a:t>
                      </a:r>
                    </a:p>
                  </a:txBody>
                  <a:tcPr anchor="ctr" marL="109728" marR="109728">
                    <a:solidFill>
                      <a:srgbClr val="011754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 algn="l"/>
                      <a:r>
                        <a:rPr sz="1800" b="1">
                          <a:solidFill>
                            <a:srgbClr val="011754"/>
                          </a:solidFill>
                          <a:latin typeface="Calibri"/>
                        </a:rPr>
                        <a:t>Fuente</a:t>
                      </a:r>
                    </a:p>
                  </a:txBody>
                  <a:tcPr anchor="ctr" marL="109728" marR="109728">
                    <a:solidFill>
                      <a:srgbClr val="D9DE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0">
                          <a:solidFill>
                            <a:srgbClr val="011754"/>
                          </a:solidFill>
                          <a:latin typeface="Calibri"/>
                        </a:rPr>
                        <a:t>Cita APA verificada</a:t>
                      </a:r>
                    </a:p>
                  </a:txBody>
                  <a:tcPr anchor="ctr" marL="109728" marR="109728">
                    <a:solidFill>
                      <a:srgbClr val="D9DE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0">
                          <a:solidFill>
                            <a:srgbClr val="011754"/>
                          </a:solidFill>
                          <a:latin typeface="Calibri"/>
                        </a:rPr>
                        <a:t>Autor (año)</a:t>
                      </a:r>
                    </a:p>
                  </a:txBody>
                  <a:tcPr anchor="ctr" marL="109728" marR="109728">
                    <a:solidFill>
                      <a:srgbClr val="D9DEEF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 algn="l"/>
                      <a:r>
                        <a:rPr sz="1800" b="1">
                          <a:solidFill>
                            <a:srgbClr val="011754"/>
                          </a:solidFill>
                          <a:latin typeface="Calibri"/>
                        </a:rPr>
                        <a:t>Objetivo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0">
                          <a:solidFill>
                            <a:srgbClr val="011754"/>
                          </a:solidFill>
                          <a:latin typeface="Calibri"/>
                        </a:rPr>
                        <a:t>Pregunta del estudio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0">
                          <a:solidFill>
                            <a:srgbClr val="011754"/>
                          </a:solidFill>
                          <a:latin typeface="Calibri"/>
                        </a:rPr>
                        <a:t>Relacionar X con Y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 algn="l"/>
                      <a:r>
                        <a:rPr sz="1800" b="1">
                          <a:solidFill>
                            <a:srgbClr val="011754"/>
                          </a:solidFill>
                          <a:latin typeface="Calibri"/>
                        </a:rPr>
                        <a:t>Metodología y muestra</a:t>
                      </a:r>
                    </a:p>
                  </a:txBody>
                  <a:tcPr anchor="ctr" marL="109728" marR="109728">
                    <a:solidFill>
                      <a:srgbClr val="D9DE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0">
                          <a:solidFill>
                            <a:srgbClr val="011754"/>
                          </a:solidFill>
                          <a:latin typeface="Calibri"/>
                        </a:rPr>
                        <a:t>Diseño y participantes</a:t>
                      </a:r>
                    </a:p>
                  </a:txBody>
                  <a:tcPr anchor="ctr" marL="109728" marR="109728">
                    <a:solidFill>
                      <a:srgbClr val="D9DE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0">
                          <a:solidFill>
                            <a:srgbClr val="011754"/>
                          </a:solidFill>
                          <a:latin typeface="Calibri"/>
                        </a:rPr>
                        <a:t>Transversal, 400</a:t>
                      </a:r>
                    </a:p>
                  </a:txBody>
                  <a:tcPr anchor="ctr" marL="109728" marR="109728">
                    <a:solidFill>
                      <a:srgbClr val="D9DEEF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 algn="l"/>
                      <a:r>
                        <a:rPr sz="1800" b="1">
                          <a:solidFill>
                            <a:srgbClr val="011754"/>
                          </a:solidFill>
                          <a:latin typeface="Calibri"/>
                        </a:rPr>
                        <a:t>Resultados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0">
                          <a:solidFill>
                            <a:srgbClr val="011754"/>
                          </a:solidFill>
                          <a:latin typeface="Calibri"/>
                        </a:rPr>
                        <a:t>Hallazgos principales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0">
                          <a:solidFill>
                            <a:srgbClr val="011754"/>
                          </a:solidFill>
                          <a:latin typeface="Calibri"/>
                        </a:rPr>
                        <a:t>Relación positiva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 algn="l"/>
                      <a:r>
                        <a:rPr sz="1800" b="1">
                          <a:solidFill>
                            <a:srgbClr val="011754"/>
                          </a:solidFill>
                          <a:latin typeface="Calibri"/>
                        </a:rPr>
                        <a:t>Limitaciones y aporte</a:t>
                      </a:r>
                    </a:p>
                  </a:txBody>
                  <a:tcPr anchor="ctr" marL="109728" marR="109728">
                    <a:solidFill>
                      <a:srgbClr val="D9DE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0">
                          <a:solidFill>
                            <a:srgbClr val="011754"/>
                          </a:solidFill>
                          <a:latin typeface="Calibri"/>
                        </a:rPr>
                        <a:t>Alcance y uso para ti</a:t>
                      </a:r>
                    </a:p>
                  </a:txBody>
                  <a:tcPr anchor="ctr" marL="109728" marR="109728">
                    <a:solidFill>
                      <a:srgbClr val="D9DE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0">
                          <a:solidFill>
                            <a:srgbClr val="011754"/>
                          </a:solidFill>
                          <a:latin typeface="Calibri"/>
                        </a:rPr>
                        <a:t>Una sola carrera</a:t>
                      </a:r>
                    </a:p>
                  </a:txBody>
                  <a:tcPr anchor="ctr" marL="109728" marR="109728">
                    <a:solidFill>
                      <a:srgbClr val="D9DEE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12648" y="5760720"/>
            <a:ext cx="10972800" cy="457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2B4EB4"/>
                </a:solidFill>
                <a:latin typeface="Calibri"/>
              </a:rPr>
              <a:t>La misma estructura para todas las fuentes permite compararlas.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12648" y="777240"/>
            <a:ext cx="10332720" cy="6400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836B2"/>
                </a:solidFill>
                <a:latin typeface="Calibri"/>
              </a:rPr>
              <a:t>Construir la matriz en Word o Google Sheets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600200"/>
            <a:ext cx="2926080" cy="914400"/>
          </a:xfrm>
          <a:prstGeom prst="roundRect">
            <a:avLst>
              <a:gd name="adj" fmla="val 6000"/>
            </a:avLst>
          </a:prstGeom>
          <a:solidFill>
            <a:srgbClr val="2B4E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2743200" cy="9144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1 · Crear la tabla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30168" y="1600200"/>
            <a:ext cx="7955280" cy="914400"/>
          </a:xfrm>
          <a:prstGeom prst="roundRect">
            <a:avLst>
              <a:gd name="adj" fmla="val 6000"/>
            </a:avLst>
          </a:prstGeom>
          <a:solidFill>
            <a:srgbClr val="D9D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794760" y="1600200"/>
            <a:ext cx="7680960" cy="9144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011754"/>
                </a:solidFill>
                <a:latin typeface="Calibri"/>
              </a:rPr>
              <a:t>Una fila por fuente y una columna por cada campo de la ficha.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" y="2651760"/>
            <a:ext cx="2926080" cy="914400"/>
          </a:xfrm>
          <a:prstGeom prst="roundRect">
            <a:avLst>
              <a:gd name="adj" fmla="val 6000"/>
            </a:avLst>
          </a:prstGeom>
          <a:solidFill>
            <a:srgbClr val="2B4E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651760"/>
            <a:ext cx="2743200" cy="9144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2 · Pasar la ficha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30168" y="2651760"/>
            <a:ext cx="7955280" cy="914400"/>
          </a:xfrm>
          <a:prstGeom prst="roundRect">
            <a:avLst>
              <a:gd name="adj" fmla="val 6000"/>
            </a:avLst>
          </a:prstGeom>
          <a:solidFill>
            <a:srgbClr val="D9D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94760" y="2651760"/>
            <a:ext cx="7680960" cy="9144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011754"/>
                </a:solidFill>
                <a:latin typeface="Calibri"/>
              </a:rPr>
              <a:t>Copia la síntesis ya revisada, no la que devolvió la IA.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" y="3703320"/>
            <a:ext cx="2926080" cy="914400"/>
          </a:xfrm>
          <a:prstGeom prst="roundRect">
            <a:avLst>
              <a:gd name="adj" fmla="val 6000"/>
            </a:avLst>
          </a:prstGeom>
          <a:solidFill>
            <a:srgbClr val="2B4E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703320"/>
            <a:ext cx="2743200" cy="9144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3 · Unificar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30168" y="3703320"/>
            <a:ext cx="7955280" cy="914400"/>
          </a:xfrm>
          <a:prstGeom prst="roundRect">
            <a:avLst>
              <a:gd name="adj" fmla="val 6000"/>
            </a:avLst>
          </a:prstGeom>
          <a:solidFill>
            <a:srgbClr val="D9D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94760" y="3703320"/>
            <a:ext cx="7680960" cy="9144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011754"/>
                </a:solidFill>
                <a:latin typeface="Calibri"/>
              </a:rPr>
              <a:t>Usa el mismo estilo y las mismas palabras para cada columna.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" y="4754879"/>
            <a:ext cx="2926080" cy="914400"/>
          </a:xfrm>
          <a:prstGeom prst="roundRect">
            <a:avLst>
              <a:gd name="adj" fmla="val 6000"/>
            </a:avLst>
          </a:prstGeom>
          <a:solidFill>
            <a:srgbClr val="2B4E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754879"/>
            <a:ext cx="2743200" cy="9144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4 · Guardar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30168" y="4754879"/>
            <a:ext cx="7955280" cy="914400"/>
          </a:xfrm>
          <a:prstGeom prst="roundRect">
            <a:avLst>
              <a:gd name="adj" fmla="val 6000"/>
            </a:avLst>
          </a:prstGeom>
          <a:solidFill>
            <a:srgbClr val="D9D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94760" y="4754879"/>
            <a:ext cx="7680960" cy="9144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011754"/>
                </a:solidFill>
                <a:latin typeface="Calibri"/>
              </a:rPr>
              <a:t>Guarda una copia con la fecha como parte de tu dossier.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2648" y="5669280"/>
            <a:ext cx="10972800" cy="594360"/>
          </a:xfrm>
          <a:prstGeom prst="roundRect">
            <a:avLst>
              <a:gd name="adj" fmla="val 6000"/>
            </a:avLst>
          </a:prstGeom>
          <a:solidFill>
            <a:srgbClr val="0117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" y="5669280"/>
            <a:ext cx="10515600" cy="5943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Una matriz bien hecha es la base del estado del arte y del marco teórico.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12648" y="777240"/>
            <a:ext cx="10332720" cy="6400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836B2"/>
                </a:solidFill>
                <a:latin typeface="Calibri"/>
              </a:rPr>
              <a:t>Comparar hallazgos: coincidencias y vacíos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600200"/>
            <a:ext cx="3535680" cy="3383280"/>
          </a:xfrm>
          <a:prstGeom prst="roundRect">
            <a:avLst>
              <a:gd name="adj" fmla="val 6000"/>
            </a:avLst>
          </a:prstGeom>
          <a:solidFill>
            <a:srgbClr val="D9D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5528" y="1709928"/>
            <a:ext cx="3169920" cy="316382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2B4EB4"/>
                </a:solidFill>
                <a:latin typeface="Calibri"/>
              </a:rPr>
              <a:t>Coincidencias</a:t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011754"/>
                </a:solidFill>
                <a:latin typeface="Calibri"/>
              </a:rPr>
              <a:t>Resultados que varios estudios repiten: son lo más sólido que se sabe del tema.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31208" y="1600200"/>
            <a:ext cx="3535680" cy="3383280"/>
          </a:xfrm>
          <a:prstGeom prst="roundRect">
            <a:avLst>
              <a:gd name="adj" fmla="val 6000"/>
            </a:avLst>
          </a:prstGeom>
          <a:solidFill>
            <a:srgbClr val="D9D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14088" y="1709928"/>
            <a:ext cx="3169920" cy="316382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2B4EB4"/>
                </a:solidFill>
                <a:latin typeface="Calibri"/>
              </a:rPr>
              <a:t>Contradicciones</a:t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011754"/>
                </a:solidFill>
                <a:latin typeface="Calibri"/>
              </a:rPr>
              <a:t>Resultados opuestos. Busca la causa: otra muestra, otro método u otro contexto.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9767" y="1600200"/>
            <a:ext cx="3535680" cy="3383280"/>
          </a:xfrm>
          <a:prstGeom prst="roundRect">
            <a:avLst>
              <a:gd name="adj" fmla="val 6000"/>
            </a:avLst>
          </a:prstGeom>
          <a:solidFill>
            <a:srgbClr val="D9D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32647" y="1709928"/>
            <a:ext cx="3169920" cy="316382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2B4EB4"/>
                </a:solidFill>
                <a:latin typeface="Calibri"/>
              </a:rPr>
              <a:t>Vacíos</a:t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011754"/>
                </a:solidFill>
                <a:latin typeface="Calibri"/>
              </a:rPr>
              <a:t>Lo que ningún estudio responde todavía: poblaciones, métodos o variables sin investigar.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" y="5257800"/>
            <a:ext cx="10972800" cy="822960"/>
          </a:xfrm>
          <a:prstGeom prst="roundRect">
            <a:avLst>
              <a:gd name="adj" fmla="val 6000"/>
            </a:avLst>
          </a:prstGeom>
          <a:solidFill>
            <a:srgbClr val="0117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" y="5257800"/>
            <a:ext cx="10515600" cy="8229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El vacío que encuentres es la justificación de tu propia investigación.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12648" y="777240"/>
            <a:ext cx="10332720" cy="6400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836B2"/>
                </a:solidFill>
                <a:latin typeface="Calibri"/>
              </a:rPr>
              <a:t>Del conjunto de antecedentes al estado del arte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600200"/>
            <a:ext cx="3383280" cy="786384"/>
          </a:xfrm>
          <a:prstGeom prst="roundRect">
            <a:avLst>
              <a:gd name="adj" fmla="val 6000"/>
            </a:avLst>
          </a:prstGeom>
          <a:solidFill>
            <a:srgbClr val="2B4E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3200400" cy="78638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1 · Qué se sabe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087368" y="1600200"/>
            <a:ext cx="7498080" cy="786384"/>
          </a:xfrm>
          <a:prstGeom prst="roundRect">
            <a:avLst>
              <a:gd name="adj" fmla="val 6000"/>
            </a:avLst>
          </a:prstGeom>
          <a:solidFill>
            <a:srgbClr val="D9D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51960" y="1600200"/>
            <a:ext cx="7223760" cy="78638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011754"/>
                </a:solidFill>
                <a:latin typeface="Calibri"/>
              </a:rPr>
              <a:t>Los hallazgos que coinciden entre los estudios.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" y="2505456"/>
            <a:ext cx="3383280" cy="786384"/>
          </a:xfrm>
          <a:prstGeom prst="roundRect">
            <a:avLst>
              <a:gd name="adj" fmla="val 6000"/>
            </a:avLst>
          </a:prstGeom>
          <a:solidFill>
            <a:srgbClr val="2B4E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505456"/>
            <a:ext cx="3200400" cy="78638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2 · Cómo se estudió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087368" y="2505456"/>
            <a:ext cx="7498080" cy="786384"/>
          </a:xfrm>
          <a:prstGeom prst="roundRect">
            <a:avLst>
              <a:gd name="adj" fmla="val 6000"/>
            </a:avLst>
          </a:prstGeom>
          <a:solidFill>
            <a:srgbClr val="D9D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51960" y="2505456"/>
            <a:ext cx="7223760" cy="78638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011754"/>
                </a:solidFill>
                <a:latin typeface="Calibri"/>
              </a:rPr>
              <a:t>Diseños y muestras más frecuentes.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" y="3410712"/>
            <a:ext cx="3383280" cy="786384"/>
          </a:xfrm>
          <a:prstGeom prst="roundRect">
            <a:avLst>
              <a:gd name="adj" fmla="val 6000"/>
            </a:avLst>
          </a:prstGeom>
          <a:solidFill>
            <a:srgbClr val="2B4E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410712"/>
            <a:ext cx="3200400" cy="78638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3 · Qué se discute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087368" y="3410712"/>
            <a:ext cx="7498080" cy="786384"/>
          </a:xfrm>
          <a:prstGeom prst="roundRect">
            <a:avLst>
              <a:gd name="adj" fmla="val 6000"/>
            </a:avLst>
          </a:prstGeom>
          <a:solidFill>
            <a:srgbClr val="D9D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51960" y="3410712"/>
            <a:ext cx="7223760" cy="78638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011754"/>
                </a:solidFill>
                <a:latin typeface="Calibri"/>
              </a:rPr>
              <a:t>Contradicciones y posibles explicaciones.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" y="4315968"/>
            <a:ext cx="3383280" cy="786384"/>
          </a:xfrm>
          <a:prstGeom prst="roundRect">
            <a:avLst>
              <a:gd name="adj" fmla="val 6000"/>
            </a:avLst>
          </a:prstGeom>
          <a:solidFill>
            <a:srgbClr val="2B4E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315968"/>
            <a:ext cx="3200400" cy="78638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4 · Qué falta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087368" y="4315968"/>
            <a:ext cx="7498080" cy="786384"/>
          </a:xfrm>
          <a:prstGeom prst="roundRect">
            <a:avLst>
              <a:gd name="adj" fmla="val 6000"/>
            </a:avLst>
          </a:prstGeom>
          <a:solidFill>
            <a:srgbClr val="D9D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51960" y="4315968"/>
            <a:ext cx="7223760" cy="78638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011754"/>
                </a:solidFill>
                <a:latin typeface="Calibri"/>
              </a:rPr>
              <a:t>El vacío que deja la literatura.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2648" y="5221224"/>
            <a:ext cx="3383280" cy="786384"/>
          </a:xfrm>
          <a:prstGeom prst="roundRect">
            <a:avLst>
              <a:gd name="adj" fmla="val 6000"/>
            </a:avLst>
          </a:prstGeom>
          <a:solidFill>
            <a:srgbClr val="2B4E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5221224"/>
            <a:ext cx="3200400" cy="78638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5 · Qué aportará mi estudio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087368" y="5221224"/>
            <a:ext cx="7498080" cy="786384"/>
          </a:xfrm>
          <a:prstGeom prst="roundRect">
            <a:avLst>
              <a:gd name="adj" fmla="val 6000"/>
            </a:avLst>
          </a:prstGeom>
          <a:solidFill>
            <a:srgbClr val="D9D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51960" y="5221224"/>
            <a:ext cx="7223760" cy="786384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011754"/>
                </a:solidFill>
                <a:latin typeface="Calibri"/>
              </a:rPr>
              <a:t>Cómo mi investigación responde a ese vacío.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2648" y="5669280"/>
            <a:ext cx="10972800" cy="594360"/>
          </a:xfrm>
          <a:prstGeom prst="roundRect">
            <a:avLst>
              <a:gd name="adj" fmla="val 6000"/>
            </a:avLst>
          </a:prstGeom>
          <a:solidFill>
            <a:srgbClr val="0117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1248" y="5669280"/>
            <a:ext cx="10515600" cy="5943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Cada apartado se redacta con tus palabras, a partir de tu matriz.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12648" y="777240"/>
            <a:ext cx="10332720" cy="6400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836B2"/>
                </a:solidFill>
                <a:latin typeface="Calibri"/>
              </a:rPr>
              <a:t>Del estado del arte al marco teórico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12648" y="1600200"/>
          <a:ext cx="10972800" cy="3154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4206240"/>
                <a:gridCol w="3474720"/>
              </a:tblGrid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Concepto</a:t>
                      </a:r>
                    </a:p>
                  </a:txBody>
                  <a:tcPr anchor="ctr" marL="109728" marR="109728">
                    <a:solidFill>
                      <a:srgbClr val="01175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Dimensiones o categorías</a:t>
                      </a:r>
                    </a:p>
                  </a:txBody>
                  <a:tcPr anchor="ctr" marL="109728" marR="109728">
                    <a:solidFill>
                      <a:srgbClr val="01175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Teoría o enfoque</a:t>
                      </a:r>
                    </a:p>
                  </a:txBody>
                  <a:tcPr anchor="ctr" marL="109728" marR="109728">
                    <a:solidFill>
                      <a:srgbClr val="011754"/>
                    </a:solidFill>
                  </a:tcPr>
                </a:tc>
              </a:tr>
              <a:tr h="868680">
                <a:tc>
                  <a:txBody>
                    <a:bodyPr wrap="square"/>
                    <a:lstStyle/>
                    <a:p>
                      <a:pPr algn="l"/>
                      <a:r>
                        <a:rPr sz="1800" b="1">
                          <a:solidFill>
                            <a:srgbClr val="011754"/>
                          </a:solidFill>
                          <a:latin typeface="Calibri"/>
                        </a:rPr>
                        <a:t>IA generativa</a:t>
                      </a:r>
                    </a:p>
                  </a:txBody>
                  <a:tcPr anchor="ctr" marL="109728" marR="109728">
                    <a:solidFill>
                      <a:srgbClr val="D9DE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0">
                          <a:solidFill>
                            <a:srgbClr val="011754"/>
                          </a:solidFill>
                          <a:latin typeface="Calibri"/>
                        </a:rPr>
                        <a:t>Uso, frecuencia, tipo de tarea</a:t>
                      </a:r>
                    </a:p>
                  </a:txBody>
                  <a:tcPr anchor="ctr" marL="109728" marR="109728">
                    <a:solidFill>
                      <a:srgbClr val="D9DE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0">
                          <a:solidFill>
                            <a:srgbClr val="011754"/>
                          </a:solidFill>
                          <a:latin typeface="Calibri"/>
                        </a:rPr>
                        <a:t>Enfoque tecnológico</a:t>
                      </a:r>
                    </a:p>
                  </a:txBody>
                  <a:tcPr anchor="ctr" marL="109728" marR="109728">
                    <a:solidFill>
                      <a:srgbClr val="D9DEEF"/>
                    </a:solidFill>
                  </a:tcPr>
                </a:tc>
              </a:tr>
              <a:tr h="868680">
                <a:tc>
                  <a:txBody>
                    <a:bodyPr wrap="square"/>
                    <a:lstStyle/>
                    <a:p>
                      <a:pPr algn="l"/>
                      <a:r>
                        <a:rPr sz="1800" b="1">
                          <a:solidFill>
                            <a:srgbClr val="011754"/>
                          </a:solidFill>
                          <a:latin typeface="Calibri"/>
                        </a:rPr>
                        <a:t>Aprendizaje autónomo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0">
                          <a:solidFill>
                            <a:srgbClr val="011754"/>
                          </a:solidFill>
                          <a:latin typeface="Calibri"/>
                        </a:rPr>
                        <a:t>Planificación, monitoreo, evaluación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0">
                          <a:solidFill>
                            <a:srgbClr val="011754"/>
                          </a:solidFill>
                          <a:latin typeface="Calibri"/>
                        </a:rPr>
                        <a:t>Autorregulación del aprendizaje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 wrap="square"/>
                    <a:lstStyle/>
                    <a:p>
                      <a:pPr algn="l"/>
                      <a:r>
                        <a:rPr sz="1800" b="1">
                          <a:solidFill>
                            <a:srgbClr val="011754"/>
                          </a:solidFill>
                          <a:latin typeface="Calibri"/>
                        </a:rPr>
                        <a:t>Estudiantes universitarios</a:t>
                      </a:r>
                    </a:p>
                  </a:txBody>
                  <a:tcPr anchor="ctr" marL="109728" marR="109728">
                    <a:solidFill>
                      <a:srgbClr val="D9DE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0">
                          <a:solidFill>
                            <a:srgbClr val="011754"/>
                          </a:solidFill>
                          <a:latin typeface="Calibri"/>
                        </a:rPr>
                        <a:t>Año de estudio, carrera</a:t>
                      </a:r>
                    </a:p>
                  </a:txBody>
                  <a:tcPr anchor="ctr" marL="109728" marR="109728">
                    <a:solidFill>
                      <a:srgbClr val="D9DE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0">
                          <a:solidFill>
                            <a:srgbClr val="011754"/>
                          </a:solidFill>
                          <a:latin typeface="Calibri"/>
                        </a:rPr>
                        <a:t>Contexto de educación superior</a:t>
                      </a:r>
                    </a:p>
                  </a:txBody>
                  <a:tcPr anchor="ctr" marL="109728" marR="109728">
                    <a:solidFill>
                      <a:srgbClr val="D9DEE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612648" y="4937760"/>
            <a:ext cx="10972800" cy="822960"/>
          </a:xfrm>
          <a:prstGeom prst="roundRect">
            <a:avLst>
              <a:gd name="adj" fmla="val 6000"/>
            </a:avLst>
          </a:prstGeom>
          <a:solidFill>
            <a:srgbClr val="0117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4937760"/>
            <a:ext cx="10515600" cy="8229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El marco teórico define los conceptos y las teorías con que interpretarás tus resultados.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5897880"/>
            <a:ext cx="10972800" cy="4114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2B4EB4"/>
                </a:solidFill>
                <a:latin typeface="Calibri"/>
              </a:rPr>
              <a:t>La IA puede sugerir enfoques; tú compruebas que existan en la literatura.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12648" y="777240"/>
            <a:ext cx="10332720" cy="6400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836B2"/>
                </a:solidFill>
                <a:latin typeface="Calibri"/>
              </a:rPr>
              <a:t>Apoyo opcional: NotebookLM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600200"/>
            <a:ext cx="3535680" cy="3017520"/>
          </a:xfrm>
          <a:prstGeom prst="roundRect">
            <a:avLst>
              <a:gd name="adj" fmla="val 6000"/>
            </a:avLst>
          </a:prstGeom>
          <a:solidFill>
            <a:srgbClr val="D9D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5528" y="1709928"/>
            <a:ext cx="3169920" cy="2798063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2B4EB4"/>
                </a:solidFill>
                <a:latin typeface="Calibri"/>
              </a:rPr>
              <a:t>Qué hace</a:t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011754"/>
                </a:solidFill>
                <a:latin typeface="Calibri"/>
              </a:rPr>
              <a:t>Responde preguntas solo con los documentos que tú cargas, y señala de dónde toma cada dato.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31208" y="1600200"/>
            <a:ext cx="3535680" cy="3017520"/>
          </a:xfrm>
          <a:prstGeom prst="roundRect">
            <a:avLst>
              <a:gd name="adj" fmla="val 6000"/>
            </a:avLst>
          </a:prstGeom>
          <a:solidFill>
            <a:srgbClr val="D9D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14088" y="1709928"/>
            <a:ext cx="3169920" cy="2798063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2B4EB4"/>
                </a:solidFill>
                <a:latin typeface="Calibri"/>
              </a:rPr>
              <a:t>Ventaja</a:t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011754"/>
                </a:solidFill>
                <a:latin typeface="Calibri"/>
              </a:rPr>
              <a:t>Reduce el riesgo de que invente fuentes, porque se limita a tu material.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9767" y="1600200"/>
            <a:ext cx="3535680" cy="3017520"/>
          </a:xfrm>
          <a:prstGeom prst="roundRect">
            <a:avLst>
              <a:gd name="adj" fmla="val 6000"/>
            </a:avLst>
          </a:prstGeom>
          <a:solidFill>
            <a:srgbClr val="D9D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32647" y="1709928"/>
            <a:ext cx="3169920" cy="2798063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2B4EB4"/>
                </a:solidFill>
                <a:latin typeface="Calibri"/>
              </a:rPr>
              <a:t>Precaución</a:t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011754"/>
                </a:solidFill>
                <a:latin typeface="Calibri"/>
              </a:rPr>
              <a:t>Sigue pudiendo malinterpretar: revisa cada respuesta contra el original.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" y="4892040"/>
            <a:ext cx="10972800" cy="822960"/>
          </a:xfrm>
          <a:prstGeom prst="roundRect">
            <a:avLst>
              <a:gd name="adj" fmla="val 6000"/>
            </a:avLst>
          </a:prstGeom>
          <a:solidFill>
            <a:srgbClr val="0117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" y="4892040"/>
            <a:ext cx="10515600" cy="8229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Es opcional: el procedimiento de la sesión se puede hacer solo con ChatGPT o Claude.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12648" y="777240"/>
            <a:ext cx="10332720" cy="6400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836B2"/>
                </a:solidFill>
                <a:latin typeface="Calibri"/>
              </a:rPr>
              <a:t>Redactar con IA sin perder la voz propia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12648" y="1600200"/>
          <a:ext cx="1097280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3108960"/>
                <a:gridCol w="2377440"/>
              </a:tblGrid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Lo que pides</a:t>
                      </a:r>
                    </a:p>
                  </a:txBody>
                  <a:tcPr anchor="ctr" marL="109728" marR="109728">
                    <a:solidFill>
                      <a:srgbClr val="01175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Tipo de ayuda</a:t>
                      </a:r>
                    </a:p>
                  </a:txBody>
                  <a:tcPr anchor="ctr" marL="109728" marR="109728">
                    <a:solidFill>
                      <a:srgbClr val="01175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¿Aceptable?</a:t>
                      </a:r>
                    </a:p>
                  </a:txBody>
                  <a:tcPr anchor="ctr" marL="109728" marR="109728">
                    <a:solidFill>
                      <a:srgbClr val="011754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800" b="1">
                          <a:solidFill>
                            <a:srgbClr val="011754"/>
                          </a:solidFill>
                          <a:latin typeface="Calibri"/>
                        </a:rPr>
                        <a:t>Corrige puntuación y claridad de mi párrafo</a:t>
                      </a:r>
                    </a:p>
                  </a:txBody>
                  <a:tcPr anchor="ctr" marL="109728" marR="109728">
                    <a:solidFill>
                      <a:srgbClr val="D9DE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0">
                          <a:solidFill>
                            <a:srgbClr val="011754"/>
                          </a:solidFill>
                          <a:latin typeface="Calibri"/>
                        </a:rPr>
                        <a:t>Corrección de estilo</a:t>
                      </a:r>
                    </a:p>
                  </a:txBody>
                  <a:tcPr anchor="ctr" marL="109728" marR="109728">
                    <a:solidFill>
                      <a:srgbClr val="D9DE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>
                          <a:solidFill>
                            <a:srgbClr val="011754"/>
                          </a:solidFill>
                          <a:latin typeface="Calibri"/>
                        </a:rPr>
                        <a:t>Sí</a:t>
                      </a:r>
                    </a:p>
                  </a:txBody>
                  <a:tcPr anchor="ctr" marL="109728" marR="109728">
                    <a:solidFill>
                      <a:srgbClr val="D9DEE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800" b="1">
                          <a:solidFill>
                            <a:srgbClr val="011754"/>
                          </a:solidFill>
                          <a:latin typeface="Calibri"/>
                        </a:rPr>
                        <a:t>Traduce mi texto conservando mi redacción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0">
                          <a:solidFill>
                            <a:srgbClr val="011754"/>
                          </a:solidFill>
                          <a:latin typeface="Calibri"/>
                        </a:rPr>
                        <a:t>Corrección de estilo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>
                          <a:solidFill>
                            <a:srgbClr val="011754"/>
                          </a:solidFill>
                          <a:latin typeface="Calibri"/>
                        </a:rPr>
                        <a:t>Sí, con declaración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800" b="1">
                          <a:solidFill>
                            <a:srgbClr val="011754"/>
                          </a:solidFill>
                          <a:latin typeface="Calibri"/>
                        </a:rPr>
                        <a:t>Escribe el estado del arte de mi tema</a:t>
                      </a:r>
                    </a:p>
                  </a:txBody>
                  <a:tcPr anchor="ctr" marL="109728" marR="109728">
                    <a:solidFill>
                      <a:srgbClr val="D9DE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0">
                          <a:solidFill>
                            <a:srgbClr val="011754"/>
                          </a:solidFill>
                          <a:latin typeface="Calibri"/>
                        </a:rPr>
                        <a:t>Redacción sustituta</a:t>
                      </a:r>
                    </a:p>
                  </a:txBody>
                  <a:tcPr anchor="ctr" marL="109728" marR="109728">
                    <a:solidFill>
                      <a:srgbClr val="D9DE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>
                          <a:solidFill>
                            <a:srgbClr val="011754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anchor="ctr" marL="109728" marR="109728">
                    <a:solidFill>
                      <a:srgbClr val="D9DEE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800" b="1">
                          <a:solidFill>
                            <a:srgbClr val="011754"/>
                          </a:solidFill>
                          <a:latin typeface="Calibri"/>
                        </a:rPr>
                        <a:t>Inventa citas que respalden mi idea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0">
                          <a:solidFill>
                            <a:srgbClr val="011754"/>
                          </a:solidFill>
                          <a:latin typeface="Calibri"/>
                        </a:rPr>
                        <a:t>Fabricación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>
                          <a:solidFill>
                            <a:srgbClr val="011754"/>
                          </a:solidFill>
                          <a:latin typeface="Calibri"/>
                        </a:rPr>
                        <a:t>Nunca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612648" y="5394960"/>
            <a:ext cx="10972800" cy="731520"/>
          </a:xfrm>
          <a:prstGeom prst="roundRect">
            <a:avLst>
              <a:gd name="adj" fmla="val 6000"/>
            </a:avLst>
          </a:prstGeom>
          <a:solidFill>
            <a:srgbClr val="0117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5394960"/>
            <a:ext cx="10515600" cy="73152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La IA puede pulir tu texto; no puede pensar ni escribir tu investigación por ti.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12648" y="777240"/>
            <a:ext cx="10332720" cy="6400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836B2"/>
                </a:solidFill>
                <a:latin typeface="Calibri"/>
              </a:rPr>
              <a:t>Declaración de uso de IA en el dossier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600200"/>
            <a:ext cx="10972800" cy="2011680"/>
          </a:xfrm>
          <a:prstGeom prst="roundRect">
            <a:avLst>
              <a:gd name="adj" fmla="val 6000"/>
            </a:avLst>
          </a:prstGeom>
          <a:solidFill>
            <a:srgbClr val="0117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1600200"/>
            <a:ext cx="10515600" cy="20116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D4AF37"/>
                </a:solidFill>
                <a:latin typeface="Calibri"/>
              </a:rPr>
              <a:t>Ejemplo</a:t>
            </a:r>
          </a:p>
          <a:p>
            <a:pPr algn="l">
              <a:spcAft>
                <a:spcPts val="400"/>
              </a:spcAft>
            </a:pPr>
            <a:r>
              <a:rPr sz="1800" b="0" i="1">
                <a:solidFill>
                  <a:srgbClr val="FFFFFF"/>
                </a:solidFill>
                <a:latin typeface="Calibri"/>
              </a:rPr>
              <a:t>«Se usó Claude (versión gratuita) para ampliar el vocabulario de búsqueda, sintetizar artículos verificados y corregir el estilo del texto. La IA no seleccionó las fuentes ni redactó las conclusiones. La autora verificó cada síntesis contra el documento original.»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" y="3840480"/>
            <a:ext cx="2606040" cy="2011680"/>
          </a:xfrm>
          <a:prstGeom prst="roundRect">
            <a:avLst>
              <a:gd name="adj" fmla="val 6000"/>
            </a:avLst>
          </a:prstGeom>
          <a:solidFill>
            <a:srgbClr val="D9D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3950208"/>
            <a:ext cx="2240280" cy="179222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2B4EB4"/>
                </a:solidFill>
                <a:latin typeface="Calibri"/>
              </a:rPr>
              <a:t>Herramienta</a:t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011754"/>
                </a:solidFill>
                <a:latin typeface="Calibri"/>
              </a:rPr>
              <a:t>Nombre y versión.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01568" y="3840480"/>
            <a:ext cx="2606040" cy="2011680"/>
          </a:xfrm>
          <a:prstGeom prst="roundRect">
            <a:avLst>
              <a:gd name="adj" fmla="val 6000"/>
            </a:avLst>
          </a:prstGeom>
          <a:solidFill>
            <a:srgbClr val="D9D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84448" y="3950208"/>
            <a:ext cx="2240280" cy="179222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2B4EB4"/>
                </a:solidFill>
                <a:latin typeface="Calibri"/>
              </a:rPr>
              <a:t>Tarea</a:t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011754"/>
                </a:solidFill>
                <a:latin typeface="Calibri"/>
              </a:rPr>
              <a:t>Para qué se usó.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0488" y="3840480"/>
            <a:ext cx="2606040" cy="2011680"/>
          </a:xfrm>
          <a:prstGeom prst="roundRect">
            <a:avLst>
              <a:gd name="adj" fmla="val 6000"/>
            </a:avLst>
          </a:prstGeom>
          <a:solidFill>
            <a:srgbClr val="D9D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73368" y="3950208"/>
            <a:ext cx="2240280" cy="179222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2B4EB4"/>
                </a:solidFill>
                <a:latin typeface="Calibri"/>
              </a:rPr>
              <a:t>Partes</a:t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011754"/>
                </a:solidFill>
                <a:latin typeface="Calibri"/>
              </a:rPr>
              <a:t>En qué secciones.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79408" y="3840480"/>
            <a:ext cx="2606040" cy="2011680"/>
          </a:xfrm>
          <a:prstGeom prst="roundRect">
            <a:avLst>
              <a:gd name="adj" fmla="val 6000"/>
            </a:avLst>
          </a:prstGeom>
          <a:solidFill>
            <a:srgbClr val="D9D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62288" y="3950208"/>
            <a:ext cx="2240280" cy="179222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2B4EB4"/>
                </a:solidFill>
                <a:latin typeface="Calibri"/>
              </a:rPr>
              <a:t>Verificación</a:t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011754"/>
                </a:solidFill>
                <a:latin typeface="Calibri"/>
              </a:rPr>
              <a:t>Qué comprobaste tú.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12648" y="777240"/>
            <a:ext cx="10332720" cy="6400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836B2"/>
                </a:solidFill>
                <a:latin typeface="Calibri"/>
              </a:rPr>
              <a:t>Paso 1 · Lectura asistida de una fuente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463040"/>
            <a:ext cx="10972800" cy="7315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011754"/>
                </a:solidFill>
                <a:latin typeface="Calibri"/>
              </a:rPr>
              <a:t>Caso: partimos de los resúmenes de muestra sobre IA generativa y aprendizaje autónomo en universitarios.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12648" y="2331720"/>
          <a:ext cx="1097280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0"/>
                <a:gridCol w="7132320"/>
              </a:tblGrid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Acción</a:t>
                      </a:r>
                    </a:p>
                  </a:txBody>
                  <a:tcPr anchor="ctr" marL="109728" marR="109728">
                    <a:solidFill>
                      <a:srgbClr val="01175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Qué se espera</a:t>
                      </a:r>
                    </a:p>
                  </a:txBody>
                  <a:tcPr anchor="ctr" marL="109728" marR="109728">
                    <a:solidFill>
                      <a:srgbClr val="011754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800" b="1">
                          <a:solidFill>
                            <a:srgbClr val="011754"/>
                          </a:solidFill>
                          <a:latin typeface="Calibri"/>
                        </a:rPr>
                        <a:t>Elegir una fuente</a:t>
                      </a:r>
                    </a:p>
                  </a:txBody>
                  <a:tcPr anchor="ctr" marL="109728" marR="109728">
                    <a:solidFill>
                      <a:srgbClr val="D9DE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0">
                          <a:solidFill>
                            <a:srgbClr val="011754"/>
                          </a:solidFill>
                          <a:latin typeface="Calibri"/>
                        </a:rPr>
                        <a:t>Un artículo verificado o un resumen de muestra</a:t>
                      </a:r>
                    </a:p>
                  </a:txBody>
                  <a:tcPr anchor="ctr" marL="109728" marR="109728">
                    <a:solidFill>
                      <a:srgbClr val="D9DEE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800" b="1">
                          <a:solidFill>
                            <a:srgbClr val="011754"/>
                          </a:solidFill>
                          <a:latin typeface="Calibri"/>
                        </a:rPr>
                        <a:t>Pegar o cargar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0">
                          <a:solidFill>
                            <a:srgbClr val="011754"/>
                          </a:solidFill>
                          <a:latin typeface="Calibri"/>
                        </a:rPr>
                        <a:t>Resumen o PDF en ChatGPT o Claude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800" b="1">
                          <a:solidFill>
                            <a:srgbClr val="011754"/>
                          </a:solidFill>
                          <a:latin typeface="Calibri"/>
                        </a:rPr>
                        <a:t>Pedir la ficha</a:t>
                      </a:r>
                    </a:p>
                  </a:txBody>
                  <a:tcPr anchor="ctr" marL="109728" marR="109728">
                    <a:solidFill>
                      <a:srgbClr val="D9DE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0">
                          <a:solidFill>
                            <a:srgbClr val="011754"/>
                          </a:solidFill>
                          <a:latin typeface="Calibri"/>
                        </a:rPr>
                        <a:t>Con el prompt de formato definido</a:t>
                      </a:r>
                    </a:p>
                  </a:txBody>
                  <a:tcPr anchor="ctr" marL="109728" marR="109728">
                    <a:solidFill>
                      <a:srgbClr val="D9DEE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800" b="1">
                          <a:solidFill>
                            <a:srgbClr val="011754"/>
                          </a:solidFill>
                          <a:latin typeface="Calibri"/>
                        </a:rPr>
                        <a:t>Contrastar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0">
                          <a:solidFill>
                            <a:srgbClr val="011754"/>
                          </a:solidFill>
                          <a:latin typeface="Calibri"/>
                        </a:rPr>
                        <a:t>Cada dato frente al texto original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12648" y="777240"/>
            <a:ext cx="10332720" cy="6400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836B2"/>
                </a:solidFill>
                <a:latin typeface="Calibri"/>
              </a:rPr>
              <a:t>Paso 2 · Extracción y revisión de la síntesis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600200"/>
            <a:ext cx="5394960" cy="3200400"/>
          </a:xfrm>
          <a:prstGeom prst="roundRect">
            <a:avLst>
              <a:gd name="adj" fmla="val 6000"/>
            </a:avLst>
          </a:prstGeom>
          <a:solidFill>
            <a:srgbClr val="D9D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5528" y="1709928"/>
            <a:ext cx="5029200" cy="29809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2B4EB4"/>
                </a:solidFill>
                <a:latin typeface="Calibri"/>
              </a:rPr>
              <a:t>Lo que extrae la IA</a:t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011754"/>
                </a:solidFill>
                <a:latin typeface="Calibri"/>
              </a:rPr>
              <a:t>Objetivo, metodología, muestra, resultados y limitaciones.</a:t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011754"/>
                </a:solidFill>
                <a:latin typeface="Calibri"/>
              </a:rPr>
              <a:t>Con el mismo formato en todas las fuentes.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90488" y="1600200"/>
            <a:ext cx="5394960" cy="3200400"/>
          </a:xfrm>
          <a:prstGeom prst="roundRect">
            <a:avLst>
              <a:gd name="adj" fmla="val 6000"/>
            </a:avLst>
          </a:prstGeom>
          <a:solidFill>
            <a:srgbClr val="D9D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73368" y="1709928"/>
            <a:ext cx="5029200" cy="29809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2B4EB4"/>
                </a:solidFill>
                <a:latin typeface="Calibri"/>
              </a:rPr>
              <a:t>Lo que revisas tú</a:t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011754"/>
                </a:solidFill>
                <a:latin typeface="Calibri"/>
              </a:rPr>
              <a:t>Que cada dato coincida con el original.</a:t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011754"/>
                </a:solidFill>
                <a:latin typeface="Calibri"/>
              </a:rPr>
              <a:t>Que no haya cifras ni conclusiones añadidas.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" y="5074920"/>
            <a:ext cx="10972800" cy="822960"/>
          </a:xfrm>
          <a:prstGeom prst="roundRect">
            <a:avLst>
              <a:gd name="adj" fmla="val 6000"/>
            </a:avLst>
          </a:prstGeom>
          <a:solidFill>
            <a:srgbClr val="0117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5074920"/>
            <a:ext cx="10515600" cy="8229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Marca lo corregido: esa constancia forma parte de tu dossier.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12648" y="777240"/>
            <a:ext cx="10332720" cy="6400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836B2"/>
                </a:solidFill>
                <a:latin typeface="Calibri"/>
              </a:rPr>
              <a:t>Paso 3 · Construimos la matriz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12648" y="1600200"/>
          <a:ext cx="1097280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3291840"/>
                <a:gridCol w="3108960"/>
                <a:gridCol w="2560320"/>
              </a:tblGrid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Fuente</a:t>
                      </a:r>
                    </a:p>
                  </a:txBody>
                  <a:tcPr anchor="ctr" marL="109728" marR="109728">
                    <a:solidFill>
                      <a:srgbClr val="01175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Metodología y muestra</a:t>
                      </a:r>
                    </a:p>
                  </a:txBody>
                  <a:tcPr anchor="ctr" marL="109728" marR="109728">
                    <a:solidFill>
                      <a:srgbClr val="01175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Resultados</a:t>
                      </a:r>
                    </a:p>
                  </a:txBody>
                  <a:tcPr anchor="ctr" marL="109728" marR="109728">
                    <a:solidFill>
                      <a:srgbClr val="01175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Limitación</a:t>
                      </a:r>
                    </a:p>
                  </a:txBody>
                  <a:tcPr anchor="ctr" marL="109728" marR="109728">
                    <a:solidFill>
                      <a:srgbClr val="011754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1800" b="1">
                          <a:solidFill>
                            <a:srgbClr val="011754"/>
                          </a:solidFill>
                          <a:latin typeface="Calibri"/>
                        </a:rPr>
                        <a:t>Estudio A</a:t>
                      </a:r>
                    </a:p>
                  </a:txBody>
                  <a:tcPr anchor="ctr" marL="109728" marR="109728">
                    <a:solidFill>
                      <a:srgbClr val="D9DE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0">
                          <a:solidFill>
                            <a:srgbClr val="011754"/>
                          </a:solidFill>
                          <a:latin typeface="Calibri"/>
                        </a:rPr>
                        <a:t>Cuasiexperimental, 180</a:t>
                      </a:r>
                    </a:p>
                  </a:txBody>
                  <a:tcPr anchor="ctr" marL="109728" marR="109728">
                    <a:solidFill>
                      <a:srgbClr val="D9DE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0">
                          <a:solidFill>
                            <a:srgbClr val="011754"/>
                          </a:solidFill>
                          <a:latin typeface="Calibri"/>
                        </a:rPr>
                        <a:t>Mayor autorregulación</a:t>
                      </a:r>
                    </a:p>
                  </a:txBody>
                  <a:tcPr anchor="ctr" marL="109728" marR="109728">
                    <a:solidFill>
                      <a:srgbClr val="D9DE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0">
                          <a:solidFill>
                            <a:srgbClr val="011754"/>
                          </a:solidFill>
                          <a:latin typeface="Calibri"/>
                        </a:rPr>
                        <a:t>Una sola carrera</a:t>
                      </a:r>
                    </a:p>
                  </a:txBody>
                  <a:tcPr anchor="ctr" marL="109728" marR="109728">
                    <a:solidFill>
                      <a:srgbClr val="D9DEEF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1800" b="1">
                          <a:solidFill>
                            <a:srgbClr val="011754"/>
                          </a:solidFill>
                          <a:latin typeface="Calibri"/>
                        </a:rPr>
                        <a:t>Estudio B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0">
                          <a:solidFill>
                            <a:srgbClr val="011754"/>
                          </a:solidFill>
                          <a:latin typeface="Calibri"/>
                        </a:rPr>
                        <a:t>Transversal, 412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0">
                          <a:solidFill>
                            <a:srgbClr val="011754"/>
                          </a:solidFill>
                          <a:latin typeface="Calibri"/>
                        </a:rPr>
                        <a:t>Correlación moderada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0">
                          <a:solidFill>
                            <a:srgbClr val="011754"/>
                          </a:solidFill>
                          <a:latin typeface="Calibri"/>
                        </a:rPr>
                        <a:t>No indica causa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1800" b="1">
                          <a:solidFill>
                            <a:srgbClr val="011754"/>
                          </a:solidFill>
                          <a:latin typeface="Calibri"/>
                        </a:rPr>
                        <a:t>Estudio C</a:t>
                      </a:r>
                    </a:p>
                  </a:txBody>
                  <a:tcPr anchor="ctr" marL="109728" marR="109728">
                    <a:solidFill>
                      <a:srgbClr val="D9DE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0">
                          <a:solidFill>
                            <a:srgbClr val="011754"/>
                          </a:solidFill>
                          <a:latin typeface="Calibri"/>
                        </a:rPr>
                        <a:t>Cualitativo, 24</a:t>
                      </a:r>
                    </a:p>
                  </a:txBody>
                  <a:tcPr anchor="ctr" marL="109728" marR="109728">
                    <a:solidFill>
                      <a:srgbClr val="D9DE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0">
                          <a:solidFill>
                            <a:srgbClr val="011754"/>
                          </a:solidFill>
                          <a:latin typeface="Calibri"/>
                        </a:rPr>
                        <a:t>Ayuda y dependencia</a:t>
                      </a:r>
                    </a:p>
                  </a:txBody>
                  <a:tcPr anchor="ctr" marL="109728" marR="109728">
                    <a:solidFill>
                      <a:srgbClr val="D9DE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0">
                          <a:solidFill>
                            <a:srgbClr val="011754"/>
                          </a:solidFill>
                          <a:latin typeface="Calibri"/>
                        </a:rPr>
                        <a:t>Muestra pequeña</a:t>
                      </a:r>
                    </a:p>
                  </a:txBody>
                  <a:tcPr anchor="ctr" marL="109728" marR="109728">
                    <a:solidFill>
                      <a:srgbClr val="D9DEE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612648" y="4937760"/>
            <a:ext cx="10972800" cy="822960"/>
          </a:xfrm>
          <a:prstGeom prst="roundRect">
            <a:avLst>
              <a:gd name="adj" fmla="val 6000"/>
            </a:avLst>
          </a:prstGeom>
          <a:solidFill>
            <a:srgbClr val="0117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4937760"/>
            <a:ext cx="10515600" cy="8229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Ejemplo con estudios ficticios de muestra: tú trabajarás con tus propias fuentes.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12648" y="777240"/>
            <a:ext cx="10332720" cy="6400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836B2"/>
                </a:solidFill>
                <a:latin typeface="Calibri"/>
              </a:rPr>
              <a:t>Paso 4 · Comparamos y esquematizamos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600200"/>
            <a:ext cx="3535680" cy="2743200"/>
          </a:xfrm>
          <a:prstGeom prst="roundRect">
            <a:avLst>
              <a:gd name="adj" fmla="val 6000"/>
            </a:avLst>
          </a:prstGeom>
          <a:solidFill>
            <a:srgbClr val="D9D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5528" y="1709928"/>
            <a:ext cx="3169920" cy="25237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2B4EB4"/>
                </a:solidFill>
                <a:latin typeface="Calibri"/>
              </a:rPr>
              <a:t>Coinciden</a:t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011754"/>
                </a:solidFill>
                <a:latin typeface="Calibri"/>
              </a:rPr>
              <a:t>Los tres estudios asocian el uso de IA con mayor organización del estudio.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31208" y="1600200"/>
            <a:ext cx="3535680" cy="2743200"/>
          </a:xfrm>
          <a:prstGeom prst="roundRect">
            <a:avLst>
              <a:gd name="adj" fmla="val 6000"/>
            </a:avLst>
          </a:prstGeom>
          <a:solidFill>
            <a:srgbClr val="D9D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14088" y="1709928"/>
            <a:ext cx="3169920" cy="25237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2B4EB4"/>
                </a:solidFill>
                <a:latin typeface="Calibri"/>
              </a:rPr>
              <a:t>Se contradicen</a:t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011754"/>
                </a:solidFill>
                <a:latin typeface="Calibri"/>
              </a:rPr>
              <a:t>La relación positiva desaparece en estudiantes de primer año (estudio B).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9767" y="1600200"/>
            <a:ext cx="3535680" cy="2743200"/>
          </a:xfrm>
          <a:prstGeom prst="roundRect">
            <a:avLst>
              <a:gd name="adj" fmla="val 6000"/>
            </a:avLst>
          </a:prstGeom>
          <a:solidFill>
            <a:srgbClr val="D9D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32647" y="1709928"/>
            <a:ext cx="3169920" cy="25237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2B4EB4"/>
                </a:solidFill>
                <a:latin typeface="Calibri"/>
              </a:rPr>
              <a:t>Falta investigar</a:t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011754"/>
                </a:solidFill>
                <a:latin typeface="Calibri"/>
              </a:rPr>
              <a:t>Efectos a largo plazo y en otras carreras.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" y="4617720"/>
            <a:ext cx="10972800" cy="822960"/>
          </a:xfrm>
          <a:prstGeom prst="roundRect">
            <a:avLst>
              <a:gd name="adj" fmla="val 6000"/>
            </a:avLst>
          </a:prstGeom>
          <a:solidFill>
            <a:srgbClr val="0117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" y="4617720"/>
            <a:ext cx="10515600" cy="8229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Con esto armas el esquema del estado del arte: qué se sabe, qué se discute y qué falta.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12648" y="777240"/>
            <a:ext cx="10332720" cy="6400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836B2"/>
                </a:solidFill>
                <a:latin typeface="Calibri"/>
              </a:rPr>
              <a:t>Paso 5 · Revisión humana y dossier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463040"/>
            <a:ext cx="10972800" cy="4572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011754"/>
                </a:solidFill>
                <a:latin typeface="Calibri"/>
              </a:rPr>
              <a:t>Antes de exportar, el dossier debe incluir: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" y="1965960"/>
            <a:ext cx="5394960" cy="1828800"/>
          </a:xfrm>
          <a:prstGeom prst="roundRect">
            <a:avLst>
              <a:gd name="adj" fmla="val 6000"/>
            </a:avLst>
          </a:prstGeom>
          <a:solidFill>
            <a:srgbClr val="D9D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8" y="2075688"/>
            <a:ext cx="5029200" cy="16093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2B4EB4"/>
                </a:solidFill>
                <a:latin typeface="Calibri"/>
              </a:rPr>
              <a:t>Tema y bitácora</a:t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011754"/>
                </a:solidFill>
                <a:latin typeface="Calibri"/>
              </a:rPr>
              <a:t>Tema delimitado y al menos tres cadenas ejecutadas.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0488" y="1965960"/>
            <a:ext cx="5394960" cy="1828800"/>
          </a:xfrm>
          <a:prstGeom prst="roundRect">
            <a:avLst>
              <a:gd name="adj" fmla="val 6000"/>
            </a:avLst>
          </a:prstGeom>
          <a:solidFill>
            <a:srgbClr val="D9D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73368" y="2075688"/>
            <a:ext cx="5029200" cy="16093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2B4EB4"/>
                </a:solidFill>
                <a:latin typeface="Calibri"/>
              </a:rPr>
              <a:t>Fuentes</a:t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011754"/>
                </a:solidFill>
                <a:latin typeface="Calibri"/>
              </a:rPr>
              <a:t>Cinco fuentes reales con DOI comprobado.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" y="3977639"/>
            <a:ext cx="5394960" cy="1828800"/>
          </a:xfrm>
          <a:prstGeom prst="roundRect">
            <a:avLst>
              <a:gd name="adj" fmla="val 6000"/>
            </a:avLst>
          </a:prstGeom>
          <a:solidFill>
            <a:srgbClr val="D9D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8" y="4087368"/>
            <a:ext cx="5029200" cy="16093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2B4EB4"/>
                </a:solidFill>
                <a:latin typeface="Calibri"/>
              </a:rPr>
              <a:t>Matriz y esquema</a:t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011754"/>
                </a:solidFill>
                <a:latin typeface="Calibri"/>
              </a:rPr>
              <a:t>Matriz de antecedentes y esquema del estado del arte y del marco teórico.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3977639"/>
            <a:ext cx="5394960" cy="1828800"/>
          </a:xfrm>
          <a:prstGeom prst="roundRect">
            <a:avLst>
              <a:gd name="adj" fmla="val 6000"/>
            </a:avLst>
          </a:prstGeom>
          <a:solidFill>
            <a:srgbClr val="D9D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73368" y="4087368"/>
            <a:ext cx="5029200" cy="160934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2B4EB4"/>
                </a:solidFill>
                <a:latin typeface="Calibri"/>
              </a:rPr>
              <a:t>Contraste y declaración</a:t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011754"/>
                </a:solidFill>
                <a:latin typeface="Calibri"/>
              </a:rPr>
              <a:t>Evidencias Scholar, ChatGPT y Claude, y declaración de uso de IA.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5989320"/>
            <a:ext cx="10972800" cy="3657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2B4EB4"/>
                </a:solidFill>
                <a:latin typeface="Calibri"/>
              </a:rPr>
              <a:t>Exporta el dossier en Word o Google Docs.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12648" y="777240"/>
            <a:ext cx="10332720" cy="6400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836B2"/>
                </a:solidFill>
                <a:latin typeface="Calibri"/>
              </a:rPr>
              <a:t>Cierre del curso: producto y evaluación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12648" y="1600200"/>
          <a:ext cx="109728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0"/>
                <a:gridCol w="2743200"/>
              </a:tblGrid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Criterio del dossier</a:t>
                      </a:r>
                    </a:p>
                  </a:txBody>
                  <a:tcPr anchor="ctr" marL="109728" marR="109728">
                    <a:solidFill>
                      <a:srgbClr val="01175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Peso</a:t>
                      </a:r>
                    </a:p>
                  </a:txBody>
                  <a:tcPr anchor="ctr" marL="109728" marR="109728">
                    <a:solidFill>
                      <a:srgbClr val="011754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 algn="l"/>
                      <a:r>
                        <a:rPr sz="1800" b="1">
                          <a:solidFill>
                            <a:srgbClr val="011754"/>
                          </a:solidFill>
                          <a:latin typeface="Calibri"/>
                        </a:rPr>
                        <a:t>Estrategia de búsqueda</a:t>
                      </a:r>
                    </a:p>
                  </a:txBody>
                  <a:tcPr anchor="ctr" marL="109728" marR="109728">
                    <a:solidFill>
                      <a:srgbClr val="D9DE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>
                          <a:solidFill>
                            <a:srgbClr val="011754"/>
                          </a:solidFill>
                          <a:latin typeface="Calibri"/>
                        </a:rPr>
                        <a:t>20 %</a:t>
                      </a:r>
                    </a:p>
                  </a:txBody>
                  <a:tcPr anchor="ctr" marL="109728" marR="109728">
                    <a:solidFill>
                      <a:srgbClr val="D9DEEF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 algn="l"/>
                      <a:r>
                        <a:rPr sz="1800" b="1">
                          <a:solidFill>
                            <a:srgbClr val="011754"/>
                          </a:solidFill>
                          <a:latin typeface="Calibri"/>
                        </a:rPr>
                        <a:t>Verificación y trazabilidad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>
                          <a:solidFill>
                            <a:srgbClr val="011754"/>
                          </a:solidFill>
                          <a:latin typeface="Calibri"/>
                        </a:rPr>
                        <a:t>30 %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 algn="l"/>
                      <a:r>
                        <a:rPr sz="1800" b="1">
                          <a:solidFill>
                            <a:srgbClr val="011754"/>
                          </a:solidFill>
                          <a:latin typeface="Calibri"/>
                        </a:rPr>
                        <a:t>Matriz y síntesis</a:t>
                      </a:r>
                    </a:p>
                  </a:txBody>
                  <a:tcPr anchor="ctr" marL="109728" marR="109728">
                    <a:solidFill>
                      <a:srgbClr val="D9DE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>
                          <a:solidFill>
                            <a:srgbClr val="011754"/>
                          </a:solidFill>
                          <a:latin typeface="Calibri"/>
                        </a:rPr>
                        <a:t>30 %</a:t>
                      </a:r>
                    </a:p>
                  </a:txBody>
                  <a:tcPr anchor="ctr" marL="109728" marR="109728">
                    <a:solidFill>
                      <a:srgbClr val="D9DEEF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 algn="l"/>
                      <a:r>
                        <a:rPr sz="1800" b="1">
                          <a:solidFill>
                            <a:srgbClr val="011754"/>
                          </a:solidFill>
                          <a:latin typeface="Calibri"/>
                        </a:rPr>
                        <a:t>Ética y declaración de uso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>
                          <a:solidFill>
                            <a:srgbClr val="011754"/>
                          </a:solidFill>
                          <a:latin typeface="Calibri"/>
                        </a:rPr>
                        <a:t>20 %</a:t>
                      </a:r>
                    </a:p>
                  </a:txBody>
                  <a:tcPr anchor="ctr" marL="109728" marR="10972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612648" y="5120640"/>
            <a:ext cx="10972800" cy="822960"/>
          </a:xfrm>
          <a:prstGeom prst="roundRect">
            <a:avLst>
              <a:gd name="adj" fmla="val 6000"/>
            </a:avLst>
          </a:prstGeom>
          <a:solidFill>
            <a:srgbClr val="0117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5120640"/>
            <a:ext cx="10515600" cy="82296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La evaluación teórica se complementa con el cuestionario en Google Forms.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12648" y="777240"/>
            <a:ext cx="10332720" cy="64008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836B2"/>
                </a:solidFill>
                <a:latin typeface="Calibri"/>
              </a:rPr>
              <a:t>Bibliografía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463040"/>
            <a:ext cx="1097280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011754"/>
                </a:solidFill>
                <a:latin typeface="Calibri"/>
              </a:rPr>
              <a:t>Fuentes que sustentan la lectura, la síntesis y la declaración de uso de esta sesión.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" y="1828800"/>
            <a:ext cx="5449824" cy="1463040"/>
          </a:xfrm>
          <a:prstGeom prst="roundRect">
            <a:avLst>
              <a:gd name="adj" fmla="val 6000"/>
            </a:avLst>
          </a:prstGeom>
          <a:solidFill>
            <a:srgbClr val="D9D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8" y="1938528"/>
            <a:ext cx="5084064" cy="124358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2B4EB4"/>
                </a:solidFill>
                <a:latin typeface="Calibri"/>
              </a:rPr>
              <a:t>Snyder, H. (2019)</a:t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011754"/>
                </a:solidFill>
                <a:latin typeface="Calibri"/>
              </a:rPr>
              <a:t>Literature review as a research methodology. Journal of Business Research, 104, 333–339.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35624" y="1828800"/>
            <a:ext cx="5449824" cy="1463040"/>
          </a:xfrm>
          <a:prstGeom prst="roundRect">
            <a:avLst>
              <a:gd name="adj" fmla="val 6000"/>
            </a:avLst>
          </a:prstGeom>
          <a:solidFill>
            <a:srgbClr val="D9D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18504" y="1938528"/>
            <a:ext cx="5084064" cy="124358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2B4EB4"/>
                </a:solidFill>
                <a:latin typeface="Calibri"/>
              </a:rPr>
              <a:t>Webster &amp; Watson (2002)</a:t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011754"/>
                </a:solidFill>
                <a:latin typeface="Calibri"/>
              </a:rPr>
              <a:t>Analyzing the past to prepare for the future: writing a literature review. MIS Quarterly, 26(2).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" y="3364992"/>
            <a:ext cx="5449824" cy="1463040"/>
          </a:xfrm>
          <a:prstGeom prst="roundRect">
            <a:avLst>
              <a:gd name="adj" fmla="val 6000"/>
            </a:avLst>
          </a:prstGeom>
          <a:solidFill>
            <a:srgbClr val="D9D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8" y="3474720"/>
            <a:ext cx="5084064" cy="124358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2B4EB4"/>
                </a:solidFill>
                <a:latin typeface="Calibri"/>
              </a:rPr>
              <a:t>Booth, A. et al. (2016)</a:t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011754"/>
                </a:solidFill>
                <a:latin typeface="Calibri"/>
              </a:rPr>
              <a:t>Systematic Approaches to a Successful Literature Review (2.ª ed.). Sage.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35624" y="3364992"/>
            <a:ext cx="5449824" cy="1463040"/>
          </a:xfrm>
          <a:prstGeom prst="roundRect">
            <a:avLst>
              <a:gd name="adj" fmla="val 6000"/>
            </a:avLst>
          </a:prstGeom>
          <a:solidFill>
            <a:srgbClr val="D9D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18504" y="3474720"/>
            <a:ext cx="5084064" cy="124358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2B4EB4"/>
                </a:solidFill>
                <a:latin typeface="Calibri"/>
              </a:rPr>
              <a:t>COPE (2023)</a:t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011754"/>
                </a:solidFill>
                <a:latin typeface="Calibri"/>
              </a:rPr>
              <a:t>Authorship and AI tools: position statement.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" y="4901184"/>
            <a:ext cx="5449824" cy="1463040"/>
          </a:xfrm>
          <a:prstGeom prst="roundRect">
            <a:avLst>
              <a:gd name="adj" fmla="val 6000"/>
            </a:avLst>
          </a:prstGeom>
          <a:solidFill>
            <a:srgbClr val="D9D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5528" y="5010912"/>
            <a:ext cx="5084064" cy="124358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2B4EB4"/>
                </a:solidFill>
                <a:latin typeface="Calibri"/>
              </a:rPr>
              <a:t>UNESCO (2023)</a:t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011754"/>
                </a:solidFill>
                <a:latin typeface="Calibri"/>
              </a:rPr>
              <a:t>Guidance for generative AI in education and research.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35624" y="4901184"/>
            <a:ext cx="5449824" cy="1463040"/>
          </a:xfrm>
          <a:prstGeom prst="roundRect">
            <a:avLst>
              <a:gd name="adj" fmla="val 6000"/>
            </a:avLst>
          </a:prstGeom>
          <a:solidFill>
            <a:srgbClr val="D9DE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18504" y="5010912"/>
            <a:ext cx="5084064" cy="1243584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2B4EB4"/>
                </a:solidFill>
                <a:latin typeface="Calibri"/>
              </a:rPr>
              <a:t>Page, M. J. et al. (2021)</a:t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011754"/>
                </a:solidFill>
                <a:latin typeface="Calibri"/>
              </a:rPr>
              <a:t>The PRISMA 2020 statement: an updated guideline for reporting systematic reviews. BMJ, 372.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1271</Words>
  <Application>Microsoft Office PowerPoint</Application>
  <PresentationFormat>Panorámica</PresentationFormat>
  <Paragraphs>233</Paragraphs>
  <Slides>30</Slides>
  <Notes>3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30</vt:i4>
      </vt:variant>
    </vt:vector>
  </HeadingPairs>
  <TitlesOfParts>
    <vt:vector size="36" baseType="lpstr">
      <vt:lpstr>Aptos</vt:lpstr>
      <vt:lpstr>Arial</vt:lpstr>
      <vt:lpstr>Calibri</vt:lpstr>
      <vt:lpstr>Fira Sans</vt:lpstr>
      <vt:lpstr>Montserrat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PILAR SAYAN MEJIA</cp:lastModifiedBy>
  <cp:revision>7</cp:revision>
  <dcterms:created xsi:type="dcterms:W3CDTF">2013-01-27T09:14:16Z</dcterms:created>
  <dcterms:modified xsi:type="dcterms:W3CDTF">2026-09-27T19:09:21Z</dcterms:modified>
  <cp:category/>
</cp:coreProperties>
</file>