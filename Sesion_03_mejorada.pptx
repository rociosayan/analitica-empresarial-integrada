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306" r:id="rId2"/>
    <p:sldId id="307" r:id="rId3"/>
    <p:sldId id="258" r:id="rId4"/>
    <p:sldId id="259" r:id="rId5"/>
    <p:sldId id="260" r:id="rId6"/>
    <p:sldId id="261" r:id="rId7"/>
    <p:sldId id="263" r:id="rId8"/>
    <p:sldId id="265" r:id="rId9"/>
    <p:sldId id="266" r:id="rId10"/>
    <p:sldId id="268" r:id="rId11"/>
    <p:sldId id="270" r:id="rId12"/>
    <p:sldId id="271" r:id="rId13"/>
    <p:sldId id="273" r:id="rId14"/>
    <p:sldId id="275" r:id="rId15"/>
    <p:sldId id="277" r:id="rId16"/>
    <p:sldId id="278" r:id="rId17"/>
    <p:sldId id="282" r:id="rId18"/>
    <p:sldId id="283" r:id="rId19"/>
    <p:sldId id="284" r:id="rId20"/>
    <p:sldId id="286" r:id="rId21"/>
    <p:sldId id="288" r:id="rId22"/>
    <p:sldId id="289" r:id="rId23"/>
    <p:sldId id="290" r:id="rId24"/>
    <p:sldId id="291" r:id="rId25"/>
    <p:sldId id="292" r:id="rId26"/>
    <p:sldId id="293" r:id="rId27"/>
    <p:sldId id="296" r:id="rId28"/>
    <p:sldId id="308" r:id="rId29"/>
    <p:sldId id="304" r:id="rId30"/>
    <p:sldId id="30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D9C41-E925-46F2-8BD1-5CCE9E4476A6}" type="datetimeFigureOut">
              <a:rPr lang="es-PE" smtClean="0"/>
              <a:t>27/09/2026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888531-3C4D-42FD-A92B-15644527B8D1}" type="slidenum">
              <a:rPr lang="es-PE" smtClean="0"/>
              <a:t>‹Nº›</a:t>
            </a:fld>
            <a:endParaRPr lang="es-PE"/>
          </a:p>
        </p:txBody>
      </p:sp>
    </p:spTree>
    <p:extLst>
      <p:ext uri="{BB962C8B-B14F-4D97-AF65-F5344CB8AC3E}">
        <p14:creationId xmlns:p14="http://schemas.microsoft.com/office/powerpoint/2010/main" val="2906971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cf80e77ae7_4_1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7" name="Google Shape;237;g3cf80e77ae7_4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B9CDD1"/>
          </a:solidFill>
          <a:ln/>
        </p:spPr>
      </p:sp>
    </p:spTree>
    <p:extLst>
      <p:ext uri="{BB962C8B-B14F-4D97-AF65-F5344CB8AC3E}">
        <p14:creationId xmlns:p14="http://schemas.microsoft.com/office/powerpoint/2010/main" val="15242655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C:\Users\LENOVO\AppData\Local\Temp\claude\C--Users-LENOVO-Documents-CONTRATOS\f17f3f05-49d0-46aa-84a7-c43f168039e8\scratchpad\eliteed\bg_title.png"/>
          <p:cNvPicPr>
            <a:picLocks noChangeAspect="1"/>
          </p:cNvPicPr>
          <p:nvPr/>
        </p:nvPicPr>
        <p:blipFill>
          <a:blip r:embed="rId3"/>
          <a:stretch>
            <a:fillRect/>
          </a:stretch>
        </p:blipFill>
        <p:spPr>
          <a:xfrm>
            <a:off x="-26212" y="0"/>
            <a:ext cx="12191695" cy="6857828"/>
          </a:xfrm>
          <a:prstGeom prst="rect">
            <a:avLst/>
          </a:prstGeom>
        </p:spPr>
      </p:pic>
      <p:sp>
        <p:nvSpPr>
          <p:cNvPr id="3" name="Shape 0"/>
          <p:cNvSpPr/>
          <p:nvPr/>
        </p:nvSpPr>
        <p:spPr>
          <a:xfrm>
            <a:off x="827207" y="944856"/>
            <a:ext cx="5242429" cy="737598"/>
          </a:xfrm>
          <a:prstGeom prst="roundRect">
            <a:avLst>
              <a:gd name="adj" fmla="val 49587"/>
            </a:avLst>
          </a:prstGeom>
          <a:ln/>
        </p:spPr>
        <p:txBody>
          <a:bodyPr/>
          <a:lstStyle/>
          <a:p>
            <a:endParaRPr/>
          </a:p>
        </p:txBody>
      </p:sp>
      <p:sp>
        <p:nvSpPr>
          <p:cNvPr id="4" name="Text 1"/>
          <p:cNvSpPr/>
          <p:nvPr/>
        </p:nvSpPr>
        <p:spPr>
          <a:xfrm>
            <a:off x="885117" y="1097280"/>
            <a:ext cx="3779425" cy="411480"/>
          </a:xfrm>
          <a:prstGeom prst="rect">
            <a:avLst/>
          </a:prstGeom>
          <a:noFill/>
          <a:ln/>
        </p:spPr>
        <p:txBody>
          <a:bodyPr wrap="square" lIns="0" tIns="0" rIns="0" bIns="0" rtlCol="0" anchor="ctr"/>
          <a:lstStyle/>
          <a:p>
            <a:pPr algn="ctr">
              <a:lnSpc>
                <a:spcPct val="140000"/>
              </a:lnSpc>
              <a:buClr>
                <a:srgbClr val="000000"/>
              </a:buClr>
            </a:pPr>
            <a:r>
              <a:rPr lang="en-US" sz="1500" b="1" dirty="0">
                <a:solidFill>
                  <a:srgbClr val="031A8D"/>
                </a:solidFill>
                <a:latin typeface="Montserrat"/>
                <a:sym typeface="Arial"/>
              </a:rPr>
              <a:t>PROGRAMA DE ESPECIALIZACIÓN</a:t>
            </a:r>
          </a:p>
        </p:txBody>
      </p:sp>
      <p:sp>
        <p:nvSpPr>
          <p:cNvPr id="5" name="Shape 2"/>
          <p:cNvSpPr/>
          <p:nvPr/>
        </p:nvSpPr>
        <p:spPr>
          <a:xfrm>
            <a:off x="827207" y="1682454"/>
            <a:ext cx="115821" cy="2072588"/>
          </a:xfrm>
          <a:prstGeom prst="rect">
            <a:avLst/>
          </a:prstGeom>
          <a:solidFill>
            <a:srgbClr val="CCA457"/>
          </a:solidFill>
          <a:ln/>
        </p:spPr>
        <p:txBody>
          <a:bodyPr/>
          <a:lstStyle/>
          <a:p>
            <a:endParaRPr/>
          </a:p>
        </p:txBody>
      </p:sp>
      <p:sp>
        <p:nvSpPr>
          <p:cNvPr id="6" name="Text 3"/>
          <p:cNvSpPr/>
          <p:nvPr/>
        </p:nvSpPr>
        <p:spPr>
          <a:xfrm>
            <a:off x="1097252" y="1783080"/>
            <a:ext cx="8899937" cy="2057400"/>
          </a:xfrm>
          <a:prstGeom prst="rect">
            <a:avLst/>
          </a:prstGeom>
          <a:noFill/>
          <a:ln/>
        </p:spPr>
        <p:txBody>
          <a:bodyPr wrap="square" lIns="0" tIns="0" rIns="0" bIns="0" rtlCol="0" anchor="t"/>
          <a:lstStyle/>
          <a:p>
            <a:pPr>
              <a:lnSpc>
                <a:spcPct val="150008"/>
              </a:lnSpc>
              <a:buClr>
                <a:srgbClr val="000000"/>
              </a:buClr>
            </a:pPr>
            <a:r>
              <a:rPr lang="es-MX" sz="4400" b="1" dirty="0">
                <a:solidFill>
                  <a:srgbClr val="D4AF37"/>
                </a:solidFill>
                <a:latin typeface="Montserrat"/>
                <a:sym typeface="Arial"/>
              </a:rPr>
              <a:t>PENSAMIENTO CRÍTICO Y USO RESPONSABLE DE LA IA</a:t>
            </a:r>
          </a:p>
        </p:txBody>
      </p:sp>
      <p:sp>
        <p:nvSpPr>
          <p:cNvPr id="7" name="Text 4"/>
          <p:cNvSpPr/>
          <p:nvPr/>
        </p:nvSpPr>
        <p:spPr>
          <a:xfrm>
            <a:off x="827207" y="3928736"/>
            <a:ext cx="9352217" cy="822960"/>
          </a:xfrm>
          <a:prstGeom prst="rect">
            <a:avLst/>
          </a:prstGeom>
          <a:noFill/>
          <a:ln/>
        </p:spPr>
        <p:txBody>
          <a:bodyPr wrap="square" lIns="0" tIns="0" rIns="0" bIns="0" rtlCol="0" anchor="ctr"/>
          <a:lstStyle/>
          <a:p>
            <a:pPr marL="0" indent="0">
              <a:buNone/>
            </a:pPr>
            <a:r>
              <a:rPr lang="es-MX" sz="2000" b="1" dirty="0">
                <a:solidFill>
                  <a:srgbClr val="FFFFFF"/>
                </a:solidFill>
                <a:latin typeface="Montserrat" pitchFamily="34" charset="0"/>
                <a:ea typeface="Montserrat" pitchFamily="34" charset="-122"/>
                <a:cs typeface="Montserrat" pitchFamily="34" charset="-120"/>
              </a:rPr>
              <a:t>Módulo 1: Inteligencia Artificial y Pensamiento Crítico para la Investigación</a:t>
            </a:r>
          </a:p>
          <a:p>
            <a:pPr marL="0" indent="0">
              <a:buNone/>
            </a:pPr>
            <a:r>
              <a:t/>
            </a:r>
            <a:endParaRPr lang="en-US" sz="2000" dirty="0"/>
          </a:p>
        </p:txBody>
      </p:sp>
      <p:sp>
        <p:nvSpPr>
          <p:cNvPr id="9" name="Text 6"/>
          <p:cNvSpPr/>
          <p:nvPr/>
        </p:nvSpPr>
        <p:spPr>
          <a:xfrm>
            <a:off x="3104143" y="5659755"/>
            <a:ext cx="5930983" cy="411480"/>
          </a:xfrm>
          <a:prstGeom prst="rect">
            <a:avLst/>
          </a:prstGeom>
          <a:noFill/>
          <a:ln/>
        </p:spPr>
        <p:txBody>
          <a:bodyPr wrap="square" lIns="0" tIns="0" rIns="0" bIns="0" rtlCol="0" anchor="ctr"/>
          <a:lstStyle/>
          <a:p>
            <a:pPr marL="0" indent="0">
              <a:buNone/>
            </a:pPr>
            <a:r>
              <a:rPr lang="en-US" sz="2100" b="1" dirty="0">
                <a:solidFill>
                  <a:srgbClr val="D4AF37"/>
                </a:solidFill>
                <a:latin typeface="Montserrat" pitchFamily="34" charset="0"/>
                <a:ea typeface="Montserrat" pitchFamily="34" charset="-122"/>
                <a:cs typeface="Montserrat" pitchFamily="34" charset="-120"/>
              </a:rPr>
              <a:t>Docente: Lic. Pilar Rocío Sayán Mejía</a:t>
            </a:r>
            <a:r>
              <a:rPr lang="en-US" sz="2100" dirty="0">
                <a:solidFill>
                  <a:schemeClr val="bg1"/>
                </a:solidFill>
                <a:latin typeface="Montserrat" pitchFamily="34" charset="0"/>
                <a:ea typeface="Montserrat" pitchFamily="34" charset="-122"/>
                <a:cs typeface="Montserrat" pitchFamily="34" charset="-120"/>
              </a:rPr>
              <a:t/>
            </a:r>
            <a:endParaRPr lang="en-US" sz="2100" dirty="0">
              <a:solidFill>
                <a:schemeClr val="bg1"/>
              </a:solidFill>
            </a:endParaRPr>
          </a:p>
        </p:txBody>
      </p:sp>
      <p:sp>
        <p:nvSpPr>
          <p:cNvPr id="12" name="Text 5">
            <a:extLst>
              <a:ext uri="{FF2B5EF4-FFF2-40B4-BE49-F238E27FC236}">
                <a16:creationId xmlns:a16="http://schemas.microsoft.com/office/drawing/2014/main" id="{E9151AAB-818C-8BDA-B0DD-E37A64264434}"/>
              </a:ext>
            </a:extLst>
          </p:cNvPr>
          <p:cNvSpPr/>
          <p:nvPr/>
        </p:nvSpPr>
        <p:spPr>
          <a:xfrm>
            <a:off x="827207" y="4923060"/>
            <a:ext cx="6263649" cy="342900"/>
          </a:xfrm>
          <a:prstGeom prst="rect">
            <a:avLst/>
          </a:prstGeom>
          <a:noFill/>
          <a:ln/>
        </p:spPr>
        <p:txBody>
          <a:bodyPr wrap="square" lIns="0" tIns="0" rIns="0" bIns="0" rtlCol="0" anchor="ctr"/>
          <a:lstStyle/>
          <a:p>
            <a:pPr marL="0" indent="0">
              <a:buNone/>
            </a:pPr>
            <a:r>
              <a:rPr lang="es-MX" sz="1500" dirty="0">
                <a:solidFill>
                  <a:schemeClr val="bg1"/>
                </a:solidFill>
                <a:latin typeface="Montserrat" pitchFamily="34" charset="0"/>
                <a:ea typeface="Montserrat" pitchFamily="34" charset="-122"/>
                <a:cs typeface="Montserrat" pitchFamily="34" charset="-120"/>
              </a:rPr>
              <a:t>Sesión 03: Pensamiento Crítico y Uso Responsable de la IA</a:t>
            </a:r>
            <a:r>
              <a:rPr lang="es-MX" sz="1500" dirty="0" err="1">
                <a:solidFill>
                  <a:schemeClr val="bg1"/>
                </a:solidFill>
                <a:latin typeface="Montserrat" pitchFamily="34" charset="0"/>
                <a:ea typeface="Montserrat" pitchFamily="34" charset="-122"/>
                <a:cs typeface="Montserrat" pitchFamily="34" charset="-120"/>
              </a:rPr>
              <a:t/>
            </a:r>
            <a:r>
              <a:rPr lang="es-MX" sz="1500" dirty="0">
                <a:solidFill>
                  <a:schemeClr val="bg1"/>
                </a:solidFill>
                <a:latin typeface="Montserrat" pitchFamily="34" charset="0"/>
                <a:ea typeface="Montserrat" pitchFamily="34" charset="-122"/>
                <a:cs typeface="Montserrat" pitchFamily="34" charset="-120"/>
              </a:rPr>
              <a:t/>
            </a:r>
            <a:r>
              <a:rPr lang="es-MX" sz="1500" dirty="0" err="1">
                <a:solidFill>
                  <a:schemeClr val="bg1"/>
                </a:solidFill>
                <a:latin typeface="Montserrat" pitchFamily="34" charset="0"/>
                <a:ea typeface="Montserrat" pitchFamily="34" charset="-122"/>
                <a:cs typeface="Montserrat" pitchFamily="34" charset="-120"/>
              </a:rPr>
              <a:t/>
            </a:r>
            <a:r>
              <a:rPr lang="es-MX" sz="1500" dirty="0">
                <a:solidFill>
                  <a:schemeClr val="bg1"/>
                </a:solidFill>
                <a:latin typeface="Montserrat" pitchFamily="34" charset="0"/>
                <a:ea typeface="Montserrat" pitchFamily="34" charset="-122"/>
                <a:cs typeface="Montserrat" pitchFamily="34" charset="-120"/>
              </a:rP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03196" y="784622"/>
            <a:ext cx="11785305" cy="5288756"/>
          </a:xfrm>
          <a:prstGeom prst="roundRect">
            <a:avLst>
              <a:gd name="adj" fmla="val 4353"/>
            </a:avLst>
          </a:prstGeom>
          <a:solidFill>
            <a:srgbClr val="FFFFFF"/>
          </a:solidFill>
          <a:ln w="6350">
            <a:solidFill>
              <a:srgbClr val="BBD9F5"/>
            </a:solidFill>
            <a:prstDash val="solid"/>
          </a:ln>
          <a:effectLst>
            <a:outerShdw blurRad="127" dist="90170" dir="2700000" algn="bl" rotWithShape="0">
              <a:srgbClr val="BBD9F5">
                <a:alpha val="100000"/>
              </a:srgbClr>
            </a:outerShdw>
          </a:effectLst>
        </p:spPr>
      </p:sp>
      <p:pic>
        <p:nvPicPr>
          <p:cNvPr id="3" name="Image 0"/>
          <p:cNvPicPr>
            <a:picLocks noChangeAspect="1"/>
          </p:cNvPicPr>
          <p:nvPr/>
        </p:nvPicPr>
        <p:blipFill>
          <a:blip r:embed="rId3"/>
          <a:stretch>
            <a:fillRect/>
          </a:stretch>
        </p:blipFill>
        <p:spPr>
          <a:xfrm>
            <a:off x="203195" y="784622"/>
            <a:ext cx="4640444" cy="5288756"/>
          </a:xfrm>
          <a:custGeom>
            <a:avLst/>
            <a:gdLst/>
            <a:ahLst/>
            <a:cxnLst/>
            <a:rect l="0" t="0" r="100000" b="100000"/>
            <a:pathLst>
              <a:path w="100000" h="100000">
                <a:moveTo>
                  <a:pt x="0" y="0"/>
                </a:moveTo>
                <a:lnTo>
                  <a:pt x="91210" y="0"/>
                </a:lnTo>
                <a:lnTo>
                  <a:pt x="92090" y="2640"/>
                </a:lnTo>
                <a:lnTo>
                  <a:pt x="93070" y="7030"/>
                </a:lnTo>
                <a:lnTo>
                  <a:pt x="93650" y="11330"/>
                </a:lnTo>
                <a:lnTo>
                  <a:pt x="93850" y="14750"/>
                </a:lnTo>
                <a:lnTo>
                  <a:pt x="93460" y="21970"/>
                </a:lnTo>
                <a:lnTo>
                  <a:pt x="91990" y="31150"/>
                </a:lnTo>
                <a:lnTo>
                  <a:pt x="91410" y="36520"/>
                </a:lnTo>
                <a:lnTo>
                  <a:pt x="91210" y="40040"/>
                </a:lnTo>
                <a:lnTo>
                  <a:pt x="91310" y="45700"/>
                </a:lnTo>
                <a:lnTo>
                  <a:pt x="91890" y="48930"/>
                </a:lnTo>
                <a:lnTo>
                  <a:pt x="93160" y="52540"/>
                </a:lnTo>
                <a:lnTo>
                  <a:pt x="94920" y="56050"/>
                </a:lnTo>
                <a:lnTo>
                  <a:pt x="97170" y="59860"/>
                </a:lnTo>
                <a:lnTo>
                  <a:pt x="98730" y="63280"/>
                </a:lnTo>
                <a:lnTo>
                  <a:pt x="99800" y="67290"/>
                </a:lnTo>
                <a:lnTo>
                  <a:pt x="100000" y="71480"/>
                </a:lnTo>
                <a:lnTo>
                  <a:pt x="99710" y="73630"/>
                </a:lnTo>
                <a:lnTo>
                  <a:pt x="99020" y="76460"/>
                </a:lnTo>
                <a:lnTo>
                  <a:pt x="97750" y="80180"/>
                </a:lnTo>
                <a:lnTo>
                  <a:pt x="96390" y="83400"/>
                </a:lnTo>
                <a:lnTo>
                  <a:pt x="91890" y="91990"/>
                </a:lnTo>
                <a:lnTo>
                  <a:pt x="89450" y="96000"/>
                </a:lnTo>
                <a:lnTo>
                  <a:pt x="86720" y="100000"/>
                </a:lnTo>
                <a:lnTo>
                  <a:pt x="0" y="100000"/>
                </a:lnTo>
                <a:close/>
              </a:path>
            </a:pathLst>
          </a:custGeom>
        </p:spPr>
      </p:pic>
      <p:sp>
        <p:nvSpPr>
          <p:cNvPr id="4" name="Text 1"/>
          <p:cNvSpPr/>
          <p:nvPr/>
        </p:nvSpPr>
        <p:spPr>
          <a:xfrm>
            <a:off x="5262134" y="1224260"/>
            <a:ext cx="6086918" cy="249734"/>
          </a:xfrm>
          <a:prstGeom prst="rect">
            <a:avLst/>
          </a:prstGeom>
          <a:noFill/>
          <a:ln/>
        </p:spPr>
        <p:txBody>
          <a:bodyPr wrap="none" lIns="0" tIns="0" rIns="0" bIns="0" rtlCol="0" anchor="t"/>
          <a:lstStyle/>
          <a:p>
            <a:pPr>
              <a:lnSpc>
                <a:spcPct val="104000"/>
              </a:lnSpc>
            </a:pPr>
            <a:r>
              <a:rPr lang="en-US" sz="1550" dirty="0">
                <a:latin typeface="Montserrat"/>
              </a:rPr>
              <a:t>Docente</a:t>
            </a:r>
          </a:p>
        </p:txBody>
      </p:sp>
      <p:sp>
        <p:nvSpPr>
          <p:cNvPr id="5" name="Text 2"/>
          <p:cNvSpPr/>
          <p:nvPr/>
        </p:nvSpPr>
        <p:spPr>
          <a:xfrm>
            <a:off x="5262134" y="1537892"/>
            <a:ext cx="6086918" cy="499666"/>
          </a:xfrm>
          <a:prstGeom prst="rect">
            <a:avLst/>
          </a:prstGeom>
          <a:noFill/>
          <a:ln/>
        </p:spPr>
        <p:txBody>
          <a:bodyPr wrap="none" lIns="0" tIns="0" rIns="0" bIns="0" rtlCol="0" anchor="t"/>
          <a:lstStyle/>
          <a:p>
            <a:pPr>
              <a:lnSpc>
                <a:spcPct val="104000"/>
              </a:lnSpc>
            </a:pPr>
            <a:r>
              <a:rPr lang="en-US" sz="3100" dirty="0">
                <a:latin typeface="Montserrat"/>
              </a:rPr>
              <a:t>Lic. Pilar Rocío Sayán Mejía</a:t>
            </a:r>
          </a:p>
        </p:txBody>
      </p:sp>
      <p:sp>
        <p:nvSpPr>
          <p:cNvPr id="6" name="Shape 3"/>
          <p:cNvSpPr/>
          <p:nvPr/>
        </p:nvSpPr>
        <p:spPr>
          <a:xfrm>
            <a:off x="5262134" y="2277369"/>
            <a:ext cx="2963491" cy="1981795"/>
          </a:xfrm>
          <a:prstGeom prst="roundRect">
            <a:avLst>
              <a:gd name="adj" fmla="val 7261"/>
            </a:avLst>
          </a:prstGeom>
          <a:solidFill>
            <a:srgbClr val="FFFFFF"/>
          </a:solidFill>
          <a:ln w="19050">
            <a:solidFill>
              <a:srgbClr val="B4CCE3"/>
            </a:solidFill>
            <a:prstDash val="solid"/>
          </a:ln>
        </p:spPr>
      </p:sp>
      <p:sp>
        <p:nvSpPr>
          <p:cNvPr id="7" name="Text 4"/>
          <p:cNvSpPr/>
          <p:nvPr/>
        </p:nvSpPr>
        <p:spPr>
          <a:xfrm>
            <a:off x="5441021" y="2456260"/>
            <a:ext cx="2605717" cy="249734"/>
          </a:xfrm>
          <a:prstGeom prst="rect">
            <a:avLst/>
          </a:prstGeom>
          <a:noFill/>
          <a:ln/>
        </p:spPr>
        <p:txBody>
          <a:bodyPr wrap="none" lIns="0" tIns="0" rIns="0" bIns="0" rtlCol="0" anchor="t"/>
          <a:lstStyle/>
          <a:p>
            <a:pPr>
              <a:lnSpc>
                <a:spcPct val="104000"/>
              </a:lnSpc>
            </a:pPr>
            <a:r>
              <a:rPr lang="en-US" sz="1550" dirty="0">
                <a:latin typeface="Montserrat"/>
              </a:rPr>
              <a:t>Formación</a:t>
            </a:r>
          </a:p>
        </p:txBody>
      </p:sp>
      <p:sp>
        <p:nvSpPr>
          <p:cNvPr id="8" name="Text 5"/>
          <p:cNvSpPr/>
          <p:nvPr/>
        </p:nvSpPr>
        <p:spPr>
          <a:xfrm>
            <a:off x="5441021" y="2801838"/>
            <a:ext cx="2605717" cy="1278434"/>
          </a:xfrm>
          <a:prstGeom prst="rect">
            <a:avLst/>
          </a:prstGeom>
          <a:noFill/>
          <a:ln/>
        </p:spPr>
        <p:txBody>
          <a:bodyPr wrap="square" lIns="0" tIns="0" rIns="0" bIns="0" rtlCol="0" anchor="t">
            <a:normAutofit/>
          </a:bodyPr>
          <a:lstStyle/>
          <a:p>
            <a:pPr>
              <a:lnSpc>
                <a:spcPct val="133000"/>
              </a:lnSpc>
            </a:pPr>
            <a:r>
              <a:rPr lang="en-US" sz="1250" dirty="0">
                <a:latin typeface="Montserrat"/>
              </a:rPr>
              <a:t>Licenciada en Comunicación y especialista en entornos digitales, investigación académica y tecnologías aplicadas a la educación.</a:t>
            </a:r>
          </a:p>
        </p:txBody>
      </p:sp>
      <p:sp>
        <p:nvSpPr>
          <p:cNvPr id="9" name="Shape 6"/>
          <p:cNvSpPr/>
          <p:nvPr/>
        </p:nvSpPr>
        <p:spPr>
          <a:xfrm>
            <a:off x="8385462" y="2277369"/>
            <a:ext cx="2963590" cy="1981795"/>
          </a:xfrm>
          <a:prstGeom prst="roundRect">
            <a:avLst>
              <a:gd name="adj" fmla="val 7261"/>
            </a:avLst>
          </a:prstGeom>
          <a:solidFill>
            <a:srgbClr val="FFFFFF"/>
          </a:solidFill>
          <a:ln w="19050">
            <a:solidFill>
              <a:srgbClr val="B4CCE3"/>
            </a:solidFill>
            <a:prstDash val="solid"/>
          </a:ln>
        </p:spPr>
      </p:sp>
      <p:sp>
        <p:nvSpPr>
          <p:cNvPr id="10" name="Text 7"/>
          <p:cNvSpPr/>
          <p:nvPr/>
        </p:nvSpPr>
        <p:spPr>
          <a:xfrm>
            <a:off x="8564348" y="2456260"/>
            <a:ext cx="2605816" cy="249734"/>
          </a:xfrm>
          <a:prstGeom prst="rect">
            <a:avLst/>
          </a:prstGeom>
          <a:noFill/>
          <a:ln/>
        </p:spPr>
        <p:txBody>
          <a:bodyPr wrap="none" lIns="0" tIns="0" rIns="0" bIns="0" rtlCol="0" anchor="t"/>
          <a:lstStyle/>
          <a:p>
            <a:pPr>
              <a:lnSpc>
                <a:spcPct val="104000"/>
              </a:lnSpc>
            </a:pPr>
            <a:r>
              <a:rPr lang="en-US" sz="1550" dirty="0">
                <a:latin typeface="Montserrat"/>
              </a:rPr>
              <a:t>Experiencia Docente</a:t>
            </a:r>
          </a:p>
        </p:txBody>
      </p:sp>
      <p:sp>
        <p:nvSpPr>
          <p:cNvPr id="11" name="Text 8"/>
          <p:cNvSpPr/>
          <p:nvPr/>
        </p:nvSpPr>
        <p:spPr>
          <a:xfrm>
            <a:off x="8564348" y="2801839"/>
            <a:ext cx="2605816" cy="1022747"/>
          </a:xfrm>
          <a:prstGeom prst="rect">
            <a:avLst/>
          </a:prstGeom>
          <a:noFill/>
          <a:ln/>
        </p:spPr>
        <p:txBody>
          <a:bodyPr wrap="square" lIns="0" tIns="0" rIns="0" bIns="0" rtlCol="0" anchor="t">
            <a:normAutofit fontScale="92500" lnSpcReduction="20000"/>
          </a:bodyPr>
          <a:lstStyle/>
          <a:p>
            <a:pPr>
              <a:lnSpc>
                <a:spcPct val="133000"/>
              </a:lnSpc>
            </a:pPr>
            <a:r>
              <a:rPr lang="en-US" sz="1250" dirty="0">
                <a:latin typeface="Montserrat"/>
              </a:rPr>
              <a:t>Facilitadora de programas de especialización en IA, pensamiento crítico e investigación aplicada con herramientas tecnológicas.</a:t>
            </a:r>
          </a:p>
        </p:txBody>
      </p:sp>
      <p:sp>
        <p:nvSpPr>
          <p:cNvPr id="12" name="Shape 9"/>
          <p:cNvSpPr/>
          <p:nvPr/>
        </p:nvSpPr>
        <p:spPr>
          <a:xfrm>
            <a:off x="5262134" y="4419006"/>
            <a:ext cx="6086918" cy="1214735"/>
          </a:xfrm>
          <a:prstGeom prst="roundRect">
            <a:avLst>
              <a:gd name="adj" fmla="val 11845"/>
            </a:avLst>
          </a:prstGeom>
          <a:solidFill>
            <a:srgbClr val="FFFFFF"/>
          </a:solidFill>
          <a:ln w="19050">
            <a:solidFill>
              <a:srgbClr val="B4CCE3"/>
            </a:solidFill>
            <a:prstDash val="solid"/>
          </a:ln>
        </p:spPr>
      </p:sp>
      <p:sp>
        <p:nvSpPr>
          <p:cNvPr id="13" name="Text 10"/>
          <p:cNvSpPr/>
          <p:nvPr/>
        </p:nvSpPr>
        <p:spPr>
          <a:xfrm>
            <a:off x="5441020" y="4597896"/>
            <a:ext cx="5729144" cy="249734"/>
          </a:xfrm>
          <a:prstGeom prst="rect">
            <a:avLst/>
          </a:prstGeom>
          <a:noFill/>
          <a:ln/>
        </p:spPr>
        <p:txBody>
          <a:bodyPr wrap="none" lIns="0" tIns="0" rIns="0" bIns="0" rtlCol="0" anchor="t"/>
          <a:lstStyle/>
          <a:p>
            <a:pPr>
              <a:lnSpc>
                <a:spcPct val="104000"/>
              </a:lnSpc>
            </a:pPr>
            <a:r>
              <a:rPr lang="en-US" sz="1550" dirty="0">
                <a:latin typeface="Montserrat"/>
              </a:rPr>
              <a:t>Enfoque</a:t>
            </a:r>
          </a:p>
        </p:txBody>
      </p:sp>
      <p:sp>
        <p:nvSpPr>
          <p:cNvPr id="14" name="Text 11"/>
          <p:cNvSpPr/>
          <p:nvPr/>
        </p:nvSpPr>
        <p:spPr>
          <a:xfrm>
            <a:off x="5441020" y="4943476"/>
            <a:ext cx="5729144" cy="511373"/>
          </a:xfrm>
          <a:prstGeom prst="rect">
            <a:avLst/>
          </a:prstGeom>
          <a:noFill/>
          <a:ln/>
        </p:spPr>
        <p:txBody>
          <a:bodyPr wrap="square" lIns="0" tIns="0" rIns="0" bIns="0" rtlCol="0" anchor="t">
            <a:normAutofit/>
          </a:bodyPr>
          <a:lstStyle/>
          <a:p>
            <a:pPr>
              <a:lnSpc>
                <a:spcPct val="133000"/>
              </a:lnSpc>
            </a:pPr>
            <a:r>
              <a:rPr lang="en-US" sz="1250" dirty="0">
                <a:latin typeface="Montserrat"/>
              </a:rPr>
              <a:t>Combina fundamentos teóricos sólidos con laboratorios prácticos que desarrollan criterio analítico y autonomía investigadora.</a:t>
            </a:r>
          </a:p>
        </p:txBody>
      </p:sp>
      <p:pic>
        <p:nvPicPr>
          <p:cNvPr id="15" name="Imagen 14">
            <a:extLst>
              <a:ext uri="{FF2B5EF4-FFF2-40B4-BE49-F238E27FC236}">
                <a16:creationId xmlns:a16="http://schemas.microsoft.com/office/drawing/2014/main" id="{A478B04F-572C-AF9B-FBEC-1C6EA61F04B6}"/>
              </a:ext>
            </a:extLst>
          </p:cNvPr>
          <p:cNvPicPr>
            <a:picLocks noChangeAspect="1"/>
          </p:cNvPicPr>
          <p:nvPr/>
        </p:nvPicPr>
        <p:blipFill>
          <a:blip r:embed="rId4"/>
          <a:stretch>
            <a:fillRect/>
          </a:stretch>
        </p:blipFill>
        <p:spPr>
          <a:xfrm>
            <a:off x="0" y="-21890"/>
            <a:ext cx="12192000" cy="6879891"/>
          </a:xfrm>
          <a:prstGeom prst="rect">
            <a:avLst/>
          </a:prstGeom>
        </p:spPr>
      </p:pic>
      <p:sp>
        <p:nvSpPr>
          <p:cNvPr id="17" name="Shape 4">
            <a:extLst>
              <a:ext uri="{FF2B5EF4-FFF2-40B4-BE49-F238E27FC236}">
                <a16:creationId xmlns:a16="http://schemas.microsoft.com/office/drawing/2014/main" id="{F9F8CD91-3EB0-3505-1123-0ABE8AAF20EA}"/>
              </a:ext>
            </a:extLst>
          </p:cNvPr>
          <p:cNvSpPr/>
          <p:nvPr/>
        </p:nvSpPr>
        <p:spPr>
          <a:xfrm>
            <a:off x="2203978" y="4492961"/>
            <a:ext cx="2587453" cy="1394212"/>
          </a:xfrm>
          <a:prstGeom prst="roundRect">
            <a:avLst>
              <a:gd name="adj" fmla="val 1691"/>
            </a:avLst>
          </a:prstGeom>
          <a:solidFill>
            <a:schemeClr val="bg1"/>
          </a:solidFill>
          <a:ln w="38100">
            <a:solidFill>
              <a:srgbClr val="000156"/>
            </a:solidFill>
            <a:prstDash val="sysDot"/>
          </a:ln>
        </p:spPr>
        <p:txBody>
          <a:bodyPr/>
          <a:lstStyle/>
          <a:p>
            <a:endParaRPr lang="es-PE" sz="2400" dirty="0">
              <a:latin typeface="Montserrat"/>
            </a:endParaRPr>
          </a:p>
        </p:txBody>
      </p:sp>
      <p:sp>
        <p:nvSpPr>
          <p:cNvPr id="18" name="Text 12">
            <a:extLst>
              <a:ext uri="{FF2B5EF4-FFF2-40B4-BE49-F238E27FC236}">
                <a16:creationId xmlns:a16="http://schemas.microsoft.com/office/drawing/2014/main" id="{943B41A7-1693-2AEC-4E89-25DD1F82D67B}"/>
              </a:ext>
            </a:extLst>
          </p:cNvPr>
          <p:cNvSpPr/>
          <p:nvPr/>
        </p:nvSpPr>
        <p:spPr>
          <a:xfrm>
            <a:off x="2297412" y="5003660"/>
            <a:ext cx="2317121" cy="883513"/>
          </a:xfrm>
          <a:prstGeom prst="rect">
            <a:avLst/>
          </a:prstGeom>
          <a:noFill/>
          <a:ln/>
        </p:spPr>
        <p:txBody>
          <a:bodyPr wrap="none" lIns="0" tIns="0" rIns="0" bIns="0" rtlCol="0" anchor="t"/>
          <a:lstStyle/>
          <a:p>
            <a:pPr>
              <a:lnSpc>
                <a:spcPct val="133000"/>
              </a:lnSpc>
            </a:pPr>
            <a:r>
              <a:rPr lang="en-US" sz="1200" dirty="0">
                <a:latin typeface="Montserrat"/>
              </a:rPr>
              <a:t>Python · R · SQL · React · </a:t>
            </a:r>
          </a:p>
          <a:p>
            <a:pPr>
              <a:lnSpc>
                <a:spcPct val="133000"/>
              </a:lnSpc>
            </a:pPr>
            <a:r>
              <a:rPr lang="en-US" sz="1200" dirty="0">
                <a:latin typeface="Montserrat"/>
              </a:rPr>
              <a:t>TypeScript · </a:t>
            </a:r>
            <a:r>
              <a:rPr lang="en-US" sz="1200" dirty="0" err="1">
                <a:latin typeface="Montserrat"/>
              </a:rPr>
              <a:t>Supabase</a:t>
            </a:r>
            <a:r>
              <a:rPr lang="en-US" sz="1200" dirty="0">
                <a:latin typeface="Montserrat"/>
              </a:rPr>
              <a:t> · APIs </a:t>
            </a:r>
          </a:p>
          <a:p>
            <a:pPr>
              <a:lnSpc>
                <a:spcPct val="133000"/>
              </a:lnSpc>
            </a:pPr>
            <a:r>
              <a:rPr lang="en-US" sz="1200" dirty="0">
                <a:latin typeface="Montserrat"/>
              </a:rPr>
              <a:t>· LLMs · Git/GitHub</a:t>
            </a:r>
          </a:p>
        </p:txBody>
      </p:sp>
      <p:sp>
        <p:nvSpPr>
          <p:cNvPr id="19" name="Text 11">
            <a:extLst>
              <a:ext uri="{FF2B5EF4-FFF2-40B4-BE49-F238E27FC236}">
                <a16:creationId xmlns:a16="http://schemas.microsoft.com/office/drawing/2014/main" id="{40D22330-A528-9B3A-BC4C-A542DCA468EE}"/>
              </a:ext>
            </a:extLst>
          </p:cNvPr>
          <p:cNvSpPr/>
          <p:nvPr/>
        </p:nvSpPr>
        <p:spPr>
          <a:xfrm>
            <a:off x="2302130" y="4633485"/>
            <a:ext cx="1791994" cy="309991"/>
          </a:xfrm>
          <a:prstGeom prst="rect">
            <a:avLst/>
          </a:prstGeom>
          <a:noFill/>
          <a:ln/>
        </p:spPr>
        <p:txBody>
          <a:bodyPr wrap="none" lIns="0" tIns="0" rIns="0" bIns="0" rtlCol="0" anchor="t"/>
          <a:lstStyle/>
          <a:p>
            <a:pPr>
              <a:lnSpc>
                <a:spcPct val="104000"/>
              </a:lnSpc>
            </a:pPr>
            <a:r>
              <a:rPr lang="en-US" sz="1400" b="1" dirty="0">
                <a:latin typeface="Montserrat"/>
              </a:rPr>
              <a:t>Herramientas</a:t>
            </a:r>
            <a:endParaRPr lang="en-US" sz="1400" b="1" dirty="0">
              <a:latin typeface="Montserrat" panose="020B0604020202020204" charset="0"/>
            </a:endParaRPr>
          </a:p>
        </p:txBody>
      </p:sp>
      <p:sp>
        <p:nvSpPr>
          <p:cNvPr id="20" name="Rectángulo 19">
            <a:extLst>
              <a:ext uri="{FF2B5EF4-FFF2-40B4-BE49-F238E27FC236}">
                <a16:creationId xmlns:a16="http://schemas.microsoft.com/office/drawing/2014/main" id="{2EA0138F-2062-4DE2-47B9-6A5B9F66B869}"/>
              </a:ext>
            </a:extLst>
          </p:cNvPr>
          <p:cNvSpPr/>
          <p:nvPr/>
        </p:nvSpPr>
        <p:spPr>
          <a:xfrm>
            <a:off x="4798165" y="784623"/>
            <a:ext cx="6962647" cy="54483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1400">
              <a:latin typeface="Montserrat"/>
            </a:endParaRPr>
          </a:p>
        </p:txBody>
      </p:sp>
      <p:sp>
        <p:nvSpPr>
          <p:cNvPr id="16" name="CuadroTexto 15">
            <a:extLst>
              <a:ext uri="{FF2B5EF4-FFF2-40B4-BE49-F238E27FC236}">
                <a16:creationId xmlns:a16="http://schemas.microsoft.com/office/drawing/2014/main" id="{D605810E-BC40-7989-1C4C-3528A873D718}"/>
              </a:ext>
            </a:extLst>
          </p:cNvPr>
          <p:cNvSpPr txBox="1"/>
          <p:nvPr/>
        </p:nvSpPr>
        <p:spPr>
          <a:xfrm>
            <a:off x="4850374" y="624981"/>
            <a:ext cx="6319791" cy="5724644"/>
          </a:xfrm>
          <a:prstGeom prst="rect">
            <a:avLst/>
          </a:prstGeom>
          <a:solidFill>
            <a:schemeClr val="bg1"/>
          </a:solidFill>
        </p:spPr>
        <p:txBody>
          <a:bodyPr wrap="square" rtlCol="0">
            <a:spAutoFit/>
          </a:bodyPr>
          <a:lstStyle/>
          <a:p>
            <a:endParaRPr lang="es-MX" sz="1700" dirty="0">
              <a:latin typeface="Montserrat"/>
            </a:endParaRPr>
          </a:p>
          <a:p>
            <a:pPr algn="just"/>
            <a:r>
              <a:rPr lang="es-MX" sz="1500" dirty="0">
                <a:latin typeface="Montserrat"/>
              </a:rPr>
              <a:t>Docente especialista en Estadística Aplicada, Ciencia de Datos, Inteligencia Artificial y Analítica de Negocios, con más de 20 años de experiencia en educación superior y capacitación profesional. Cuenta con trayectoria en análisis de datos, Machine </a:t>
            </a:r>
            <a:r>
              <a:rPr lang="es-MX" sz="1500" dirty="0" err="1">
                <a:latin typeface="Montserrat"/>
              </a:rPr>
              <a:t>Learning</a:t>
            </a:r>
            <a:r>
              <a:rPr lang="es-MX" sz="1500" dirty="0">
                <a:latin typeface="Montserrat"/>
              </a:rPr>
              <a:t>, investigación aplicada y desarrollo de soluciones tecnológicas orientadas a la resolución de problemas reales.</a:t>
            </a:r>
          </a:p>
          <a:p>
            <a:endParaRPr lang="es-MX" sz="1500" dirty="0">
              <a:latin typeface="Montserrat"/>
            </a:endParaRPr>
          </a:p>
          <a:p>
            <a:pPr algn="just"/>
            <a:r>
              <a:rPr lang="es-MX" sz="1500" dirty="0">
                <a:latin typeface="Montserrat"/>
              </a:rPr>
              <a:t>Su experiencia integra herramientas como Python, R y SQL con tecnologías para el desarrollo de aplicaciones como </a:t>
            </a:r>
            <a:r>
              <a:rPr lang="es-MX" sz="1500" dirty="0" err="1">
                <a:latin typeface="Montserrat"/>
              </a:rPr>
              <a:t>React</a:t>
            </a:r>
            <a:r>
              <a:rPr lang="es-MX" sz="1500" dirty="0">
                <a:latin typeface="Montserrat"/>
              </a:rPr>
              <a:t>, </a:t>
            </a:r>
            <a:r>
              <a:rPr lang="es-MX" sz="1500" dirty="0" err="1">
                <a:latin typeface="Montserrat"/>
              </a:rPr>
              <a:t>TypeScript</a:t>
            </a:r>
            <a:r>
              <a:rPr lang="es-MX" sz="1500" dirty="0">
                <a:latin typeface="Montserrat"/>
              </a:rPr>
              <a:t>, </a:t>
            </a:r>
            <a:r>
              <a:rPr lang="es-MX" sz="1500" dirty="0" err="1">
                <a:latin typeface="Montserrat"/>
              </a:rPr>
              <a:t>Supabase</a:t>
            </a:r>
            <a:r>
              <a:rPr lang="es-MX" sz="1500" dirty="0">
                <a:latin typeface="Montserrat"/>
              </a:rPr>
              <a:t> y Git/GitHub, incorporando actualmente IA generativa, modelos de lenguaje (</a:t>
            </a:r>
            <a:r>
              <a:rPr lang="es-MX" sz="1500" dirty="0" err="1">
                <a:latin typeface="Montserrat"/>
              </a:rPr>
              <a:t>LLMs</a:t>
            </a:r>
            <a:r>
              <a:rPr lang="es-MX" sz="1500" dirty="0">
                <a:latin typeface="Montserrat"/>
              </a:rPr>
              <a:t>), </a:t>
            </a:r>
            <a:r>
              <a:rPr lang="es-MX" sz="1500" dirty="0" err="1">
                <a:latin typeface="Montserrat"/>
              </a:rPr>
              <a:t>APIs</a:t>
            </a:r>
            <a:r>
              <a:rPr lang="es-MX" sz="1500" dirty="0">
                <a:latin typeface="Montserrat"/>
              </a:rPr>
              <a:t> de inteligencia artificial y herramientas de desarrollo asistido por IA.</a:t>
            </a:r>
          </a:p>
          <a:p>
            <a:endParaRPr lang="es-MX" sz="1500" dirty="0">
              <a:latin typeface="Montserrat"/>
            </a:endParaRPr>
          </a:p>
          <a:p>
            <a:pPr algn="just"/>
            <a:r>
              <a:rPr lang="es-MX" sz="1500" dirty="0">
                <a:latin typeface="Montserrat"/>
              </a:rPr>
              <a:t>En su labor docente promueve un enfoque práctico basado en proyectos, integrando datos, programación, desarrollo Full </a:t>
            </a:r>
            <a:r>
              <a:rPr lang="es-MX" sz="1500" dirty="0" err="1">
                <a:latin typeface="Montserrat"/>
              </a:rPr>
              <a:t>Stack</a:t>
            </a:r>
            <a:r>
              <a:rPr lang="es-MX" sz="1500" dirty="0">
                <a:latin typeface="Montserrat"/>
              </a:rPr>
              <a:t> e Inteligencia Artificial para que los estudiantes puedan diseñar y construir soluciones funcionales. Actualmente desarrolla actividades de docencia, capacitación y asesoría en Ciencia de Datos, Analítica, Inteligencia Artificial y transformación digital.</a:t>
            </a:r>
          </a:p>
          <a:p>
            <a:endParaRPr lang="es-MX" sz="1700" dirty="0">
              <a:latin typeface="Montserrat"/>
            </a:endParaRPr>
          </a:p>
          <a:p>
            <a:endParaRPr lang="es-MX" sz="1700" dirty="0">
              <a:latin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gend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427292"/>
            <a:ext cx="10228277" cy="717486"/>
          </a:xfrm>
          <a:prstGeom prst="rect">
            <a:avLst/>
          </a:prstGeom>
          <a:noFill/>
        </p:spPr>
        <p:txBody>
          <a:bodyPr wrap="square">
            <a:spAutoFit/>
          </a:bodyPr>
          <a:lstStyle/>
          <a:p>
            <a:pPr algn="ctr"/>
            <a:r>
              <a:rPr sz="4700" b="1">
                <a:solidFill>
                  <a:srgbClr val="FFFFFF"/>
                </a:solidFill>
                <a:latin typeface="Calibri"/>
              </a:rPr>
              <a:t>OBJETIVOS DE LA SESIÓN</a:t>
            </a:r>
          </a:p>
        </p:txBody>
      </p:sp>
      <p:sp>
        <p:nvSpPr>
          <p:cNvPr id="4" name="Rounded Rectangle 3"/>
          <p:cNvSpPr/>
          <p:nvPr/>
        </p:nvSpPr>
        <p:spPr>
          <a:xfrm>
            <a:off x="822960" y="1691640"/>
            <a:ext cx="10515600" cy="822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 y="1828800"/>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691640" y="1691640"/>
            <a:ext cx="3017520" cy="82296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Responsabilidad</a:t>
            </a:r>
          </a:p>
        </p:txBody>
      </p:sp>
      <p:sp>
        <p:nvSpPr>
          <p:cNvPr id="7" name="TextBox 6"/>
          <p:cNvSpPr txBox="1"/>
          <p:nvPr/>
        </p:nvSpPr>
        <p:spPr>
          <a:xfrm>
            <a:off x="4709160" y="1691640"/>
            <a:ext cx="6492240" cy="82296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Reconocer el rol del investigador como responsable final de las decisiones apoyadas en IA.</a:t>
            </a:r>
          </a:p>
        </p:txBody>
      </p:sp>
      <p:sp>
        <p:nvSpPr>
          <p:cNvPr id="8" name="Rounded Rectangle 7"/>
          <p:cNvSpPr/>
          <p:nvPr/>
        </p:nvSpPr>
        <p:spPr>
          <a:xfrm>
            <a:off x="822960" y="2624328"/>
            <a:ext cx="10515600" cy="822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761488"/>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0" name="TextBox 9"/>
          <p:cNvSpPr txBox="1"/>
          <p:nvPr/>
        </p:nvSpPr>
        <p:spPr>
          <a:xfrm>
            <a:off x="1691640" y="2624328"/>
            <a:ext cx="3017520" cy="82296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Riesgos y oportunidades</a:t>
            </a:r>
          </a:p>
        </p:txBody>
      </p:sp>
      <p:sp>
        <p:nvSpPr>
          <p:cNvPr id="11" name="TextBox 10"/>
          <p:cNvSpPr txBox="1"/>
          <p:nvPr/>
        </p:nvSpPr>
        <p:spPr>
          <a:xfrm>
            <a:off x="4709160" y="2624328"/>
            <a:ext cx="6492240" cy="82296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Identificar qué aporta y qué amenaza la IA en cada etapa del proceso investigativo.</a:t>
            </a:r>
          </a:p>
        </p:txBody>
      </p:sp>
      <p:sp>
        <p:nvSpPr>
          <p:cNvPr id="12" name="Rounded Rectangle 11"/>
          <p:cNvSpPr/>
          <p:nvPr/>
        </p:nvSpPr>
        <p:spPr>
          <a:xfrm>
            <a:off x="822960" y="3557016"/>
            <a:ext cx="10515600" cy="822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0120" y="3694176"/>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4" name="TextBox 13"/>
          <p:cNvSpPr txBox="1"/>
          <p:nvPr/>
        </p:nvSpPr>
        <p:spPr>
          <a:xfrm>
            <a:off x="1691640" y="3557016"/>
            <a:ext cx="3017520" cy="82296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Detección de fallas</a:t>
            </a:r>
          </a:p>
        </p:txBody>
      </p:sp>
      <p:sp>
        <p:nvSpPr>
          <p:cNvPr id="15" name="TextBox 14"/>
          <p:cNvSpPr txBox="1"/>
          <p:nvPr/>
        </p:nvSpPr>
        <p:spPr>
          <a:xfrm>
            <a:off x="4709160" y="3557016"/>
            <a:ext cx="6492240" cy="82296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Distinguir alucinaciones, sesgos y errores en una respuesta generada por IA.</a:t>
            </a:r>
          </a:p>
        </p:txBody>
      </p:sp>
      <p:sp>
        <p:nvSpPr>
          <p:cNvPr id="16" name="Rounded Rectangle 15"/>
          <p:cNvSpPr/>
          <p:nvPr/>
        </p:nvSpPr>
        <p:spPr>
          <a:xfrm>
            <a:off x="822960" y="4489704"/>
            <a:ext cx="10515600" cy="822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0120" y="4626864"/>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8" name="TextBox 17"/>
          <p:cNvSpPr txBox="1"/>
          <p:nvPr/>
        </p:nvSpPr>
        <p:spPr>
          <a:xfrm>
            <a:off x="1691640" y="4489704"/>
            <a:ext cx="3017520" cy="82296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Ética y privacidad</a:t>
            </a:r>
          </a:p>
        </p:txBody>
      </p:sp>
      <p:sp>
        <p:nvSpPr>
          <p:cNvPr id="19" name="TextBox 18"/>
          <p:cNvSpPr txBox="1"/>
          <p:nvPr/>
        </p:nvSpPr>
        <p:spPr>
          <a:xfrm>
            <a:off x="4709160" y="4489704"/>
            <a:ext cx="6492240" cy="82296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Aplicar criterios éticos y de privacidad al usar IA en el trabajo académico.</a:t>
            </a:r>
          </a:p>
        </p:txBody>
      </p:sp>
      <p:sp>
        <p:nvSpPr>
          <p:cNvPr id="20" name="Rounded Rectangle 19"/>
          <p:cNvSpPr/>
          <p:nvPr/>
        </p:nvSpPr>
        <p:spPr>
          <a:xfrm>
            <a:off x="822960" y="5422392"/>
            <a:ext cx="10515600" cy="822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0120" y="5559552"/>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2" name="TextBox 21"/>
          <p:cNvSpPr txBox="1"/>
          <p:nvPr/>
        </p:nvSpPr>
        <p:spPr>
          <a:xfrm>
            <a:off x="1691640" y="5422392"/>
            <a:ext cx="3017520" cy="82296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Autoría y transparencia</a:t>
            </a:r>
          </a:p>
        </p:txBody>
      </p:sp>
      <p:sp>
        <p:nvSpPr>
          <p:cNvPr id="23" name="TextBox 22"/>
          <p:cNvSpPr txBox="1"/>
          <p:nvPr/>
        </p:nvSpPr>
        <p:spPr>
          <a:xfrm>
            <a:off x="4709160" y="5422392"/>
            <a:ext cx="6492240" cy="82296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Redactar una declaración de uso de IA que preserve la autoría del investigador.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gend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427292"/>
            <a:ext cx="10228277" cy="717486"/>
          </a:xfrm>
          <a:prstGeom prst="rect">
            <a:avLst/>
          </a:prstGeom>
          <a:noFill/>
        </p:spPr>
        <p:txBody>
          <a:bodyPr wrap="square">
            <a:spAutoFit/>
          </a:bodyPr>
          <a:lstStyle/>
          <a:p>
            <a:pPr algn="ctr"/>
            <a:r>
              <a:rPr sz="4700" b="1">
                <a:solidFill>
                  <a:srgbClr val="FFFFFF"/>
                </a:solidFill>
                <a:latin typeface="Calibri"/>
              </a:rPr>
              <a:t>RUTA DE APRENDIZAJE</a:t>
            </a:r>
          </a:p>
        </p:txBody>
      </p:sp>
      <p:sp>
        <p:nvSpPr>
          <p:cNvPr id="4" name="Rounded Rectangle 3"/>
          <p:cNvSpPr/>
          <p:nvPr/>
        </p:nvSpPr>
        <p:spPr>
          <a:xfrm>
            <a:off x="822960" y="1645920"/>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1. El investigador como director de la IA</a:t>
            </a:r>
          </a:p>
        </p:txBody>
      </p:sp>
      <p:sp>
        <p:nvSpPr>
          <p:cNvPr id="6" name="TextBox 5"/>
          <p:cNvSpPr txBox="1"/>
          <p:nvPr/>
        </p:nvSpPr>
        <p:spPr>
          <a:xfrm>
            <a:off x="6126480" y="1645920"/>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Qué decide la persona y qué solo propone la herramienta.</a:t>
            </a:r>
          </a:p>
        </p:txBody>
      </p:sp>
      <p:sp>
        <p:nvSpPr>
          <p:cNvPr id="7" name="Rounded Rectangle 6"/>
          <p:cNvSpPr/>
          <p:nvPr/>
        </p:nvSpPr>
        <p:spPr>
          <a:xfrm>
            <a:off x="822960" y="2423160"/>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423160"/>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2. Riesgos y oportunidades</a:t>
            </a:r>
          </a:p>
        </p:txBody>
      </p:sp>
      <p:sp>
        <p:nvSpPr>
          <p:cNvPr id="9" name="TextBox 8"/>
          <p:cNvSpPr txBox="1"/>
          <p:nvPr/>
        </p:nvSpPr>
        <p:spPr>
          <a:xfrm>
            <a:off x="6126480" y="2423160"/>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Dónde ayuda la IA y dónde exige auditoría.</a:t>
            </a:r>
          </a:p>
        </p:txBody>
      </p:sp>
      <p:sp>
        <p:nvSpPr>
          <p:cNvPr id="10" name="Rounded Rectangle 9"/>
          <p:cNvSpPr/>
          <p:nvPr/>
        </p:nvSpPr>
        <p:spPr>
          <a:xfrm>
            <a:off x="822960" y="3200400"/>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200400"/>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3. Sesgos, errores y alucinaciones</a:t>
            </a:r>
          </a:p>
        </p:txBody>
      </p:sp>
      <p:sp>
        <p:nvSpPr>
          <p:cNvPr id="12" name="TextBox 11"/>
          <p:cNvSpPr txBox="1"/>
          <p:nvPr/>
        </p:nvSpPr>
        <p:spPr>
          <a:xfrm>
            <a:off x="6126480" y="3200400"/>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Cómo fallan las respuestas y cómo detectarlo.</a:t>
            </a:r>
          </a:p>
        </p:txBody>
      </p:sp>
      <p:sp>
        <p:nvSpPr>
          <p:cNvPr id="13" name="Rounded Rectangle 12"/>
          <p:cNvSpPr/>
          <p:nvPr/>
        </p:nvSpPr>
        <p:spPr>
          <a:xfrm>
            <a:off x="822960" y="3977639"/>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977639"/>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4. Ética y límites en la academia</a:t>
            </a:r>
          </a:p>
        </p:txBody>
      </p:sp>
      <p:sp>
        <p:nvSpPr>
          <p:cNvPr id="15" name="TextBox 14"/>
          <p:cNvSpPr txBox="1"/>
          <p:nvPr/>
        </p:nvSpPr>
        <p:spPr>
          <a:xfrm>
            <a:off x="6126480" y="3977639"/>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Qué datos no se comparten con una IA gratuita.</a:t>
            </a:r>
          </a:p>
        </p:txBody>
      </p:sp>
      <p:sp>
        <p:nvSpPr>
          <p:cNvPr id="16" name="Rounded Rectangle 15"/>
          <p:cNvSpPr/>
          <p:nvPr/>
        </p:nvSpPr>
        <p:spPr>
          <a:xfrm>
            <a:off x="822960" y="4754879"/>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754879"/>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5. Autoría y declaración de uso</a:t>
            </a:r>
          </a:p>
        </p:txBody>
      </p:sp>
      <p:sp>
        <p:nvSpPr>
          <p:cNvPr id="18" name="TextBox 17"/>
          <p:cNvSpPr txBox="1"/>
          <p:nvPr/>
        </p:nvSpPr>
        <p:spPr>
          <a:xfrm>
            <a:off x="6126480" y="4754879"/>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Cómo declarar el uso de IA con herramienta, tarea y verificación.</a:t>
            </a:r>
          </a:p>
        </p:txBody>
      </p:sp>
      <p:sp>
        <p:nvSpPr>
          <p:cNvPr id="19" name="Rounded Rectangle 18"/>
          <p:cNvSpPr/>
          <p:nvPr/>
        </p:nvSpPr>
        <p:spPr>
          <a:xfrm>
            <a:off x="822960" y="5532119"/>
            <a:ext cx="10515600" cy="685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532119"/>
            <a:ext cx="5120640" cy="685800"/>
          </a:xfrm>
          <a:prstGeom prst="rect">
            <a:avLst/>
          </a:prstGeom>
          <a:noFill/>
        </p:spPr>
        <p:txBody>
          <a:bodyPr wrap="square" lIns="45720" rIns="45720" tIns="27432" bIns="27432" anchor="ctr">
            <a:spAutoFit/>
          </a:bodyPr>
          <a:lstStyle/>
          <a:p>
            <a:pPr algn="l">
              <a:spcAft>
                <a:spcPts val="400"/>
              </a:spcAft>
            </a:pPr>
            <a:r>
              <a:rPr sz="1800" b="1" i="0">
                <a:solidFill>
                  <a:srgbClr val="2B4EB4"/>
                </a:solidFill>
                <a:latin typeface="Calibri"/>
              </a:rPr>
              <a:t>6. Práctica: Laboratorio 03</a:t>
            </a:r>
          </a:p>
        </p:txBody>
      </p:sp>
      <p:sp>
        <p:nvSpPr>
          <p:cNvPr id="21" name="TextBox 20"/>
          <p:cNvSpPr txBox="1"/>
          <p:nvPr/>
        </p:nvSpPr>
        <p:spPr>
          <a:xfrm>
            <a:off x="6126480" y="5532119"/>
            <a:ext cx="5120640" cy="68580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Auditoría guiada de una respuesta y caso autónomo (120 min).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vider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2676125"/>
            <a:ext cx="437840" cy="1999910"/>
          </a:xfrm>
          <a:prstGeom prst="rect">
            <a:avLst/>
          </a:prstGeom>
          <a:noFill/>
        </p:spPr>
        <p:txBody>
          <a:bodyPr wrap="square">
            <a:spAutoFit/>
          </a:bodyPr>
          <a:lstStyle/>
          <a:p>
            <a:pPr algn="l">
              <a:lnSpc>
                <a:spcPct val="115000"/>
              </a:lnSpc>
            </a:pPr>
            <a:r>
              <a:rPr sz="7200" b="1" i="0">
                <a:solidFill>
                  <a:srgbClr val="FFFFFF"/>
                </a:solidFill>
                <a:latin typeface="Calibri"/>
              </a:rPr>
              <a:t>1</a:t>
            </a:r>
          </a:p>
        </p:txBody>
      </p:sp>
      <p:sp>
        <p:nvSpPr>
          <p:cNvPr id="4" name="TextBox 3"/>
          <p:cNvSpPr txBox="1"/>
          <p:nvPr/>
        </p:nvSpPr>
        <p:spPr>
          <a:xfrm>
            <a:off x="982912" y="4737409"/>
            <a:ext cx="10346277" cy="702221"/>
          </a:xfrm>
          <a:prstGeom prst="rect">
            <a:avLst/>
          </a:prstGeom>
          <a:noFill/>
        </p:spPr>
        <p:txBody>
          <a:bodyPr wrap="square">
            <a:spAutoFit/>
          </a:bodyPr>
          <a:lstStyle/>
          <a:p>
            <a:pPr algn="l">
              <a:lnSpc>
                <a:spcPct val="115000"/>
              </a:lnSpc>
            </a:pPr>
            <a:r>
              <a:rPr sz="2600" b="0" i="0">
                <a:solidFill>
                  <a:srgbClr val="FFFFFF"/>
                </a:solidFill>
                <a:latin typeface="Calibri"/>
              </a:rPr>
              <a:t>EL INVESTIGADOR COMO DIRECTOR DE LA IA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Tres roles en una investigación con IA</a:t>
            </a:r>
          </a:p>
        </p:txBody>
      </p:sp>
      <p:sp>
        <p:nvSpPr>
          <p:cNvPr id="4" name="Rounded Rectangle 3"/>
          <p:cNvSpPr/>
          <p:nvPr/>
        </p:nvSpPr>
        <p:spPr>
          <a:xfrm>
            <a:off x="6126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La IA</a:t>
            </a:r>
          </a:p>
          <a:p>
            <a:pPr algn="l">
              <a:spcAft>
                <a:spcPts val="400"/>
              </a:spcAft>
            </a:pPr>
            <a:r>
              <a:rPr sz="1800" b="0" i="0">
                <a:solidFill>
                  <a:srgbClr val="011754"/>
                </a:solidFill>
                <a:latin typeface="Calibri"/>
              </a:rPr>
              <a:t>Propone, resume, compara y redacta borradores a gran velocidad, pero sin entender el contexto de tu estudio.</a:t>
            </a:r>
          </a:p>
        </p:txBody>
      </p:sp>
      <p:sp>
        <p:nvSpPr>
          <p:cNvPr id="6" name="Rounded Rectangle 5"/>
          <p:cNvSpPr/>
          <p:nvPr/>
        </p:nvSpPr>
        <p:spPr>
          <a:xfrm>
            <a:off x="43464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93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El investigador</a:t>
            </a:r>
          </a:p>
          <a:p>
            <a:pPr algn="l">
              <a:spcAft>
                <a:spcPts val="400"/>
              </a:spcAft>
            </a:pPr>
            <a:r>
              <a:rPr sz="1800" b="0" i="0">
                <a:solidFill>
                  <a:srgbClr val="011754"/>
                </a:solidFill>
                <a:latin typeface="Calibri"/>
              </a:rPr>
              <a:t>Evalúa, verifica, interpreta y decide. Contrasta cada dato con la fuente y asume el criterio académico.</a:t>
            </a:r>
          </a:p>
        </p:txBody>
      </p:sp>
      <p:sp>
        <p:nvSpPr>
          <p:cNvPr id="8" name="Rounded Rectangle 7"/>
          <p:cNvSpPr/>
          <p:nvPr/>
        </p:nvSpPr>
        <p:spPr>
          <a:xfrm>
            <a:off x="80802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31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La decisión final</a:t>
            </a:r>
          </a:p>
          <a:p>
            <a:pPr algn="l">
              <a:spcAft>
                <a:spcPts val="400"/>
              </a:spcAft>
            </a:pPr>
            <a:r>
              <a:rPr sz="1800" b="0" i="0">
                <a:solidFill>
                  <a:srgbClr val="011754"/>
                </a:solidFill>
                <a:latin typeface="Calibri"/>
              </a:rPr>
              <a:t>Siempre es responsabilidad humana, nunca de la herramienta: quien firma el trabajo responde por él.</a:t>
            </a:r>
          </a:p>
        </p:txBody>
      </p:sp>
      <p:sp>
        <p:nvSpPr>
          <p:cNvPr id="10" name="Rounded Rectangle 9"/>
          <p:cNvSpPr/>
          <p:nvPr/>
        </p:nvSpPr>
        <p:spPr>
          <a:xfrm>
            <a:off x="612648" y="4937760"/>
            <a:ext cx="10972800" cy="100584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937760"/>
            <a:ext cx="10515600" cy="100584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La IA apoya el proceso; no lo reemplaza. Si algo falla en la tesis, responde el investigador, no el chatbot.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¿Qué decisiones sigue tomando el investigador?</a:t>
            </a:r>
          </a:p>
        </p:txBody>
      </p:sp>
      <p:sp>
        <p:nvSpPr>
          <p:cNvPr id="4" name="Rounded Rectangle 3"/>
          <p:cNvSpPr/>
          <p:nvPr/>
        </p:nvSpPr>
        <p:spPr>
          <a:xfrm>
            <a:off x="61264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Qué preguntar</a:t>
            </a:r>
          </a:p>
          <a:p>
            <a:pPr algn="l">
              <a:spcAft>
                <a:spcPts val="400"/>
              </a:spcAft>
            </a:pPr>
            <a:r>
              <a:rPr sz="1800" b="0" i="0">
                <a:solidFill>
                  <a:srgbClr val="011754"/>
                </a:solidFill>
                <a:latin typeface="Calibri"/>
              </a:rPr>
              <a:t>Formular la pregunta de investigación y delimitar el problema. La IA responde lo que se le pide; no sabe qué vale la pena preguntar.</a:t>
            </a:r>
          </a:p>
        </p:txBody>
      </p:sp>
      <p:sp>
        <p:nvSpPr>
          <p:cNvPr id="6" name="Rounded Rectangle 5"/>
          <p:cNvSpPr/>
          <p:nvPr/>
        </p:nvSpPr>
        <p:spPr>
          <a:xfrm>
            <a:off x="619048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336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Qué aceptar</a:t>
            </a:r>
          </a:p>
          <a:p>
            <a:pPr algn="l">
              <a:spcAft>
                <a:spcPts val="400"/>
              </a:spcAft>
            </a:pPr>
            <a:r>
              <a:rPr sz="1800" b="0" i="0">
                <a:solidFill>
                  <a:srgbClr val="011754"/>
                </a:solidFill>
                <a:latin typeface="Calibri"/>
              </a:rPr>
              <a:t>Evaluar si una respuesta es pertinente y suficiente antes de usarla como evidencia o antecedente.</a:t>
            </a:r>
          </a:p>
        </p:txBody>
      </p:sp>
      <p:sp>
        <p:nvSpPr>
          <p:cNvPr id="8" name="Rounded Rectangle 7"/>
          <p:cNvSpPr/>
          <p:nvPr/>
        </p:nvSpPr>
        <p:spPr>
          <a:xfrm>
            <a:off x="61264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Qué verificar</a:t>
            </a:r>
          </a:p>
          <a:p>
            <a:pPr algn="l">
              <a:spcAft>
                <a:spcPts val="400"/>
              </a:spcAft>
            </a:pPr>
            <a:r>
              <a:rPr sz="1800" b="0" i="0">
                <a:solidFill>
                  <a:srgbClr val="011754"/>
                </a:solidFill>
                <a:latin typeface="Calibri"/>
              </a:rPr>
              <a:t>Comprobar datos, cifras y referencias en la fuente original: título, autor, año, revista y DOI.</a:t>
            </a:r>
          </a:p>
        </p:txBody>
      </p:sp>
      <p:sp>
        <p:nvSpPr>
          <p:cNvPr id="10" name="Rounded Rectangle 9"/>
          <p:cNvSpPr/>
          <p:nvPr/>
        </p:nvSpPr>
        <p:spPr>
          <a:xfrm>
            <a:off x="619048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Qué declarar</a:t>
            </a:r>
          </a:p>
          <a:p>
            <a:pPr algn="l">
              <a:spcAft>
                <a:spcPts val="400"/>
              </a:spcAft>
            </a:pPr>
            <a:r>
              <a:rPr sz="1800" b="0" i="0">
                <a:solidFill>
                  <a:srgbClr val="011754"/>
                </a:solidFill>
                <a:latin typeface="Calibri"/>
              </a:rPr>
              <a:t>Registrar cómo se usó la IA en el trabajo final: herramienta, tarea y verificación realizada.</a:t>
            </a:r>
          </a:p>
        </p:txBody>
      </p:sp>
      <p:sp>
        <p:nvSpPr>
          <p:cNvPr id="12" name="Rounded Rectangle 11"/>
          <p:cNvSpPr/>
          <p:nvPr/>
        </p:nvSpPr>
        <p:spPr>
          <a:xfrm>
            <a:off x="612648" y="5486400"/>
            <a:ext cx="10972800" cy="6400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486400"/>
            <a:ext cx="10515600" cy="64008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Cuatro decisiones, un solo responsable: el investigador.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¿Para qué puede apoyar la IA al investigador?</a:t>
            </a:r>
          </a:p>
        </p:txBody>
      </p:sp>
      <p:sp>
        <p:nvSpPr>
          <p:cNvPr id="4" name="Rounded Rectangle 3"/>
          <p:cNvSpPr/>
          <p:nvPr/>
        </p:nvSpPr>
        <p:spPr>
          <a:xfrm>
            <a:off x="61264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Explorar</a:t>
            </a:r>
          </a:p>
          <a:p>
            <a:pPr algn="l">
              <a:spcAft>
                <a:spcPts val="400"/>
              </a:spcAft>
            </a:pPr>
            <a:r>
              <a:rPr sz="1800" b="0" i="0">
                <a:solidFill>
                  <a:srgbClr val="011754"/>
                </a:solidFill>
                <a:latin typeface="Calibri"/>
              </a:rPr>
              <a:t>Identificar ángulos o enfoques posibles de un problema y términos de búsqueda que aún no consideraste.</a:t>
            </a:r>
          </a:p>
        </p:txBody>
      </p:sp>
      <p:sp>
        <p:nvSpPr>
          <p:cNvPr id="6" name="Rounded Rectangle 5"/>
          <p:cNvSpPr/>
          <p:nvPr/>
        </p:nvSpPr>
        <p:spPr>
          <a:xfrm>
            <a:off x="619048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336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Organizar</a:t>
            </a:r>
          </a:p>
          <a:p>
            <a:pPr algn="l">
              <a:spcAft>
                <a:spcPts val="400"/>
              </a:spcAft>
            </a:pPr>
            <a:r>
              <a:rPr sz="1800" b="0" i="0">
                <a:solidFill>
                  <a:srgbClr val="011754"/>
                </a:solidFill>
                <a:latin typeface="Calibri"/>
              </a:rPr>
              <a:t>Estructurar ideas, antecedentes o resultados que ya obtuviste, por ejemplo en un esquema o una matriz.</a:t>
            </a:r>
          </a:p>
        </p:txBody>
      </p:sp>
      <p:sp>
        <p:nvSpPr>
          <p:cNvPr id="8" name="Rounded Rectangle 7"/>
          <p:cNvSpPr/>
          <p:nvPr/>
        </p:nvSpPr>
        <p:spPr>
          <a:xfrm>
            <a:off x="61264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Redactar borradores</a:t>
            </a:r>
          </a:p>
          <a:p>
            <a:pPr algn="l">
              <a:spcAft>
                <a:spcPts val="400"/>
              </a:spcAft>
            </a:pPr>
            <a:r>
              <a:rPr sz="1800" b="0" i="0">
                <a:solidFill>
                  <a:srgbClr val="011754"/>
                </a:solidFill>
                <a:latin typeface="Calibri"/>
              </a:rPr>
              <a:t>Proponer una primera versión de un texto o resumen que luego revisas, corriges y reescribes.</a:t>
            </a:r>
          </a:p>
        </p:txBody>
      </p:sp>
      <p:sp>
        <p:nvSpPr>
          <p:cNvPr id="10" name="Rounded Rectangle 9"/>
          <p:cNvSpPr/>
          <p:nvPr/>
        </p:nvSpPr>
        <p:spPr>
          <a:xfrm>
            <a:off x="619048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Comparar</a:t>
            </a:r>
          </a:p>
          <a:p>
            <a:pPr algn="l">
              <a:spcAft>
                <a:spcPts val="400"/>
              </a:spcAft>
            </a:pPr>
            <a:r>
              <a:rPr sz="1800" b="0" i="0">
                <a:solidFill>
                  <a:srgbClr val="011754"/>
                </a:solidFill>
                <a:latin typeface="Calibri"/>
              </a:rPr>
              <a:t>Contrastar alternativas o enfoques que el investigador ya reunió, señalando coincidencias y diferencias.</a:t>
            </a:r>
          </a:p>
        </p:txBody>
      </p:sp>
      <p:sp>
        <p:nvSpPr>
          <p:cNvPr id="12" name="Rounded Rectangle 11"/>
          <p:cNvSpPr/>
          <p:nvPr/>
        </p:nvSpPr>
        <p:spPr>
          <a:xfrm>
            <a:off x="612648" y="5486400"/>
            <a:ext cx="10972800" cy="6400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486400"/>
            <a:ext cx="10515600" cy="64008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Ninguna de estas tareas reemplaza el juicio del investigador.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¿Por qué la responsabilidad no puede delegarse?</a:t>
            </a:r>
          </a:p>
        </p:txBody>
      </p:sp>
      <p:sp>
        <p:nvSpPr>
          <p:cNvPr id="4" name="Rounded Rectangle 3"/>
          <p:cNvSpPr/>
          <p:nvPr/>
        </p:nvSpPr>
        <p:spPr>
          <a:xfrm>
            <a:off x="612648" y="1600200"/>
            <a:ext cx="10972800" cy="137160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424160" cy="1371600"/>
          </a:xfrm>
          <a:prstGeom prst="rect">
            <a:avLst/>
          </a:prstGeom>
          <a:noFill/>
        </p:spPr>
        <p:txBody>
          <a:bodyPr wrap="square" lIns="45720" rIns="45720" tIns="27432" bIns="27432" anchor="ctr">
            <a:spAutoFit/>
          </a:bodyPr>
          <a:lstStyle/>
          <a:p>
            <a:pPr algn="l">
              <a:spcAft>
                <a:spcPts val="400"/>
              </a:spcAft>
            </a:pPr>
            <a:r>
              <a:rPr sz="1800" b="0" i="0">
                <a:solidFill>
                  <a:srgbClr val="FFFFFF"/>
                </a:solidFill>
                <a:latin typeface="Calibri"/>
              </a:rPr>
              <a:t>Un modelo de lenguaje genera texto estimando qué secuencia de palabras es más probable, no evaluando si esa secuencia es correcta, ética o institucionalmente adecuada. Esa evaluación sigue siendo tarea del investigador.</a:t>
            </a:r>
          </a:p>
        </p:txBody>
      </p:sp>
      <p:sp>
        <p:nvSpPr>
          <p:cNvPr id="6" name="Rounded Rectangle 5"/>
          <p:cNvSpPr/>
          <p:nvPr/>
        </p:nvSpPr>
        <p:spPr>
          <a:xfrm>
            <a:off x="612648" y="3200400"/>
            <a:ext cx="3505200" cy="23774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310128"/>
            <a:ext cx="3139440" cy="21579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Genera, no certifica</a:t>
            </a:r>
          </a:p>
          <a:p>
            <a:pPr algn="l">
              <a:spcAft>
                <a:spcPts val="400"/>
              </a:spcAft>
            </a:pPr>
            <a:r>
              <a:rPr sz="1800" b="0" i="0">
                <a:solidFill>
                  <a:srgbClr val="011754"/>
                </a:solidFill>
                <a:latin typeface="Calibri"/>
              </a:rPr>
              <a:t>Produce una respuesta fluida sin garantizar que sea verdadera.</a:t>
            </a:r>
          </a:p>
        </p:txBody>
      </p:sp>
      <p:sp>
        <p:nvSpPr>
          <p:cNvPr id="8" name="Rounded Rectangle 7"/>
          <p:cNvSpPr/>
          <p:nvPr/>
        </p:nvSpPr>
        <p:spPr>
          <a:xfrm>
            <a:off x="4346448" y="3200400"/>
            <a:ext cx="3505200" cy="23774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9328" y="3310128"/>
            <a:ext cx="3139440" cy="21579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No conoce el contexto</a:t>
            </a:r>
          </a:p>
          <a:p>
            <a:pPr algn="l">
              <a:spcAft>
                <a:spcPts val="400"/>
              </a:spcAft>
            </a:pPr>
            <a:r>
              <a:rPr sz="1800" b="0" i="0">
                <a:solidFill>
                  <a:srgbClr val="011754"/>
                </a:solidFill>
                <a:latin typeface="Calibri"/>
              </a:rPr>
              <a:t>Ignora las normas, el comité de ética o la política de la revista.</a:t>
            </a:r>
          </a:p>
        </p:txBody>
      </p:sp>
      <p:sp>
        <p:nvSpPr>
          <p:cNvPr id="10" name="Rounded Rectangle 9"/>
          <p:cNvSpPr/>
          <p:nvPr/>
        </p:nvSpPr>
        <p:spPr>
          <a:xfrm>
            <a:off x="8080248" y="3200400"/>
            <a:ext cx="3505200" cy="23774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63128" y="3310128"/>
            <a:ext cx="3139440" cy="21579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No asume consecuencias</a:t>
            </a:r>
          </a:p>
          <a:p>
            <a:pPr algn="l">
              <a:spcAft>
                <a:spcPts val="400"/>
              </a:spcAft>
            </a:pPr>
            <a:r>
              <a:rPr sz="1800" b="0" i="0">
                <a:solidFill>
                  <a:srgbClr val="011754"/>
                </a:solidFill>
                <a:latin typeface="Calibri"/>
              </a:rPr>
              <a:t>No puede responder ante una publicación, un plagio o un dato inventado.</a:t>
            </a:r>
          </a:p>
        </p:txBody>
      </p:sp>
      <p:sp>
        <p:nvSpPr>
          <p:cNvPr id="12" name="TextBox 11"/>
          <p:cNvSpPr txBox="1"/>
          <p:nvPr/>
        </p:nvSpPr>
        <p:spPr>
          <a:xfrm>
            <a:off x="612648" y="5760720"/>
            <a:ext cx="10972800" cy="457200"/>
          </a:xfrm>
          <a:prstGeom prst="rect">
            <a:avLst/>
          </a:prstGeom>
          <a:noFill/>
        </p:spPr>
        <p:txBody>
          <a:bodyPr wrap="square" lIns="45720" rIns="45720" tIns="27432" bIns="27432" anchor="t">
            <a:spAutoFit/>
          </a:bodyPr>
          <a:lstStyle/>
          <a:p>
            <a:pPr algn="l">
              <a:spcAft>
                <a:spcPts val="400"/>
              </a:spcAft>
            </a:pPr>
            <a:r>
              <a:rPr sz="1800" b="1" i="0">
                <a:solidFill>
                  <a:srgbClr val="2B4EB4"/>
                </a:solidFill>
                <a:latin typeface="Calibri"/>
              </a:rPr>
              <a:t>Fluidez no es evidencia: un texto bien escrito puede estar equivocado.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vider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2676125"/>
            <a:ext cx="437840" cy="1999910"/>
          </a:xfrm>
          <a:prstGeom prst="rect">
            <a:avLst/>
          </a:prstGeom>
          <a:noFill/>
        </p:spPr>
        <p:txBody>
          <a:bodyPr wrap="square">
            <a:spAutoFit/>
          </a:bodyPr>
          <a:lstStyle/>
          <a:p>
            <a:pPr algn="l">
              <a:lnSpc>
                <a:spcPct val="115000"/>
              </a:lnSpc>
            </a:pPr>
            <a:r>
              <a:rPr sz="7200" b="1" i="0">
                <a:solidFill>
                  <a:srgbClr val="FFFFFF"/>
                </a:solidFill>
                <a:latin typeface="Calibri"/>
              </a:rPr>
              <a:t>2</a:t>
            </a:r>
          </a:p>
        </p:txBody>
      </p:sp>
      <p:sp>
        <p:nvSpPr>
          <p:cNvPr id="4" name="TextBox 3"/>
          <p:cNvSpPr txBox="1"/>
          <p:nvPr/>
        </p:nvSpPr>
        <p:spPr>
          <a:xfrm>
            <a:off x="982912" y="4737409"/>
            <a:ext cx="10346277" cy="702221"/>
          </a:xfrm>
          <a:prstGeom prst="rect">
            <a:avLst/>
          </a:prstGeom>
          <a:noFill/>
        </p:spPr>
        <p:txBody>
          <a:bodyPr wrap="square">
            <a:spAutoFit/>
          </a:bodyPr>
          <a:lstStyle/>
          <a:p>
            <a:pPr algn="l">
              <a:lnSpc>
                <a:spcPct val="115000"/>
              </a:lnSpc>
            </a:pPr>
            <a:r>
              <a:rPr sz="2600" b="0" i="0">
                <a:solidFill>
                  <a:srgbClr val="FFFFFF"/>
                </a:solidFill>
                <a:latin typeface="Calibri"/>
              </a:rPr>
              <a:t>RIESGOS Y OPORTUNIDADES EN EL PROCESO INVESTIGATIVO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Etapas de la investigación donde interviene la IA</a:t>
            </a:r>
          </a:p>
        </p:txBody>
      </p:sp>
      <p:sp>
        <p:nvSpPr>
          <p:cNvPr id="4" name="TextBox 3"/>
          <p:cNvSpPr txBox="1"/>
          <p:nvPr/>
        </p:nvSpPr>
        <p:spPr>
          <a:xfrm>
            <a:off x="612648" y="1463040"/>
            <a:ext cx="10972800" cy="457200"/>
          </a:xfrm>
          <a:prstGeom prst="rect">
            <a:avLst/>
          </a:prstGeom>
          <a:noFill/>
        </p:spPr>
        <p:txBody>
          <a:bodyPr wrap="square" lIns="45720" rIns="45720" tIns="27432" bIns="27432" anchor="t">
            <a:spAutoFit/>
          </a:bodyPr>
          <a:lstStyle/>
          <a:p>
            <a:pPr algn="l">
              <a:spcAft>
                <a:spcPts val="400"/>
              </a:spcAft>
            </a:pPr>
            <a:r>
              <a:rPr sz="1800" b="0" i="0">
                <a:solidFill>
                  <a:srgbClr val="011754"/>
                </a:solidFill>
                <a:latin typeface="Calibri"/>
              </a:rPr>
              <a:t>Cada etapa ofrece una oportunidad y un riesgo distinto si no se audita.</a:t>
            </a:r>
          </a:p>
        </p:txBody>
      </p:sp>
      <p:sp>
        <p:nvSpPr>
          <p:cNvPr id="5" name="Rounded Rectangle 4"/>
          <p:cNvSpPr/>
          <p:nvPr/>
        </p:nvSpPr>
        <p:spPr>
          <a:xfrm>
            <a:off x="612648" y="2057400"/>
            <a:ext cx="2606040" cy="4114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8" y="2194560"/>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1435608" y="2194560"/>
            <a:ext cx="1691640" cy="54864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Explorar</a:t>
            </a:r>
          </a:p>
        </p:txBody>
      </p:sp>
      <p:sp>
        <p:nvSpPr>
          <p:cNvPr id="8" name="TextBox 7"/>
          <p:cNvSpPr txBox="1"/>
          <p:nvPr/>
        </p:nvSpPr>
        <p:spPr>
          <a:xfrm>
            <a:off x="795528" y="2880360"/>
            <a:ext cx="2240280" cy="3200400"/>
          </a:xfrm>
          <a:prstGeom prst="rect">
            <a:avLst/>
          </a:prstGeom>
          <a:noFill/>
        </p:spPr>
        <p:txBody>
          <a:bodyPr wrap="square" lIns="45720" rIns="45720" tIns="27432" bIns="27432" anchor="t">
            <a:spAutoFit/>
          </a:bodyPr>
          <a:lstStyle/>
          <a:p>
            <a:pPr algn="l">
              <a:spcAft>
                <a:spcPts val="200"/>
              </a:spcAft>
            </a:pPr>
            <a:r>
              <a:rPr sz="1800" b="1" i="0">
                <a:solidFill>
                  <a:srgbClr val="2B4EB4"/>
                </a:solidFill>
                <a:latin typeface="Calibri"/>
              </a:rPr>
              <a:t>Oportunidad</a:t>
            </a:r>
          </a:p>
          <a:p>
            <a:pPr algn="l">
              <a:spcAft>
                <a:spcPts val="1200"/>
              </a:spcAft>
            </a:pPr>
            <a:r>
              <a:rPr sz="1800" b="0" i="0">
                <a:solidFill>
                  <a:srgbClr val="011754"/>
                </a:solidFill>
                <a:latin typeface="Calibri"/>
              </a:rPr>
              <a:t>Ganas rapidez y variedad de enfoques.</a:t>
            </a:r>
          </a:p>
          <a:p>
            <a:pPr algn="l">
              <a:spcAft>
                <a:spcPts val="200"/>
              </a:spcAft>
            </a:pPr>
            <a:r>
              <a:rPr sz="1800" b="1" i="0">
                <a:solidFill>
                  <a:srgbClr val="A02A2A"/>
                </a:solidFill>
                <a:latin typeface="Calibri"/>
              </a:rPr>
              <a:t>Riesgo</a:t>
            </a:r>
          </a:p>
          <a:p>
            <a:pPr algn="l">
              <a:spcAft>
                <a:spcPts val="400"/>
              </a:spcAft>
            </a:pPr>
            <a:r>
              <a:rPr sz="1800" b="0" i="0">
                <a:solidFill>
                  <a:srgbClr val="011754"/>
                </a:solidFill>
                <a:latin typeface="Calibri"/>
              </a:rPr>
              <a:t>Resultados sesgados hacia ciertas fuentes.</a:t>
            </a:r>
          </a:p>
        </p:txBody>
      </p:sp>
      <p:sp>
        <p:nvSpPr>
          <p:cNvPr id="9" name="Rounded Rectangle 8"/>
          <p:cNvSpPr/>
          <p:nvPr/>
        </p:nvSpPr>
        <p:spPr>
          <a:xfrm>
            <a:off x="3401568" y="2057400"/>
            <a:ext cx="2606040" cy="4114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84448" y="2194560"/>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224528" y="2194560"/>
            <a:ext cx="1691640" cy="54864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Redactar</a:t>
            </a:r>
          </a:p>
        </p:txBody>
      </p:sp>
      <p:sp>
        <p:nvSpPr>
          <p:cNvPr id="12" name="TextBox 11"/>
          <p:cNvSpPr txBox="1"/>
          <p:nvPr/>
        </p:nvSpPr>
        <p:spPr>
          <a:xfrm>
            <a:off x="3584448" y="2880360"/>
            <a:ext cx="2240280" cy="3200400"/>
          </a:xfrm>
          <a:prstGeom prst="rect">
            <a:avLst/>
          </a:prstGeom>
          <a:noFill/>
        </p:spPr>
        <p:txBody>
          <a:bodyPr wrap="square" lIns="45720" rIns="45720" tIns="27432" bIns="27432" anchor="t">
            <a:spAutoFit/>
          </a:bodyPr>
          <a:lstStyle/>
          <a:p>
            <a:pPr algn="l">
              <a:spcAft>
                <a:spcPts val="200"/>
              </a:spcAft>
            </a:pPr>
            <a:r>
              <a:rPr sz="1800" b="1" i="0">
                <a:solidFill>
                  <a:srgbClr val="2B4EB4"/>
                </a:solidFill>
                <a:latin typeface="Calibri"/>
              </a:rPr>
              <a:t>Oportunidad</a:t>
            </a:r>
          </a:p>
          <a:p>
            <a:pPr algn="l">
              <a:spcAft>
                <a:spcPts val="1200"/>
              </a:spcAft>
            </a:pPr>
            <a:r>
              <a:rPr sz="1800" b="0" i="0">
                <a:solidFill>
                  <a:srgbClr val="011754"/>
                </a:solidFill>
                <a:latin typeface="Calibri"/>
              </a:rPr>
              <a:t>Obtienes un primer borrador en minutos.</a:t>
            </a:r>
          </a:p>
          <a:p>
            <a:pPr algn="l">
              <a:spcAft>
                <a:spcPts val="200"/>
              </a:spcAft>
            </a:pPr>
            <a:r>
              <a:rPr sz="1800" b="1" i="0">
                <a:solidFill>
                  <a:srgbClr val="A02A2A"/>
                </a:solidFill>
                <a:latin typeface="Calibri"/>
              </a:rPr>
              <a:t>Riesgo</a:t>
            </a:r>
          </a:p>
          <a:p>
            <a:pPr algn="l">
              <a:spcAft>
                <a:spcPts val="400"/>
              </a:spcAft>
            </a:pPr>
            <a:r>
              <a:rPr sz="1800" b="0" i="0">
                <a:solidFill>
                  <a:srgbClr val="011754"/>
                </a:solidFill>
                <a:latin typeface="Calibri"/>
              </a:rPr>
              <a:t>Pérdida de autoría y de tu propia voz.</a:t>
            </a:r>
          </a:p>
        </p:txBody>
      </p:sp>
      <p:sp>
        <p:nvSpPr>
          <p:cNvPr id="13" name="Rounded Rectangle 12"/>
          <p:cNvSpPr/>
          <p:nvPr/>
        </p:nvSpPr>
        <p:spPr>
          <a:xfrm>
            <a:off x="6190488" y="2057400"/>
            <a:ext cx="2606040" cy="4114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3368" y="2194560"/>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5" name="TextBox 14"/>
          <p:cNvSpPr txBox="1"/>
          <p:nvPr/>
        </p:nvSpPr>
        <p:spPr>
          <a:xfrm>
            <a:off x="7013448" y="2194560"/>
            <a:ext cx="1691640" cy="54864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Analizar</a:t>
            </a:r>
          </a:p>
        </p:txBody>
      </p:sp>
      <p:sp>
        <p:nvSpPr>
          <p:cNvPr id="16" name="TextBox 15"/>
          <p:cNvSpPr txBox="1"/>
          <p:nvPr/>
        </p:nvSpPr>
        <p:spPr>
          <a:xfrm>
            <a:off x="6373368" y="2880360"/>
            <a:ext cx="2240280" cy="3200400"/>
          </a:xfrm>
          <a:prstGeom prst="rect">
            <a:avLst/>
          </a:prstGeom>
          <a:noFill/>
        </p:spPr>
        <p:txBody>
          <a:bodyPr wrap="square" lIns="45720" rIns="45720" tIns="27432" bIns="27432" anchor="t">
            <a:spAutoFit/>
          </a:bodyPr>
          <a:lstStyle/>
          <a:p>
            <a:pPr algn="l">
              <a:spcAft>
                <a:spcPts val="200"/>
              </a:spcAft>
            </a:pPr>
            <a:r>
              <a:rPr sz="1800" b="1" i="0">
                <a:solidFill>
                  <a:srgbClr val="2B4EB4"/>
                </a:solidFill>
                <a:latin typeface="Calibri"/>
              </a:rPr>
              <a:t>Oportunidad</a:t>
            </a:r>
          </a:p>
          <a:p>
            <a:pPr algn="l">
              <a:spcAft>
                <a:spcPts val="1200"/>
              </a:spcAft>
            </a:pPr>
            <a:r>
              <a:rPr sz="1800" b="0" i="0">
                <a:solidFill>
                  <a:srgbClr val="011754"/>
                </a:solidFill>
                <a:latin typeface="Calibri"/>
              </a:rPr>
              <a:t>Comparas alternativas y estructuras ideas.</a:t>
            </a:r>
          </a:p>
          <a:p>
            <a:pPr algn="l">
              <a:spcAft>
                <a:spcPts val="200"/>
              </a:spcAft>
            </a:pPr>
            <a:r>
              <a:rPr sz="1800" b="1" i="0">
                <a:solidFill>
                  <a:srgbClr val="A02A2A"/>
                </a:solidFill>
                <a:latin typeface="Calibri"/>
              </a:rPr>
              <a:t>Riesgo</a:t>
            </a:r>
          </a:p>
          <a:p>
            <a:pPr algn="l">
              <a:spcAft>
                <a:spcPts val="400"/>
              </a:spcAft>
            </a:pPr>
            <a:r>
              <a:rPr sz="1800" b="0" i="0">
                <a:solidFill>
                  <a:srgbClr val="011754"/>
                </a:solidFill>
                <a:latin typeface="Calibri"/>
              </a:rPr>
              <a:t>Datos o cifras inventados con total seguridad.</a:t>
            </a:r>
          </a:p>
        </p:txBody>
      </p:sp>
      <p:sp>
        <p:nvSpPr>
          <p:cNvPr id="17" name="Rounded Rectangle 16"/>
          <p:cNvSpPr/>
          <p:nvPr/>
        </p:nvSpPr>
        <p:spPr>
          <a:xfrm>
            <a:off x="8979408" y="2057400"/>
            <a:ext cx="2606040" cy="4114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2288" y="2194560"/>
            <a:ext cx="548640" cy="54864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9" name="TextBox 18"/>
          <p:cNvSpPr txBox="1"/>
          <p:nvPr/>
        </p:nvSpPr>
        <p:spPr>
          <a:xfrm>
            <a:off x="9802368" y="2194560"/>
            <a:ext cx="1691640" cy="548640"/>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Verificar</a:t>
            </a:r>
          </a:p>
        </p:txBody>
      </p:sp>
      <p:sp>
        <p:nvSpPr>
          <p:cNvPr id="20" name="TextBox 19"/>
          <p:cNvSpPr txBox="1"/>
          <p:nvPr/>
        </p:nvSpPr>
        <p:spPr>
          <a:xfrm>
            <a:off x="9162288" y="2880360"/>
            <a:ext cx="2240280" cy="3200400"/>
          </a:xfrm>
          <a:prstGeom prst="rect">
            <a:avLst/>
          </a:prstGeom>
          <a:noFill/>
        </p:spPr>
        <p:txBody>
          <a:bodyPr wrap="square" lIns="45720" rIns="45720" tIns="27432" bIns="27432" anchor="t">
            <a:spAutoFit/>
          </a:bodyPr>
          <a:lstStyle/>
          <a:p>
            <a:pPr algn="l">
              <a:spcAft>
                <a:spcPts val="200"/>
              </a:spcAft>
            </a:pPr>
            <a:r>
              <a:rPr sz="1800" b="1" i="0">
                <a:solidFill>
                  <a:srgbClr val="2B4EB4"/>
                </a:solidFill>
                <a:latin typeface="Calibri"/>
              </a:rPr>
              <a:t>Oportunidad</a:t>
            </a:r>
          </a:p>
          <a:p>
            <a:pPr algn="l">
              <a:spcAft>
                <a:spcPts val="1200"/>
              </a:spcAft>
            </a:pPr>
            <a:r>
              <a:rPr sz="1800" b="0" i="0">
                <a:solidFill>
                  <a:srgbClr val="011754"/>
                </a:solidFill>
                <a:latin typeface="Calibri"/>
              </a:rPr>
              <a:t>Apoyas la revisión con listas de control.</a:t>
            </a:r>
          </a:p>
          <a:p>
            <a:pPr algn="l">
              <a:spcAft>
                <a:spcPts val="200"/>
              </a:spcAft>
            </a:pPr>
            <a:r>
              <a:rPr sz="1800" b="1" i="0">
                <a:solidFill>
                  <a:srgbClr val="A02A2A"/>
                </a:solidFill>
                <a:latin typeface="Calibri"/>
              </a:rPr>
              <a:t>Riesgo</a:t>
            </a:r>
          </a:p>
          <a:p>
            <a:pPr algn="l">
              <a:spcAft>
                <a:spcPts val="400"/>
              </a:spcAft>
            </a:pPr>
            <a:r>
              <a:rPr sz="1800" b="0" i="0">
                <a:solidFill>
                  <a:srgbClr val="011754"/>
                </a:solidFill>
                <a:latin typeface="Calibri"/>
              </a:rPr>
              <a:t>Dar por válida una cita sin comprobarla.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¿Dónde está la oportunidad y dónde el riesgo?</a:t>
            </a:r>
          </a:p>
        </p:txBody>
      </p:sp>
      <p:sp>
        <p:nvSpPr>
          <p:cNvPr id="4" name="Rounded Rectangle 3"/>
          <p:cNvSpPr/>
          <p:nvPr/>
        </p:nvSpPr>
        <p:spPr>
          <a:xfrm>
            <a:off x="612648" y="1600200"/>
            <a:ext cx="3535680" cy="1965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Oportunidad: rapidez</a:t>
            </a:r>
          </a:p>
          <a:p>
            <a:pPr algn="l">
              <a:spcAft>
                <a:spcPts val="400"/>
              </a:spcAft>
            </a:pPr>
            <a:r>
              <a:rPr sz="1800" b="0" i="0">
                <a:solidFill>
                  <a:srgbClr val="011754"/>
                </a:solidFill>
                <a:latin typeface="Calibri"/>
              </a:rPr>
              <a:t>Resume en minutos lo que tomaría horas leer, para decidir qué textos revisar a fondo.</a:t>
            </a:r>
          </a:p>
        </p:txBody>
      </p:sp>
      <p:sp>
        <p:nvSpPr>
          <p:cNvPr id="6" name="Rounded Rectangle 5"/>
          <p:cNvSpPr/>
          <p:nvPr/>
        </p:nvSpPr>
        <p:spPr>
          <a:xfrm>
            <a:off x="4331208" y="1600200"/>
            <a:ext cx="3535680" cy="1965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4088" y="170992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Oportunidad: variedad de enfoques</a:t>
            </a:r>
          </a:p>
          <a:p>
            <a:pPr algn="l">
              <a:spcAft>
                <a:spcPts val="400"/>
              </a:spcAft>
            </a:pPr>
            <a:r>
              <a:rPr sz="1800" b="0" i="0">
                <a:solidFill>
                  <a:srgbClr val="011754"/>
                </a:solidFill>
                <a:latin typeface="Calibri"/>
              </a:rPr>
              <a:t>Sugiere perspectivas y marcos teóricos que amplían tu mirada del tema.</a:t>
            </a:r>
          </a:p>
        </p:txBody>
      </p:sp>
      <p:sp>
        <p:nvSpPr>
          <p:cNvPr id="8" name="Rounded Rectangle 7"/>
          <p:cNvSpPr/>
          <p:nvPr/>
        </p:nvSpPr>
        <p:spPr>
          <a:xfrm>
            <a:off x="8049767" y="1600200"/>
            <a:ext cx="3535680" cy="19659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32647" y="170992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Oportunidad: redacción inicial</a:t>
            </a:r>
          </a:p>
          <a:p>
            <a:pPr algn="l">
              <a:spcAft>
                <a:spcPts val="400"/>
              </a:spcAft>
            </a:pPr>
            <a:r>
              <a:rPr sz="1800" b="0" i="0">
                <a:solidFill>
                  <a:srgbClr val="011754"/>
                </a:solidFill>
                <a:latin typeface="Calibri"/>
              </a:rPr>
              <a:t>Entrega un primer borrador que se mejora, en vez de partir de la hoja en blanco.</a:t>
            </a:r>
          </a:p>
        </p:txBody>
      </p:sp>
      <p:sp>
        <p:nvSpPr>
          <p:cNvPr id="10" name="Rounded Rectangle 9"/>
          <p:cNvSpPr/>
          <p:nvPr/>
        </p:nvSpPr>
        <p:spPr>
          <a:xfrm>
            <a:off x="612648" y="3794760"/>
            <a:ext cx="3535680" cy="1965960"/>
          </a:xfrm>
          <a:prstGeom prst="roundRect">
            <a:avLst>
              <a:gd name="adj" fmla="val 6000"/>
            </a:avLst>
          </a:prstGeom>
          <a:solidFill>
            <a:srgbClr val="F6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390448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8A5A00"/>
                </a:solidFill>
                <a:latin typeface="Calibri"/>
              </a:rPr>
              <a:t>Riesgo: afirmaciones sin sustento</a:t>
            </a:r>
          </a:p>
          <a:p>
            <a:pPr algn="l">
              <a:spcAft>
                <a:spcPts val="400"/>
              </a:spcAft>
            </a:pPr>
            <a:r>
              <a:rPr sz="1800" b="0" i="0">
                <a:solidFill>
                  <a:srgbClr val="011754"/>
                </a:solidFill>
                <a:latin typeface="Calibri"/>
              </a:rPr>
              <a:t>Frases con tono seguro que no tienen un dato o estudio que las respalde.</a:t>
            </a:r>
          </a:p>
        </p:txBody>
      </p:sp>
      <p:sp>
        <p:nvSpPr>
          <p:cNvPr id="12" name="Rounded Rectangle 11"/>
          <p:cNvSpPr/>
          <p:nvPr/>
        </p:nvSpPr>
        <p:spPr>
          <a:xfrm>
            <a:off x="4331208" y="3794760"/>
            <a:ext cx="3535680" cy="1965960"/>
          </a:xfrm>
          <a:prstGeom prst="roundRect">
            <a:avLst>
              <a:gd name="adj" fmla="val 6000"/>
            </a:avLst>
          </a:prstGeom>
          <a:solidFill>
            <a:srgbClr val="F6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4088" y="390448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8A5A00"/>
                </a:solidFill>
                <a:latin typeface="Calibri"/>
              </a:rPr>
              <a:t>Riesgo: pérdida de autoría</a:t>
            </a:r>
          </a:p>
          <a:p>
            <a:pPr algn="l">
              <a:spcAft>
                <a:spcPts val="400"/>
              </a:spcAft>
            </a:pPr>
            <a:r>
              <a:rPr sz="1800" b="0" i="0">
                <a:solidFill>
                  <a:srgbClr val="011754"/>
                </a:solidFill>
                <a:latin typeface="Calibri"/>
              </a:rPr>
              <a:t>Entregar texto ajeno como propio, o no poder explicar cómo se produjo.</a:t>
            </a:r>
          </a:p>
        </p:txBody>
      </p:sp>
      <p:sp>
        <p:nvSpPr>
          <p:cNvPr id="14" name="Rounded Rectangle 13"/>
          <p:cNvSpPr/>
          <p:nvPr/>
        </p:nvSpPr>
        <p:spPr>
          <a:xfrm>
            <a:off x="8049767" y="3794760"/>
            <a:ext cx="3535680" cy="1965960"/>
          </a:xfrm>
          <a:prstGeom prst="roundRect">
            <a:avLst>
              <a:gd name="adj" fmla="val 6000"/>
            </a:avLst>
          </a:prstGeom>
          <a:solidFill>
            <a:srgbClr val="F6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2647" y="3904488"/>
            <a:ext cx="3169920" cy="1746504"/>
          </a:xfrm>
          <a:prstGeom prst="rect">
            <a:avLst/>
          </a:prstGeom>
          <a:noFill/>
        </p:spPr>
        <p:txBody>
          <a:bodyPr wrap="square" lIns="45720" rIns="45720" tIns="27432" bIns="27432" anchor="t">
            <a:spAutoFit/>
          </a:bodyPr>
          <a:lstStyle/>
          <a:p>
            <a:pPr algn="l">
              <a:spcAft>
                <a:spcPts val="600"/>
              </a:spcAft>
            </a:pPr>
            <a:r>
              <a:rPr sz="2000" b="1" i="0">
                <a:solidFill>
                  <a:srgbClr val="8A5A00"/>
                </a:solidFill>
                <a:latin typeface="Calibri"/>
              </a:rPr>
              <a:t>Riesgo: datos inventados</a:t>
            </a:r>
          </a:p>
          <a:p>
            <a:pPr algn="l">
              <a:spcAft>
                <a:spcPts val="400"/>
              </a:spcAft>
            </a:pPr>
            <a:r>
              <a:rPr sz="1800" b="0" i="0">
                <a:solidFill>
                  <a:srgbClr val="011754"/>
                </a:solidFill>
                <a:latin typeface="Calibri"/>
              </a:rPr>
              <a:t>Cifras y citas plausibles que no existen en ninguna fuente real.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Uso con criterio vs. uso sin criterio</a:t>
            </a:r>
          </a:p>
        </p:txBody>
      </p:sp>
      <p:sp>
        <p:nvSpPr>
          <p:cNvPr id="4" name="Rounded Rectangle 3"/>
          <p:cNvSpPr/>
          <p:nvPr/>
        </p:nvSpPr>
        <p:spPr>
          <a:xfrm>
            <a:off x="612648" y="1600200"/>
            <a:ext cx="5394960" cy="320040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691640"/>
            <a:ext cx="4937760" cy="3017520"/>
          </a:xfrm>
          <a:prstGeom prst="rect">
            <a:avLst/>
          </a:prstGeom>
          <a:noFill/>
        </p:spPr>
        <p:txBody>
          <a:bodyPr wrap="square" lIns="45720" rIns="45720" tIns="27432" bIns="27432" anchor="t">
            <a:spAutoFit/>
          </a:bodyPr>
          <a:lstStyle/>
          <a:p>
            <a:pPr algn="l">
              <a:spcAft>
                <a:spcPts val="800"/>
              </a:spcAft>
            </a:pPr>
            <a:r>
              <a:rPr sz="2000" b="1" i="0">
                <a:solidFill>
                  <a:srgbClr val="D4AF37"/>
                </a:solidFill>
                <a:latin typeface="Calibri"/>
              </a:rPr>
              <a:t>USO SIN CRITERIO</a:t>
            </a:r>
          </a:p>
          <a:p>
            <a:pPr algn="l">
              <a:spcAft>
                <a:spcPts val="1000"/>
              </a:spcAft>
            </a:pPr>
            <a:r>
              <a:rPr sz="1800" b="0" i="1">
                <a:solidFill>
                  <a:srgbClr val="FFFFFF"/>
                </a:solidFill>
                <a:latin typeface="Calibri"/>
              </a:rPr>
              <a:t>«Copiar la respuesta de la IA directamente en el trabajo final, sin revisarla.»</a:t>
            </a:r>
          </a:p>
          <a:p>
            <a:pPr algn="l">
              <a:spcAft>
                <a:spcPts val="400"/>
              </a:spcAft>
            </a:pPr>
            <a:r>
              <a:rPr sz="1800" b="0" i="0">
                <a:solidFill>
                  <a:srgbClr val="FFFFFF"/>
                </a:solidFill>
                <a:latin typeface="Calibri"/>
              </a:rPr>
              <a:t>Resultado: citas falsas, datos sin respaldo y autoría en duda.</a:t>
            </a:r>
          </a:p>
        </p:txBody>
      </p:sp>
      <p:sp>
        <p:nvSpPr>
          <p:cNvPr id="6" name="Rounded Rectangle 5"/>
          <p:cNvSpPr/>
          <p:nvPr/>
        </p:nvSpPr>
        <p:spPr>
          <a:xfrm>
            <a:off x="6190488" y="1600200"/>
            <a:ext cx="5394960" cy="32004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19088" y="1691640"/>
            <a:ext cx="4937760" cy="3017520"/>
          </a:xfrm>
          <a:prstGeom prst="rect">
            <a:avLst/>
          </a:prstGeom>
          <a:noFill/>
        </p:spPr>
        <p:txBody>
          <a:bodyPr wrap="square" lIns="45720" rIns="45720" tIns="27432" bIns="27432" anchor="t">
            <a:spAutoFit/>
          </a:bodyPr>
          <a:lstStyle/>
          <a:p>
            <a:pPr algn="l">
              <a:spcAft>
                <a:spcPts val="800"/>
              </a:spcAft>
            </a:pPr>
            <a:r>
              <a:rPr sz="2000" b="1" i="0">
                <a:solidFill>
                  <a:srgbClr val="2B4EB4"/>
                </a:solidFill>
                <a:latin typeface="Calibri"/>
              </a:rPr>
              <a:t>USO CON CRITERIO</a:t>
            </a:r>
          </a:p>
          <a:p>
            <a:pPr algn="l">
              <a:spcAft>
                <a:spcPts val="1000"/>
              </a:spcAft>
            </a:pPr>
            <a:r>
              <a:rPr sz="1800" b="0" i="0">
                <a:solidFill>
                  <a:srgbClr val="011754"/>
                </a:solidFill>
                <a:latin typeface="Calibri"/>
              </a:rPr>
              <a:t>Usar la respuesta como punto de partida y auditarla con criterios verificables.</a:t>
            </a:r>
          </a:p>
          <a:p>
            <a:pPr algn="l">
              <a:spcAft>
                <a:spcPts val="1000"/>
              </a:spcAft>
            </a:pPr>
            <a:r>
              <a:rPr sz="1800" b="0" i="0">
                <a:solidFill>
                  <a:srgbClr val="011754"/>
                </a:solidFill>
                <a:latin typeface="Calibri"/>
              </a:rPr>
              <a:t>Comprobar lo esencial en la fuente original antes de aceptarla.</a:t>
            </a:r>
          </a:p>
          <a:p>
            <a:pPr algn="l">
              <a:spcAft>
                <a:spcPts val="400"/>
              </a:spcAft>
            </a:pPr>
            <a:r>
              <a:rPr sz="1800" b="1" i="0">
                <a:solidFill>
                  <a:srgbClr val="2B4EB4"/>
                </a:solidFill>
                <a:latin typeface="Calibri"/>
              </a:rPr>
              <a:t>Resultado: evidencia confiable y trazable.</a:t>
            </a:r>
          </a:p>
        </p:txBody>
      </p:sp>
      <p:sp>
        <p:nvSpPr>
          <p:cNvPr id="8" name="Rounded Rectangle 7"/>
          <p:cNvSpPr/>
          <p:nvPr/>
        </p:nvSpPr>
        <p:spPr>
          <a:xfrm>
            <a:off x="612648" y="5074920"/>
            <a:ext cx="10972800" cy="82296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5074920"/>
            <a:ext cx="10515600" cy="82296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Regla práctica: la IA sugiere, el investigador audita y recién entonces decide.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vider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2676125"/>
            <a:ext cx="437840" cy="1999910"/>
          </a:xfrm>
          <a:prstGeom prst="rect">
            <a:avLst/>
          </a:prstGeom>
          <a:noFill/>
        </p:spPr>
        <p:txBody>
          <a:bodyPr wrap="square">
            <a:spAutoFit/>
          </a:bodyPr>
          <a:lstStyle/>
          <a:p>
            <a:pPr algn="l">
              <a:lnSpc>
                <a:spcPct val="115000"/>
              </a:lnSpc>
            </a:pPr>
            <a:r>
              <a:rPr sz="7200" b="1" i="0">
                <a:solidFill>
                  <a:srgbClr val="FFFFFF"/>
                </a:solidFill>
                <a:latin typeface="Calibri"/>
              </a:rPr>
              <a:t>3</a:t>
            </a:r>
          </a:p>
        </p:txBody>
      </p:sp>
      <p:sp>
        <p:nvSpPr>
          <p:cNvPr id="4" name="TextBox 3"/>
          <p:cNvSpPr txBox="1"/>
          <p:nvPr/>
        </p:nvSpPr>
        <p:spPr>
          <a:xfrm>
            <a:off x="982912" y="4737409"/>
            <a:ext cx="10346277" cy="702221"/>
          </a:xfrm>
          <a:prstGeom prst="rect">
            <a:avLst/>
          </a:prstGeom>
          <a:noFill/>
        </p:spPr>
        <p:txBody>
          <a:bodyPr wrap="square">
            <a:spAutoFit/>
          </a:bodyPr>
          <a:lstStyle/>
          <a:p>
            <a:pPr algn="l">
              <a:lnSpc>
                <a:spcPct val="115000"/>
              </a:lnSpc>
            </a:pPr>
            <a:r>
              <a:rPr sz="2600" b="0" i="0">
                <a:solidFill>
                  <a:srgbClr val="FFFFFF"/>
                </a:solidFill>
                <a:latin typeface="Calibri"/>
              </a:rPr>
              <a:t>SESGOS, ERRORES, ALUCINACIONES Y LIMITACIONES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Cuatro formas en que puede fallar una respuesta de IA</a:t>
            </a:r>
          </a:p>
        </p:txBody>
      </p:sp>
      <p:sp>
        <p:nvSpPr>
          <p:cNvPr id="4" name="Rounded Rectangle 3"/>
          <p:cNvSpPr/>
          <p:nvPr/>
        </p:nvSpPr>
        <p:spPr>
          <a:xfrm>
            <a:off x="612648" y="1600200"/>
            <a:ext cx="5394960" cy="21945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5029200" cy="19751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Alucinación</a:t>
            </a:r>
          </a:p>
          <a:p>
            <a:pPr algn="l">
              <a:spcAft>
                <a:spcPts val="400"/>
              </a:spcAft>
            </a:pPr>
            <a:r>
              <a:rPr sz="1800" b="0" i="0">
                <a:solidFill>
                  <a:srgbClr val="011754"/>
                </a:solidFill>
                <a:latin typeface="Calibri"/>
              </a:rPr>
              <a:t>Inventa una cita, un dato o un estudio que no existe.</a:t>
            </a:r>
          </a:p>
          <a:p>
            <a:pPr algn="l">
              <a:spcAft>
                <a:spcPts val="400"/>
              </a:spcAft>
            </a:pPr>
            <a:r>
              <a:rPr sz="1800" b="0" i="0">
                <a:solidFill>
                  <a:srgbClr val="011754"/>
                </a:solidFill>
                <a:latin typeface="Calibri"/>
              </a:rPr>
              <a:t>Ej.: un DOI que no lleva a ningún artículo.</a:t>
            </a:r>
          </a:p>
        </p:txBody>
      </p:sp>
      <p:sp>
        <p:nvSpPr>
          <p:cNvPr id="6" name="Rounded Rectangle 5"/>
          <p:cNvSpPr/>
          <p:nvPr/>
        </p:nvSpPr>
        <p:spPr>
          <a:xfrm>
            <a:off x="6190488" y="1600200"/>
            <a:ext cx="5394960" cy="21945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3368" y="1709928"/>
            <a:ext cx="5029200" cy="19751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Sesgo</a:t>
            </a:r>
          </a:p>
          <a:p>
            <a:pPr algn="l">
              <a:spcAft>
                <a:spcPts val="400"/>
              </a:spcAft>
            </a:pPr>
            <a:r>
              <a:rPr sz="1800" b="0" i="0">
                <a:solidFill>
                  <a:srgbClr val="011754"/>
                </a:solidFill>
                <a:latin typeface="Calibri"/>
              </a:rPr>
              <a:t>Privilegia sistemáticamente cierto tipo de fuentes o enfoques.</a:t>
            </a:r>
          </a:p>
          <a:p>
            <a:pPr algn="l">
              <a:spcAft>
                <a:spcPts val="400"/>
              </a:spcAft>
            </a:pPr>
            <a:r>
              <a:rPr sz="1800" b="0" i="0">
                <a:solidFill>
                  <a:srgbClr val="011754"/>
                </a:solidFill>
                <a:latin typeface="Calibri"/>
              </a:rPr>
              <a:t>Ej.: solo estudios en inglés.</a:t>
            </a:r>
          </a:p>
        </p:txBody>
      </p:sp>
      <p:sp>
        <p:nvSpPr>
          <p:cNvPr id="8" name="Rounded Rectangle 7"/>
          <p:cNvSpPr/>
          <p:nvPr/>
        </p:nvSpPr>
        <p:spPr>
          <a:xfrm>
            <a:off x="612648" y="3977639"/>
            <a:ext cx="5394960" cy="21945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087368"/>
            <a:ext cx="5029200" cy="19751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Error de contexto</a:t>
            </a:r>
          </a:p>
          <a:p>
            <a:pPr algn="l">
              <a:spcAft>
                <a:spcPts val="400"/>
              </a:spcAft>
            </a:pPr>
            <a:r>
              <a:rPr sz="1800" b="0" i="0">
                <a:solidFill>
                  <a:srgbClr val="011754"/>
                </a:solidFill>
                <a:latin typeface="Calibri"/>
              </a:rPr>
              <a:t>Responde desde un supuesto que el investigador nunca dio.</a:t>
            </a:r>
          </a:p>
          <a:p>
            <a:pPr algn="l">
              <a:spcAft>
                <a:spcPts val="400"/>
              </a:spcAft>
            </a:pPr>
            <a:r>
              <a:rPr sz="1800" b="0" i="0">
                <a:solidFill>
                  <a:srgbClr val="011754"/>
                </a:solidFill>
                <a:latin typeface="Calibri"/>
              </a:rPr>
              <a:t>Ej.: asume otro país o población.</a:t>
            </a:r>
          </a:p>
        </p:txBody>
      </p:sp>
      <p:sp>
        <p:nvSpPr>
          <p:cNvPr id="10" name="Rounded Rectangle 9"/>
          <p:cNvSpPr/>
          <p:nvPr/>
        </p:nvSpPr>
        <p:spPr>
          <a:xfrm>
            <a:off x="6190488" y="3977639"/>
            <a:ext cx="5394960" cy="21945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4087368"/>
            <a:ext cx="5029200" cy="19751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Vacío sin declarar</a:t>
            </a:r>
          </a:p>
          <a:p>
            <a:pPr algn="l">
              <a:spcAft>
                <a:spcPts val="400"/>
              </a:spcAft>
            </a:pPr>
            <a:r>
              <a:rPr sz="1800" b="0" i="0">
                <a:solidFill>
                  <a:srgbClr val="011754"/>
                </a:solidFill>
                <a:latin typeface="Calibri"/>
              </a:rPr>
              <a:t>Omite información relevante sin advertir que falta.</a:t>
            </a:r>
          </a:p>
          <a:p>
            <a:pPr algn="l">
              <a:spcAft>
                <a:spcPts val="400"/>
              </a:spcAft>
            </a:pPr>
            <a:r>
              <a:rPr sz="1800" b="0" i="0">
                <a:solidFill>
                  <a:srgbClr val="011754"/>
                </a:solidFill>
                <a:latin typeface="Calibri"/>
              </a:rPr>
              <a:t>Ej.: no menciona limitaciones.</a:t>
            </a:r>
          </a:p>
        </p:txBody>
      </p:sp>
      <p:sp>
        <p:nvSpPr>
          <p:cNvPr id="12" name="TextBox 11"/>
          <p:cNvSpPr txBox="1"/>
          <p:nvPr/>
        </p:nvSpPr>
        <p:spPr>
          <a:xfrm>
            <a:off x="612648" y="5989320"/>
            <a:ext cx="10972800" cy="365760"/>
          </a:xfrm>
          <a:prstGeom prst="rect">
            <a:avLst/>
          </a:prstGeom>
          <a:noFill/>
        </p:spPr>
        <p:txBody>
          <a:bodyPr wrap="square" lIns="45720" rIns="45720" tIns="27432" bIns="27432" anchor="t">
            <a:spAutoFit/>
          </a:bodyPr>
          <a:lstStyle/>
          <a:p>
            <a:pPr algn="l">
              <a:spcAft>
                <a:spcPts val="400"/>
              </a:spcAft>
            </a:pPr>
            <a:r>
              <a:rPr sz="1800" b="1" i="0">
                <a:solidFill>
                  <a:srgbClr val="2B4EB4"/>
                </a:solidFill>
                <a:latin typeface="Calibri"/>
              </a:rPr>
              <a:t>Alucinación = contenido inventado. Sesgo = inclinación sistemática, aunque sea verídica.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Cómo se reconoce una alucinación</a:t>
            </a:r>
          </a:p>
        </p:txBody>
      </p:sp>
      <p:sp>
        <p:nvSpPr>
          <p:cNvPr id="4" name="Rounded Rectangle 3"/>
          <p:cNvSpPr/>
          <p:nvPr/>
        </p:nvSpPr>
        <p:spPr>
          <a:xfrm>
            <a:off x="612648" y="1645920"/>
            <a:ext cx="3108960" cy="868680"/>
          </a:xfrm>
          <a:prstGeom prst="roundRect">
            <a:avLst>
              <a:gd name="adj" fmla="val 6000"/>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2926080" cy="868680"/>
          </a:xfrm>
          <a:prstGeom prst="rect">
            <a:avLst/>
          </a:prstGeom>
          <a:noFill/>
        </p:spPr>
        <p:txBody>
          <a:bodyPr wrap="square" lIns="45720" rIns="45720" tIns="27432" bIns="27432" anchor="ctr">
            <a:spAutoFit/>
          </a:bodyPr>
          <a:lstStyle/>
          <a:p>
            <a:pPr algn="l">
              <a:spcAft>
                <a:spcPts val="400"/>
              </a:spcAft>
            </a:pPr>
            <a:r>
              <a:rPr sz="2000" b="1" i="0">
                <a:solidFill>
                  <a:srgbClr val="FFFFFF"/>
                </a:solidFill>
                <a:latin typeface="Calibri"/>
              </a:rPr>
              <a:t>Revisar la cita</a:t>
            </a:r>
          </a:p>
        </p:txBody>
      </p:sp>
      <p:sp>
        <p:nvSpPr>
          <p:cNvPr id="6" name="Rounded Rectangle 5"/>
          <p:cNvSpPr/>
          <p:nvPr/>
        </p:nvSpPr>
        <p:spPr>
          <a:xfrm>
            <a:off x="3813048" y="1645920"/>
            <a:ext cx="7772400" cy="86868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77639" y="1645920"/>
            <a:ext cx="7498079" cy="86868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Buscar el DOI, el autor y la revista en una fuente original (Google Scholar, Crossref o la página de la revista).</a:t>
            </a:r>
          </a:p>
        </p:txBody>
      </p:sp>
      <p:sp>
        <p:nvSpPr>
          <p:cNvPr id="8" name="Rounded Rectangle 7"/>
          <p:cNvSpPr/>
          <p:nvPr/>
        </p:nvSpPr>
        <p:spPr>
          <a:xfrm>
            <a:off x="612648" y="2633472"/>
            <a:ext cx="3108960" cy="868680"/>
          </a:xfrm>
          <a:prstGeom prst="roundRect">
            <a:avLst>
              <a:gd name="adj" fmla="val 6000"/>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33472"/>
            <a:ext cx="2926080" cy="868680"/>
          </a:xfrm>
          <a:prstGeom prst="rect">
            <a:avLst/>
          </a:prstGeom>
          <a:noFill/>
        </p:spPr>
        <p:txBody>
          <a:bodyPr wrap="square" lIns="45720" rIns="45720" tIns="27432" bIns="27432" anchor="ctr">
            <a:spAutoFit/>
          </a:bodyPr>
          <a:lstStyle/>
          <a:p>
            <a:pPr algn="l">
              <a:spcAft>
                <a:spcPts val="400"/>
              </a:spcAft>
            </a:pPr>
            <a:r>
              <a:rPr sz="2000" b="1" i="0">
                <a:solidFill>
                  <a:srgbClr val="FFFFFF"/>
                </a:solidFill>
                <a:latin typeface="Calibri"/>
              </a:rPr>
              <a:t>Revisar la cifra</a:t>
            </a:r>
          </a:p>
        </p:txBody>
      </p:sp>
      <p:sp>
        <p:nvSpPr>
          <p:cNvPr id="10" name="Rounded Rectangle 9"/>
          <p:cNvSpPr/>
          <p:nvPr/>
        </p:nvSpPr>
        <p:spPr>
          <a:xfrm>
            <a:off x="3813048" y="2633472"/>
            <a:ext cx="7772400" cy="86868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39" y="2633472"/>
            <a:ext cx="7498079" cy="86868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Comprobar si el dato aparece realmente en la fuente citada y con la misma precisión.</a:t>
            </a:r>
          </a:p>
        </p:txBody>
      </p:sp>
      <p:sp>
        <p:nvSpPr>
          <p:cNvPr id="12" name="Rounded Rectangle 11"/>
          <p:cNvSpPr/>
          <p:nvPr/>
        </p:nvSpPr>
        <p:spPr>
          <a:xfrm>
            <a:off x="612648" y="3621024"/>
            <a:ext cx="3108960" cy="868680"/>
          </a:xfrm>
          <a:prstGeom prst="roundRect">
            <a:avLst>
              <a:gd name="adj" fmla="val 6000"/>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621024"/>
            <a:ext cx="2926080" cy="868680"/>
          </a:xfrm>
          <a:prstGeom prst="rect">
            <a:avLst/>
          </a:prstGeom>
          <a:noFill/>
        </p:spPr>
        <p:txBody>
          <a:bodyPr wrap="square" lIns="45720" rIns="45720" tIns="27432" bIns="27432" anchor="ctr">
            <a:spAutoFit/>
          </a:bodyPr>
          <a:lstStyle/>
          <a:p>
            <a:pPr algn="l">
              <a:spcAft>
                <a:spcPts val="400"/>
              </a:spcAft>
            </a:pPr>
            <a:r>
              <a:rPr sz="2000" b="1" i="0">
                <a:solidFill>
                  <a:srgbClr val="FFFFFF"/>
                </a:solidFill>
                <a:latin typeface="Calibri"/>
              </a:rPr>
              <a:t>Revisar el tono</a:t>
            </a:r>
          </a:p>
        </p:txBody>
      </p:sp>
      <p:sp>
        <p:nvSpPr>
          <p:cNvPr id="14" name="Rounded Rectangle 13"/>
          <p:cNvSpPr/>
          <p:nvPr/>
        </p:nvSpPr>
        <p:spPr>
          <a:xfrm>
            <a:off x="3813048" y="3621024"/>
            <a:ext cx="7772400" cy="86868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77639" y="3621024"/>
            <a:ext cx="7498079" cy="86868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Un texto redactado con confianza no es lo mismo que un texto verificado.</a:t>
            </a:r>
          </a:p>
        </p:txBody>
      </p:sp>
      <p:sp>
        <p:nvSpPr>
          <p:cNvPr id="16" name="Rounded Rectangle 15"/>
          <p:cNvSpPr/>
          <p:nvPr/>
        </p:nvSpPr>
        <p:spPr>
          <a:xfrm>
            <a:off x="612648" y="4608576"/>
            <a:ext cx="3108960" cy="868680"/>
          </a:xfrm>
          <a:prstGeom prst="roundRect">
            <a:avLst>
              <a:gd name="adj" fmla="val 6000"/>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608576"/>
            <a:ext cx="2926080" cy="868680"/>
          </a:xfrm>
          <a:prstGeom prst="rect">
            <a:avLst/>
          </a:prstGeom>
          <a:noFill/>
        </p:spPr>
        <p:txBody>
          <a:bodyPr wrap="square" lIns="45720" rIns="45720" tIns="27432" bIns="27432" anchor="ctr">
            <a:spAutoFit/>
          </a:bodyPr>
          <a:lstStyle/>
          <a:p>
            <a:pPr algn="l">
              <a:spcAft>
                <a:spcPts val="400"/>
              </a:spcAft>
            </a:pPr>
            <a:r>
              <a:rPr sz="2000" b="1" i="0">
                <a:solidFill>
                  <a:srgbClr val="FFFFFF"/>
                </a:solidFill>
                <a:latin typeface="Calibri"/>
              </a:rPr>
              <a:t>Revisar lo que falta</a:t>
            </a:r>
          </a:p>
        </p:txBody>
      </p:sp>
      <p:sp>
        <p:nvSpPr>
          <p:cNvPr id="18" name="Rounded Rectangle 17"/>
          <p:cNvSpPr/>
          <p:nvPr/>
        </p:nvSpPr>
        <p:spPr>
          <a:xfrm>
            <a:off x="3813048" y="4608576"/>
            <a:ext cx="7772400" cy="86868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39" y="4608576"/>
            <a:ext cx="7498079" cy="868680"/>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Notar si la respuesta evita mencionar limitaciones evidentes del tema.</a:t>
            </a:r>
          </a:p>
        </p:txBody>
      </p:sp>
      <p:sp>
        <p:nvSpPr>
          <p:cNvPr id="20" name="Rounded Rectangle 19"/>
          <p:cNvSpPr/>
          <p:nvPr/>
        </p:nvSpPr>
        <p:spPr>
          <a:xfrm>
            <a:off x="612648" y="5623560"/>
            <a:ext cx="10972800" cy="59436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623560"/>
            <a:ext cx="10515600" cy="59436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La fluidez del texto no es evidencia de que sea correcto.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Banco de señales de alerta</a:t>
            </a:r>
          </a:p>
        </p:txBody>
      </p:sp>
      <p:sp>
        <p:nvSpPr>
          <p:cNvPr id="4" name="Rounded Rectangle 3"/>
          <p:cNvSpPr/>
          <p:nvPr/>
        </p:nvSpPr>
        <p:spPr>
          <a:xfrm>
            <a:off x="612648" y="1600200"/>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2376" y="1682496"/>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01</a:t>
            </a:r>
          </a:p>
        </p:txBody>
      </p:sp>
      <p:sp>
        <p:nvSpPr>
          <p:cNvPr id="6" name="TextBox 5"/>
          <p:cNvSpPr txBox="1"/>
          <p:nvPr/>
        </p:nvSpPr>
        <p:spPr>
          <a:xfrm>
            <a:off x="1344168" y="1600200"/>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Cifra sin fuente</a:t>
            </a:r>
          </a:p>
        </p:txBody>
      </p:sp>
      <p:sp>
        <p:nvSpPr>
          <p:cNvPr id="7" name="Rounded Rectangle 6"/>
          <p:cNvSpPr/>
          <p:nvPr/>
        </p:nvSpPr>
        <p:spPr>
          <a:xfrm>
            <a:off x="612648" y="2368296"/>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22376" y="2450591"/>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02</a:t>
            </a:r>
          </a:p>
        </p:txBody>
      </p:sp>
      <p:sp>
        <p:nvSpPr>
          <p:cNvPr id="9" name="TextBox 8"/>
          <p:cNvSpPr txBox="1"/>
          <p:nvPr/>
        </p:nvSpPr>
        <p:spPr>
          <a:xfrm>
            <a:off x="1344168" y="2368296"/>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Cita sin DOI</a:t>
            </a:r>
          </a:p>
        </p:txBody>
      </p:sp>
      <p:sp>
        <p:nvSpPr>
          <p:cNvPr id="10" name="Rounded Rectangle 9"/>
          <p:cNvSpPr/>
          <p:nvPr/>
        </p:nvSpPr>
        <p:spPr>
          <a:xfrm>
            <a:off x="612648" y="3136391"/>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22376" y="3218687"/>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03</a:t>
            </a:r>
          </a:p>
        </p:txBody>
      </p:sp>
      <p:sp>
        <p:nvSpPr>
          <p:cNvPr id="12" name="TextBox 11"/>
          <p:cNvSpPr txBox="1"/>
          <p:nvPr/>
        </p:nvSpPr>
        <p:spPr>
          <a:xfrm>
            <a:off x="1344168" y="3136391"/>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Autor que no aparece en ninguna base</a:t>
            </a:r>
          </a:p>
        </p:txBody>
      </p:sp>
      <p:sp>
        <p:nvSpPr>
          <p:cNvPr id="13" name="Rounded Rectangle 12"/>
          <p:cNvSpPr/>
          <p:nvPr/>
        </p:nvSpPr>
        <p:spPr>
          <a:xfrm>
            <a:off x="612648" y="3904487"/>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22376" y="3986783"/>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04</a:t>
            </a:r>
          </a:p>
        </p:txBody>
      </p:sp>
      <p:sp>
        <p:nvSpPr>
          <p:cNvPr id="15" name="TextBox 14"/>
          <p:cNvSpPr txBox="1"/>
          <p:nvPr/>
        </p:nvSpPr>
        <p:spPr>
          <a:xfrm>
            <a:off x="1344168" y="3904487"/>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Dato demasiado redondo</a:t>
            </a:r>
          </a:p>
        </p:txBody>
      </p:sp>
      <p:sp>
        <p:nvSpPr>
          <p:cNvPr id="16" name="Rounded Rectangle 15"/>
          <p:cNvSpPr/>
          <p:nvPr/>
        </p:nvSpPr>
        <p:spPr>
          <a:xfrm>
            <a:off x="612648" y="4672583"/>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2376" y="4754879"/>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05</a:t>
            </a:r>
          </a:p>
        </p:txBody>
      </p:sp>
      <p:sp>
        <p:nvSpPr>
          <p:cNvPr id="18" name="TextBox 17"/>
          <p:cNvSpPr txBox="1"/>
          <p:nvPr/>
        </p:nvSpPr>
        <p:spPr>
          <a:xfrm>
            <a:off x="1344168" y="4672583"/>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Tono absoluto («siempre», «nunca»)</a:t>
            </a:r>
          </a:p>
        </p:txBody>
      </p:sp>
      <p:sp>
        <p:nvSpPr>
          <p:cNvPr id="19" name="Rounded Rectangle 18"/>
          <p:cNvSpPr/>
          <p:nvPr/>
        </p:nvSpPr>
        <p:spPr>
          <a:xfrm>
            <a:off x="6190488" y="1600200"/>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00216" y="1682496"/>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06</a:t>
            </a:r>
          </a:p>
        </p:txBody>
      </p:sp>
      <p:sp>
        <p:nvSpPr>
          <p:cNvPr id="21" name="TextBox 20"/>
          <p:cNvSpPr txBox="1"/>
          <p:nvPr/>
        </p:nvSpPr>
        <p:spPr>
          <a:xfrm>
            <a:off x="6922007" y="1600200"/>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Fuente que no coincide con el tema</a:t>
            </a:r>
          </a:p>
        </p:txBody>
      </p:sp>
      <p:sp>
        <p:nvSpPr>
          <p:cNvPr id="22" name="Rounded Rectangle 21"/>
          <p:cNvSpPr/>
          <p:nvPr/>
        </p:nvSpPr>
        <p:spPr>
          <a:xfrm>
            <a:off x="6190488" y="2368296"/>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00216" y="2450591"/>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07</a:t>
            </a:r>
          </a:p>
        </p:txBody>
      </p:sp>
      <p:sp>
        <p:nvSpPr>
          <p:cNvPr id="24" name="TextBox 23"/>
          <p:cNvSpPr txBox="1"/>
          <p:nvPr/>
        </p:nvSpPr>
        <p:spPr>
          <a:xfrm>
            <a:off x="6922007" y="2368296"/>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Referencia reciente imposible de verificar</a:t>
            </a:r>
          </a:p>
        </p:txBody>
      </p:sp>
      <p:sp>
        <p:nvSpPr>
          <p:cNvPr id="25" name="Rounded Rectangle 24"/>
          <p:cNvSpPr/>
          <p:nvPr/>
        </p:nvSpPr>
        <p:spPr>
          <a:xfrm>
            <a:off x="6190488" y="3136391"/>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00216" y="3218687"/>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08</a:t>
            </a:r>
          </a:p>
        </p:txBody>
      </p:sp>
      <p:sp>
        <p:nvSpPr>
          <p:cNvPr id="27" name="TextBox 26"/>
          <p:cNvSpPr txBox="1"/>
          <p:nvPr/>
        </p:nvSpPr>
        <p:spPr>
          <a:xfrm>
            <a:off x="6922007" y="3136391"/>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Ausencia de limitaciones</a:t>
            </a:r>
          </a:p>
        </p:txBody>
      </p:sp>
      <p:sp>
        <p:nvSpPr>
          <p:cNvPr id="28" name="Rounded Rectangle 27"/>
          <p:cNvSpPr/>
          <p:nvPr/>
        </p:nvSpPr>
        <p:spPr>
          <a:xfrm>
            <a:off x="6190488" y="3904487"/>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00216" y="3986783"/>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09</a:t>
            </a:r>
          </a:p>
        </p:txBody>
      </p:sp>
      <p:sp>
        <p:nvSpPr>
          <p:cNvPr id="30" name="TextBox 29"/>
          <p:cNvSpPr txBox="1"/>
          <p:nvPr/>
        </p:nvSpPr>
        <p:spPr>
          <a:xfrm>
            <a:off x="6922007" y="3904487"/>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Enfoque repetido en el mismo tipo de fuente</a:t>
            </a:r>
          </a:p>
        </p:txBody>
      </p:sp>
      <p:sp>
        <p:nvSpPr>
          <p:cNvPr id="31" name="Rounded Rectangle 30"/>
          <p:cNvSpPr/>
          <p:nvPr/>
        </p:nvSpPr>
        <p:spPr>
          <a:xfrm>
            <a:off x="6190488" y="4672583"/>
            <a:ext cx="5394960" cy="676656"/>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300216" y="4754879"/>
            <a:ext cx="512064" cy="512064"/>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10</a:t>
            </a:r>
          </a:p>
        </p:txBody>
      </p:sp>
      <p:sp>
        <p:nvSpPr>
          <p:cNvPr id="33" name="TextBox 32"/>
          <p:cNvSpPr txBox="1"/>
          <p:nvPr/>
        </p:nvSpPr>
        <p:spPr>
          <a:xfrm>
            <a:off x="6922007" y="4672583"/>
            <a:ext cx="4572000" cy="676656"/>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Afirmación sin dato que la respalde</a:t>
            </a:r>
          </a:p>
        </p:txBody>
      </p:sp>
      <p:sp>
        <p:nvSpPr>
          <p:cNvPr id="34" name="Rounded Rectangle 33"/>
          <p:cNvSpPr/>
          <p:nvPr/>
        </p:nvSpPr>
        <p:spPr>
          <a:xfrm>
            <a:off x="612648" y="5532120"/>
            <a:ext cx="10972800" cy="68580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5532120"/>
            <a:ext cx="10515600" cy="68580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La lista completa de señales de alerta será un recurso descargable de la sesión.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vider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2676125"/>
            <a:ext cx="437840" cy="1999910"/>
          </a:xfrm>
          <a:prstGeom prst="rect">
            <a:avLst/>
          </a:prstGeom>
          <a:noFill/>
        </p:spPr>
        <p:txBody>
          <a:bodyPr wrap="square">
            <a:spAutoFit/>
          </a:bodyPr>
          <a:lstStyle/>
          <a:p>
            <a:pPr algn="l">
              <a:lnSpc>
                <a:spcPct val="115000"/>
              </a:lnSpc>
            </a:pPr>
            <a:r>
              <a:rPr sz="7200" b="1" i="0">
                <a:solidFill>
                  <a:srgbClr val="FFFFFF"/>
                </a:solidFill>
                <a:latin typeface="Calibri"/>
              </a:rPr>
              <a:t>4</a:t>
            </a:r>
          </a:p>
        </p:txBody>
      </p:sp>
      <p:sp>
        <p:nvSpPr>
          <p:cNvPr id="4" name="TextBox 3"/>
          <p:cNvSpPr txBox="1"/>
          <p:nvPr/>
        </p:nvSpPr>
        <p:spPr>
          <a:xfrm>
            <a:off x="982912" y="4737409"/>
            <a:ext cx="10346277" cy="702221"/>
          </a:xfrm>
          <a:prstGeom prst="rect">
            <a:avLst/>
          </a:prstGeom>
          <a:noFill/>
        </p:spPr>
        <p:txBody>
          <a:bodyPr wrap="square">
            <a:spAutoFit/>
          </a:bodyPr>
          <a:lstStyle/>
          <a:p>
            <a:pPr algn="l">
              <a:lnSpc>
                <a:spcPct val="115000"/>
              </a:lnSpc>
            </a:pPr>
            <a:r>
              <a:rPr sz="2600" b="0" i="0">
                <a:solidFill>
                  <a:srgbClr val="FFFFFF"/>
                </a:solidFill>
                <a:latin typeface="Calibri"/>
              </a:rPr>
              <a:t>ÉTICA Y LÍMITES DEL USO DE LA IA EN LA ACADEMIA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Ciclo de auditoría de una respuesta</a:t>
            </a:r>
          </a:p>
        </p:txBody>
      </p:sp>
      <p:sp>
        <p:nvSpPr>
          <p:cNvPr id="4" name="Rounded Rectangle 3"/>
          <p:cNvSpPr/>
          <p:nvPr/>
        </p:nvSpPr>
        <p:spPr>
          <a:xfrm>
            <a:off x="612648" y="1600200"/>
            <a:ext cx="10972800" cy="65836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664208"/>
            <a:ext cx="530352" cy="530352"/>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463040" y="1600200"/>
            <a:ext cx="3840480" cy="658368"/>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Recibir respuesta</a:t>
            </a:r>
          </a:p>
        </p:txBody>
      </p:sp>
      <p:sp>
        <p:nvSpPr>
          <p:cNvPr id="7" name="TextBox 6"/>
          <p:cNvSpPr txBox="1"/>
          <p:nvPr/>
        </p:nvSpPr>
        <p:spPr>
          <a:xfrm>
            <a:off x="5303520" y="1600200"/>
            <a:ext cx="6217920" cy="658368"/>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Léela completa antes de copiar nada al trabajo.</a:t>
            </a:r>
          </a:p>
        </p:txBody>
      </p:sp>
      <p:sp>
        <p:nvSpPr>
          <p:cNvPr id="8" name="Rounded Rectangle 7"/>
          <p:cNvSpPr/>
          <p:nvPr/>
        </p:nvSpPr>
        <p:spPr>
          <a:xfrm>
            <a:off x="612648" y="2331720"/>
            <a:ext cx="10972800" cy="65836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395727"/>
            <a:ext cx="530352" cy="530352"/>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0" name="TextBox 9"/>
          <p:cNvSpPr txBox="1"/>
          <p:nvPr/>
        </p:nvSpPr>
        <p:spPr>
          <a:xfrm>
            <a:off x="1463040" y="2331720"/>
            <a:ext cx="3840480" cy="658368"/>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Aplicar los 5 criterios</a:t>
            </a:r>
          </a:p>
        </p:txBody>
      </p:sp>
      <p:sp>
        <p:nvSpPr>
          <p:cNvPr id="11" name="TextBox 10"/>
          <p:cNvSpPr txBox="1"/>
          <p:nvPr/>
        </p:nvSpPr>
        <p:spPr>
          <a:xfrm>
            <a:off x="5303520" y="2331720"/>
            <a:ext cx="6217920" cy="658368"/>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Pertinencia, coherencia, suficiencia, verificabilidad y trazabilidad.</a:t>
            </a:r>
          </a:p>
        </p:txBody>
      </p:sp>
      <p:sp>
        <p:nvSpPr>
          <p:cNvPr id="12" name="Rounded Rectangle 11"/>
          <p:cNvSpPr/>
          <p:nvPr/>
        </p:nvSpPr>
        <p:spPr>
          <a:xfrm>
            <a:off x="612648" y="3063239"/>
            <a:ext cx="10972800" cy="65836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127247"/>
            <a:ext cx="530352" cy="530352"/>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4" name="TextBox 13"/>
          <p:cNvSpPr txBox="1"/>
          <p:nvPr/>
        </p:nvSpPr>
        <p:spPr>
          <a:xfrm>
            <a:off x="1463040" y="3063239"/>
            <a:ext cx="3840480" cy="658368"/>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Verificar la fuente</a:t>
            </a:r>
          </a:p>
        </p:txBody>
      </p:sp>
      <p:sp>
        <p:nvSpPr>
          <p:cNvPr id="15" name="TextBox 14"/>
          <p:cNvSpPr txBox="1"/>
          <p:nvPr/>
        </p:nvSpPr>
        <p:spPr>
          <a:xfrm>
            <a:off x="5303520" y="3063239"/>
            <a:ext cx="6217920" cy="658368"/>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Comprueba título, autor, año, revista y DOI en el original.</a:t>
            </a:r>
          </a:p>
        </p:txBody>
      </p:sp>
      <p:sp>
        <p:nvSpPr>
          <p:cNvPr id="16" name="Rounded Rectangle 15"/>
          <p:cNvSpPr/>
          <p:nvPr/>
        </p:nvSpPr>
        <p:spPr>
          <a:xfrm>
            <a:off x="612648" y="3794759"/>
            <a:ext cx="10972800" cy="65836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858768"/>
            <a:ext cx="530352" cy="530352"/>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18" name="TextBox 17"/>
          <p:cNvSpPr txBox="1"/>
          <p:nvPr/>
        </p:nvSpPr>
        <p:spPr>
          <a:xfrm>
            <a:off x="1463040" y="3794759"/>
            <a:ext cx="3840480" cy="658368"/>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Identificar datos sensibles</a:t>
            </a:r>
          </a:p>
        </p:txBody>
      </p:sp>
      <p:sp>
        <p:nvSpPr>
          <p:cNvPr id="19" name="TextBox 18"/>
          <p:cNvSpPr txBox="1"/>
          <p:nvPr/>
        </p:nvSpPr>
        <p:spPr>
          <a:xfrm>
            <a:off x="5303520" y="3794759"/>
            <a:ext cx="6217920" cy="658368"/>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Detecta qué información no debe compartirse con la IA.</a:t>
            </a:r>
          </a:p>
        </p:txBody>
      </p:sp>
      <p:sp>
        <p:nvSpPr>
          <p:cNvPr id="20" name="Rounded Rectangle 19"/>
          <p:cNvSpPr/>
          <p:nvPr/>
        </p:nvSpPr>
        <p:spPr>
          <a:xfrm>
            <a:off x="612648" y="4526279"/>
            <a:ext cx="10972800" cy="65836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4590288"/>
            <a:ext cx="530352" cy="530352"/>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22" name="TextBox 21"/>
          <p:cNvSpPr txBox="1"/>
          <p:nvPr/>
        </p:nvSpPr>
        <p:spPr>
          <a:xfrm>
            <a:off x="1463040" y="4526279"/>
            <a:ext cx="3840480" cy="658368"/>
          </a:xfrm>
          <a:prstGeom prst="rect">
            <a:avLst/>
          </a:prstGeom>
          <a:noFill/>
        </p:spPr>
        <p:txBody>
          <a:bodyPr wrap="square" lIns="45720" rIns="45720" tIns="27432" bIns="27432" anchor="ctr">
            <a:spAutoFit/>
          </a:bodyPr>
          <a:lstStyle/>
          <a:p>
            <a:pPr algn="l">
              <a:spcAft>
                <a:spcPts val="400"/>
              </a:spcAft>
            </a:pPr>
            <a:r>
              <a:rPr sz="2000" b="1" i="0">
                <a:solidFill>
                  <a:srgbClr val="2B4EB4"/>
                </a:solidFill>
                <a:latin typeface="Calibri"/>
              </a:rPr>
              <a:t>Decidir y registrar</a:t>
            </a:r>
          </a:p>
        </p:txBody>
      </p:sp>
      <p:sp>
        <p:nvSpPr>
          <p:cNvPr id="23" name="TextBox 22"/>
          <p:cNvSpPr txBox="1"/>
          <p:nvPr/>
        </p:nvSpPr>
        <p:spPr>
          <a:xfrm>
            <a:off x="5303520" y="4526279"/>
            <a:ext cx="6217920" cy="658368"/>
          </a:xfrm>
          <a:prstGeom prst="rect">
            <a:avLst/>
          </a:prstGeom>
          <a:noFill/>
        </p:spPr>
        <p:txBody>
          <a:bodyPr wrap="square" lIns="45720" rIns="45720" tIns="27432" bIns="27432" anchor="ctr">
            <a:spAutoFit/>
          </a:bodyPr>
          <a:lstStyle/>
          <a:p>
            <a:pPr algn="l">
              <a:spcAft>
                <a:spcPts val="400"/>
              </a:spcAft>
            </a:pPr>
            <a:r>
              <a:rPr sz="1800" b="0" i="0">
                <a:solidFill>
                  <a:srgbClr val="011754"/>
                </a:solidFill>
                <a:latin typeface="Calibri"/>
              </a:rPr>
              <a:t>Conserva o descarta, y deja constancia de tu decisión.</a:t>
            </a:r>
          </a:p>
        </p:txBody>
      </p:sp>
      <p:sp>
        <p:nvSpPr>
          <p:cNvPr id="24" name="Rounded Rectangle 23"/>
          <p:cNvSpPr/>
          <p:nvPr/>
        </p:nvSpPr>
        <p:spPr>
          <a:xfrm>
            <a:off x="612648" y="5394960"/>
            <a:ext cx="10972800" cy="77724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5394960"/>
            <a:ext cx="10515600" cy="77724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Auditar una respuesta no toma mucho más tiempo que redactarla, y evita errores costosos.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Qué no debe compartirse con una IA gratuita</a:t>
            </a:r>
          </a:p>
        </p:txBody>
      </p:sp>
      <p:sp>
        <p:nvSpPr>
          <p:cNvPr id="4" name="TextBox 3"/>
          <p:cNvSpPr txBox="1"/>
          <p:nvPr/>
        </p:nvSpPr>
        <p:spPr>
          <a:xfrm>
            <a:off x="612648" y="1463040"/>
            <a:ext cx="10972800" cy="457200"/>
          </a:xfrm>
          <a:prstGeom prst="rect">
            <a:avLst/>
          </a:prstGeom>
          <a:noFill/>
        </p:spPr>
        <p:txBody>
          <a:bodyPr wrap="square" lIns="45720" rIns="45720" tIns="27432" bIns="27432" anchor="t">
            <a:spAutoFit/>
          </a:bodyPr>
          <a:lstStyle/>
          <a:p>
            <a:pPr algn="l">
              <a:spcAft>
                <a:spcPts val="400"/>
              </a:spcAft>
            </a:pPr>
            <a:r>
              <a:rPr sz="1800" b="0" i="0">
                <a:solidFill>
                  <a:srgbClr val="011754"/>
                </a:solidFill>
                <a:latin typeface="Calibri"/>
              </a:rPr>
              <a:t>Antes de pegar cualquier fragmento en un asistente conversacional, revísalo en cuatro pasos.</a:t>
            </a:r>
          </a:p>
        </p:txBody>
      </p:sp>
      <p:sp>
        <p:nvSpPr>
          <p:cNvPr id="5" name="Rounded Rectangle 4"/>
          <p:cNvSpPr/>
          <p:nvPr/>
        </p:nvSpPr>
        <p:spPr>
          <a:xfrm>
            <a:off x="612648" y="2103120"/>
            <a:ext cx="539496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212848"/>
            <a:ext cx="502920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1. Identificar</a:t>
            </a:r>
          </a:p>
          <a:p>
            <a:pPr algn="l">
              <a:spcAft>
                <a:spcPts val="400"/>
              </a:spcAft>
            </a:pPr>
            <a:r>
              <a:rPr sz="1800" b="0" i="0">
                <a:solidFill>
                  <a:srgbClr val="011754"/>
                </a:solidFill>
                <a:latin typeface="Calibri"/>
              </a:rPr>
              <a:t>Localiza nombres, DNI, contactos, cifras inéditas o datos de una institución dentro del fragmento.</a:t>
            </a:r>
          </a:p>
        </p:txBody>
      </p:sp>
      <p:sp>
        <p:nvSpPr>
          <p:cNvPr id="7" name="Rounded Rectangle 6"/>
          <p:cNvSpPr/>
          <p:nvPr/>
        </p:nvSpPr>
        <p:spPr>
          <a:xfrm>
            <a:off x="6190488" y="2103120"/>
            <a:ext cx="539496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3368" y="2212848"/>
            <a:ext cx="502920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2. Clasificar</a:t>
            </a:r>
          </a:p>
          <a:p>
            <a:pPr algn="l">
              <a:spcAft>
                <a:spcPts val="400"/>
              </a:spcAft>
            </a:pPr>
            <a:r>
              <a:rPr sz="1800" b="0" i="0">
                <a:solidFill>
                  <a:srgbClr val="011754"/>
                </a:solidFill>
                <a:latin typeface="Calibri"/>
              </a:rPr>
              <a:t>Separa lo publicado y propio de lo ajeno, inédito o identificable.</a:t>
            </a:r>
          </a:p>
        </p:txBody>
      </p:sp>
      <p:sp>
        <p:nvSpPr>
          <p:cNvPr id="9" name="Rounded Rectangle 8"/>
          <p:cNvSpPr/>
          <p:nvPr/>
        </p:nvSpPr>
        <p:spPr>
          <a:xfrm>
            <a:off x="612648" y="4206240"/>
            <a:ext cx="539496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315968"/>
            <a:ext cx="502920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3. Decidir</a:t>
            </a:r>
          </a:p>
          <a:p>
            <a:pPr algn="l">
              <a:spcAft>
                <a:spcPts val="400"/>
              </a:spcAft>
            </a:pPr>
            <a:r>
              <a:rPr sz="1800" b="0" i="0">
                <a:solidFill>
                  <a:srgbClr val="011754"/>
                </a:solidFill>
                <a:latin typeface="Calibri"/>
              </a:rPr>
              <a:t>Pregúntate si divulgarlo podría perjudicar a una persona o a una institución.</a:t>
            </a:r>
          </a:p>
        </p:txBody>
      </p:sp>
      <p:sp>
        <p:nvSpPr>
          <p:cNvPr id="11" name="Rounded Rectangle 10"/>
          <p:cNvSpPr/>
          <p:nvPr/>
        </p:nvSpPr>
        <p:spPr>
          <a:xfrm>
            <a:off x="6190488" y="4206240"/>
            <a:ext cx="539496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4315968"/>
            <a:ext cx="502920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4. Anonimizar o retener</a:t>
            </a:r>
          </a:p>
          <a:p>
            <a:pPr algn="l">
              <a:spcAft>
                <a:spcPts val="400"/>
              </a:spcAft>
            </a:pPr>
            <a:r>
              <a:rPr sz="1800" b="0" i="0">
                <a:solidFill>
                  <a:srgbClr val="011754"/>
                </a:solidFill>
                <a:latin typeface="Calibri"/>
              </a:rPr>
              <a:t>Quita los datos identificables o, si no es posible, no lo compartas.</a:t>
            </a:r>
          </a:p>
        </p:txBody>
      </p:sp>
      <p:sp>
        <p:nvSpPr>
          <p:cNvPr id="13" name="TextBox 12"/>
          <p:cNvSpPr txBox="1"/>
          <p:nvPr/>
        </p:nvSpPr>
        <p:spPr>
          <a:xfrm>
            <a:off x="612648" y="5943600"/>
            <a:ext cx="10972800" cy="365760"/>
          </a:xfrm>
          <a:prstGeom prst="rect">
            <a:avLst/>
          </a:prstGeom>
          <a:noFill/>
        </p:spPr>
        <p:txBody>
          <a:bodyPr wrap="square" lIns="45720" rIns="45720" tIns="27432" bIns="27432" anchor="t">
            <a:spAutoFit/>
          </a:bodyPr>
          <a:lstStyle/>
          <a:p>
            <a:pPr algn="l">
              <a:spcAft>
                <a:spcPts val="400"/>
              </a:spcAft>
            </a:pPr>
            <a:r>
              <a:rPr sz="1800" b="1" i="0">
                <a:solidFill>
                  <a:srgbClr val="2B4EB4"/>
                </a:solidFill>
                <a:latin typeface="Calibri"/>
              </a:rPr>
              <a:t>Lo que pegas puede quedar almacenado fuera de tu control.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¿Qué sí puede compartirse?</a:t>
            </a:r>
          </a:p>
        </p:txBody>
      </p:sp>
      <p:sp>
        <p:nvSpPr>
          <p:cNvPr id="4" name="Rounded Rectangle 3"/>
          <p:cNvSpPr/>
          <p:nvPr/>
        </p:nvSpPr>
        <p:spPr>
          <a:xfrm>
            <a:off x="612648" y="160020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Metodología general</a:t>
            </a:r>
          </a:p>
          <a:p>
            <a:pPr algn="l">
              <a:spcAft>
                <a:spcPts val="400"/>
              </a:spcAft>
            </a:pPr>
            <a:r>
              <a:rPr sz="1800" b="0" i="0">
                <a:solidFill>
                  <a:srgbClr val="011754"/>
                </a:solidFill>
                <a:latin typeface="Calibri"/>
              </a:rPr>
              <a:t>Descripción del diseño y los pasos, sin cifras ni nombres.</a:t>
            </a:r>
          </a:p>
        </p:txBody>
      </p:sp>
      <p:sp>
        <p:nvSpPr>
          <p:cNvPr id="6" name="Rounded Rectangle 5"/>
          <p:cNvSpPr/>
          <p:nvPr/>
        </p:nvSpPr>
        <p:spPr>
          <a:xfrm>
            <a:off x="4331208" y="160020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14088" y="170992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Pregunta de investigación</a:t>
            </a:r>
          </a:p>
          <a:p>
            <a:pPr algn="l">
              <a:spcAft>
                <a:spcPts val="400"/>
              </a:spcAft>
            </a:pPr>
            <a:r>
              <a:rPr sz="1800" b="0" i="0">
                <a:solidFill>
                  <a:srgbClr val="011754"/>
                </a:solidFill>
                <a:latin typeface="Calibri"/>
              </a:rPr>
              <a:t>El problema que quieres resolver, sin datos reservados.</a:t>
            </a:r>
          </a:p>
        </p:txBody>
      </p:sp>
      <p:sp>
        <p:nvSpPr>
          <p:cNvPr id="8" name="Rounded Rectangle 7"/>
          <p:cNvSpPr/>
          <p:nvPr/>
        </p:nvSpPr>
        <p:spPr>
          <a:xfrm>
            <a:off x="8049767" y="160020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32647" y="170992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Literatura publicada</a:t>
            </a:r>
          </a:p>
          <a:p>
            <a:pPr algn="l">
              <a:spcAft>
                <a:spcPts val="400"/>
              </a:spcAft>
            </a:pPr>
            <a:r>
              <a:rPr sz="1800" b="0" i="0">
                <a:solidFill>
                  <a:srgbClr val="011754"/>
                </a:solidFill>
                <a:latin typeface="Calibri"/>
              </a:rPr>
              <a:t>Artículos, libros e informes ya disponibles públicamente.</a:t>
            </a:r>
          </a:p>
        </p:txBody>
      </p:sp>
      <p:sp>
        <p:nvSpPr>
          <p:cNvPr id="10" name="Rounded Rectangle 9"/>
          <p:cNvSpPr/>
          <p:nvPr/>
        </p:nvSpPr>
        <p:spPr>
          <a:xfrm>
            <a:off x="612648" y="370332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381304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Resultados ya publicados</a:t>
            </a:r>
          </a:p>
          <a:p>
            <a:pPr algn="l">
              <a:spcAft>
                <a:spcPts val="400"/>
              </a:spcAft>
            </a:pPr>
            <a:r>
              <a:rPr sz="1800" b="0" i="0">
                <a:solidFill>
                  <a:srgbClr val="011754"/>
                </a:solidFill>
                <a:latin typeface="Calibri"/>
              </a:rPr>
              <a:t>Hallazgos de un artículo indexado y accesible.</a:t>
            </a:r>
          </a:p>
        </p:txBody>
      </p:sp>
      <p:sp>
        <p:nvSpPr>
          <p:cNvPr id="12" name="Rounded Rectangle 11"/>
          <p:cNvSpPr/>
          <p:nvPr/>
        </p:nvSpPr>
        <p:spPr>
          <a:xfrm>
            <a:off x="4331208" y="370332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4088" y="381304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Texto propio para revisar</a:t>
            </a:r>
          </a:p>
          <a:p>
            <a:pPr algn="l">
              <a:spcAft>
                <a:spcPts val="400"/>
              </a:spcAft>
            </a:pPr>
            <a:r>
              <a:rPr sz="1800" b="0" i="0">
                <a:solidFill>
                  <a:srgbClr val="011754"/>
                </a:solidFill>
                <a:latin typeface="Calibri"/>
              </a:rPr>
              <a:t>Un párrafo tuyo, sin información identificable.</a:t>
            </a:r>
          </a:p>
        </p:txBody>
      </p:sp>
      <p:sp>
        <p:nvSpPr>
          <p:cNvPr id="14" name="Rounded Rectangle 13"/>
          <p:cNvSpPr/>
          <p:nvPr/>
        </p:nvSpPr>
        <p:spPr>
          <a:xfrm>
            <a:off x="8049767" y="3703320"/>
            <a:ext cx="3535680" cy="192024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2647" y="3813048"/>
            <a:ext cx="3169920" cy="170078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Dudas conceptuales</a:t>
            </a:r>
          </a:p>
          <a:p>
            <a:pPr algn="l">
              <a:spcAft>
                <a:spcPts val="400"/>
              </a:spcAft>
            </a:pPr>
            <a:r>
              <a:rPr sz="1800" b="0" i="0">
                <a:solidFill>
                  <a:srgbClr val="011754"/>
                </a:solidFill>
                <a:latin typeface="Calibri"/>
              </a:rPr>
              <a:t>Preguntas sobre un método, un término o una técnica.</a:t>
            </a:r>
          </a:p>
        </p:txBody>
      </p:sp>
      <p:sp>
        <p:nvSpPr>
          <p:cNvPr id="16" name="Rounded Rectangle 15"/>
          <p:cNvSpPr/>
          <p:nvPr/>
        </p:nvSpPr>
        <p:spPr>
          <a:xfrm>
            <a:off x="612648" y="5577840"/>
            <a:ext cx="10972800" cy="68580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577840"/>
            <a:ext cx="10515600" cy="68580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Lo publicado y lo propio pueden compartirse; lo ajeno, inédito o identificable, no.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¿Comparto esta información con la IA?</a:t>
            </a:r>
          </a:p>
        </p:txBody>
      </p:sp>
      <p:graphicFrame>
        <p:nvGraphicFramePr>
          <p:cNvPr id="4" name="Table 3"/>
          <p:cNvGraphicFramePr>
            <a:graphicFrameLocks noGrp="1"/>
          </p:cNvGraphicFramePr>
          <p:nvPr/>
        </p:nvGraphicFramePr>
        <p:xfrm>
          <a:off x="612648" y="1600200"/>
          <a:ext cx="10972800" cy="4297680"/>
        </p:xfrm>
        <a:graphic>
          <a:graphicData uri="http://schemas.openxmlformats.org/drawingml/2006/table">
            <a:tbl>
              <a:tblPr firstRow="1" bandRow="1">
                <a:tableStyleId>{5C22544A-7EE6-4342-B048-85BDC9FD1C3A}</a:tableStyleId>
              </a:tblPr>
              <a:tblGrid>
                <a:gridCol w="3566160"/>
                <a:gridCol w="1920240"/>
                <a:gridCol w="5486400"/>
              </a:tblGrid>
              <a:tr h="548640">
                <a:tc>
                  <a:txBody>
                    <a:bodyPr wrap="square"/>
                    <a:lstStyle/>
                    <a:p>
                      <a:pPr algn="l"/>
                      <a:r>
                        <a:rPr sz="1800" b="1">
                          <a:solidFill>
                            <a:srgbClr val="FFFFFF"/>
                          </a:solidFill>
                          <a:latin typeface="Calibri"/>
                        </a:rPr>
                        <a:t>Tipo de información</a:t>
                      </a:r>
                    </a:p>
                  </a:txBody>
                  <a:tcPr anchor="ctr" marL="109728" marR="109728">
                    <a:solidFill>
                      <a:srgbClr val="011754"/>
                    </a:solidFill>
                  </a:tcPr>
                </a:tc>
                <a:tc>
                  <a:txBody>
                    <a:bodyPr wrap="square"/>
                    <a:lstStyle/>
                    <a:p>
                      <a:pPr algn="ctr"/>
                      <a:r>
                        <a:rPr sz="1800" b="1">
                          <a:solidFill>
                            <a:srgbClr val="FFFFFF"/>
                          </a:solidFill>
                          <a:latin typeface="Calibri"/>
                        </a:rPr>
                        <a:t>¿Puedo compartirla?</a:t>
                      </a:r>
                    </a:p>
                  </a:txBody>
                  <a:tcPr anchor="ctr" marL="109728" marR="109728">
                    <a:solidFill>
                      <a:srgbClr val="011754"/>
                    </a:solidFill>
                  </a:tcPr>
                </a:tc>
                <a:tc>
                  <a:txBody>
                    <a:bodyPr wrap="square"/>
                    <a:lstStyle/>
                    <a:p>
                      <a:pPr algn="l"/>
                      <a:r>
                        <a:rPr sz="1800" b="1">
                          <a:solidFill>
                            <a:srgbClr val="FFFFFF"/>
                          </a:solidFill>
                          <a:latin typeface="Calibri"/>
                        </a:rPr>
                        <a:t>Ejemplo académico</a:t>
                      </a:r>
                    </a:p>
                  </a:txBody>
                  <a:tcPr anchor="ctr" marL="109728" marR="109728">
                    <a:solidFill>
                      <a:srgbClr val="011754"/>
                    </a:solidFill>
                  </a:tcPr>
                </a:tc>
              </a:tr>
              <a:tr h="749808">
                <a:tc>
                  <a:txBody>
                    <a:bodyPr wrap="square"/>
                    <a:lstStyle/>
                    <a:p>
                      <a:pPr algn="l"/>
                      <a:r>
                        <a:rPr sz="1800" b="1">
                          <a:solidFill>
                            <a:srgbClr val="011754"/>
                          </a:solidFill>
                          <a:latin typeface="Calibri"/>
                        </a:rPr>
                        <a:t>Datos personales identificables</a:t>
                      </a:r>
                    </a:p>
                  </a:txBody>
                  <a:tcPr anchor="ctr" marL="109728" marR="109728">
                    <a:solidFill>
                      <a:srgbClr val="D9DEEF"/>
                    </a:solidFill>
                  </a:tcPr>
                </a:tc>
                <a:tc>
                  <a:txBody>
                    <a:bodyPr wrap="square"/>
                    <a:lstStyle/>
                    <a:p>
                      <a:pPr algn="ctr"/>
                      <a:r>
                        <a:rPr sz="1800" b="1">
                          <a:solidFill>
                            <a:srgbClr val="A02A2A"/>
                          </a:solidFill>
                          <a:latin typeface="Calibri"/>
                        </a:rPr>
                        <a:t>No</a:t>
                      </a:r>
                    </a:p>
                  </a:txBody>
                  <a:tcPr anchor="ctr" marL="109728" marR="109728">
                    <a:solidFill>
                      <a:srgbClr val="D9DEEF"/>
                    </a:solidFill>
                  </a:tcPr>
                </a:tc>
                <a:tc>
                  <a:txBody>
                    <a:bodyPr wrap="square"/>
                    <a:lstStyle/>
                    <a:p>
                      <a:pPr algn="l"/>
                      <a:r>
                        <a:rPr sz="1800" b="0">
                          <a:solidFill>
                            <a:srgbClr val="011754"/>
                          </a:solidFill>
                          <a:latin typeface="Calibri"/>
                        </a:rPr>
                        <a:t>Nombres, DNI o contactos de participantes de un estudio</a:t>
                      </a:r>
                    </a:p>
                  </a:txBody>
                  <a:tcPr anchor="ctr" marL="109728" marR="109728">
                    <a:solidFill>
                      <a:srgbClr val="D9DEEF"/>
                    </a:solidFill>
                  </a:tcPr>
                </a:tc>
              </a:tr>
              <a:tr h="749808">
                <a:tc>
                  <a:txBody>
                    <a:bodyPr wrap="square"/>
                    <a:lstStyle/>
                    <a:p>
                      <a:pPr algn="l"/>
                      <a:r>
                        <a:rPr sz="1800" b="1">
                          <a:solidFill>
                            <a:srgbClr val="011754"/>
                          </a:solidFill>
                          <a:latin typeface="Calibri"/>
                        </a:rPr>
                        <a:t>Resultados ya publicados</a:t>
                      </a:r>
                    </a:p>
                  </a:txBody>
                  <a:tcPr anchor="ctr" marL="109728" marR="109728">
                    <a:solidFill>
                      <a:srgbClr val="FFFFFF"/>
                    </a:solidFill>
                  </a:tcPr>
                </a:tc>
                <a:tc>
                  <a:txBody>
                    <a:bodyPr wrap="square"/>
                    <a:lstStyle/>
                    <a:p>
                      <a:pPr algn="ctr"/>
                      <a:r>
                        <a:rPr sz="1800" b="1">
                          <a:solidFill>
                            <a:srgbClr val="1E7A3C"/>
                          </a:solidFill>
                          <a:latin typeface="Calibri"/>
                        </a:rPr>
                        <a:t>Sí</a:t>
                      </a:r>
                    </a:p>
                  </a:txBody>
                  <a:tcPr anchor="ctr" marL="109728" marR="109728">
                    <a:solidFill>
                      <a:srgbClr val="FFFFFF"/>
                    </a:solidFill>
                  </a:tcPr>
                </a:tc>
                <a:tc>
                  <a:txBody>
                    <a:bodyPr wrap="square"/>
                    <a:lstStyle/>
                    <a:p>
                      <a:pPr algn="l"/>
                      <a:r>
                        <a:rPr sz="1800" b="0">
                          <a:solidFill>
                            <a:srgbClr val="011754"/>
                          </a:solidFill>
                          <a:latin typeface="Calibri"/>
                        </a:rPr>
                        <a:t>Hallazgos de un artículo indexado y disponible</a:t>
                      </a:r>
                    </a:p>
                  </a:txBody>
                  <a:tcPr anchor="ctr" marL="109728" marR="109728">
                    <a:solidFill>
                      <a:srgbClr val="FFFFFF"/>
                    </a:solidFill>
                  </a:tcPr>
                </a:tc>
              </a:tr>
              <a:tr h="749808">
                <a:tc>
                  <a:txBody>
                    <a:bodyPr wrap="square"/>
                    <a:lstStyle/>
                    <a:p>
                      <a:pPr algn="l"/>
                      <a:r>
                        <a:rPr sz="1800" b="1">
                          <a:solidFill>
                            <a:srgbClr val="011754"/>
                          </a:solidFill>
                          <a:latin typeface="Calibri"/>
                        </a:rPr>
                        <a:t>Instrumentos o bases inéditas</a:t>
                      </a:r>
                    </a:p>
                  </a:txBody>
                  <a:tcPr anchor="ctr" marL="109728" marR="109728">
                    <a:solidFill>
                      <a:srgbClr val="D9DEEF"/>
                    </a:solidFill>
                  </a:tcPr>
                </a:tc>
                <a:tc>
                  <a:txBody>
                    <a:bodyPr wrap="square"/>
                    <a:lstStyle/>
                    <a:p>
                      <a:pPr algn="ctr"/>
                      <a:r>
                        <a:rPr sz="1800" b="1">
                          <a:solidFill>
                            <a:srgbClr val="A02A2A"/>
                          </a:solidFill>
                          <a:latin typeface="Calibri"/>
                        </a:rPr>
                        <a:t>No</a:t>
                      </a:r>
                    </a:p>
                  </a:txBody>
                  <a:tcPr anchor="ctr" marL="109728" marR="109728">
                    <a:solidFill>
                      <a:srgbClr val="D9DEEF"/>
                    </a:solidFill>
                  </a:tcPr>
                </a:tc>
                <a:tc>
                  <a:txBody>
                    <a:bodyPr wrap="square"/>
                    <a:lstStyle/>
                    <a:p>
                      <a:pPr algn="l"/>
                      <a:r>
                        <a:rPr sz="1800" b="0">
                          <a:solidFill>
                            <a:srgbClr val="011754"/>
                          </a:solidFill>
                          <a:latin typeface="Calibri"/>
                        </a:rPr>
                        <a:t>Un cuestionario no publicado o una base institucional reservada</a:t>
                      </a:r>
                    </a:p>
                  </a:txBody>
                  <a:tcPr anchor="ctr" marL="109728" marR="109728">
                    <a:solidFill>
                      <a:srgbClr val="D9DEEF"/>
                    </a:solidFill>
                  </a:tcPr>
                </a:tc>
              </a:tr>
              <a:tr h="749808">
                <a:tc>
                  <a:txBody>
                    <a:bodyPr wrap="square"/>
                    <a:lstStyle/>
                    <a:p>
                      <a:pPr algn="l"/>
                      <a:r>
                        <a:rPr sz="1800" b="1">
                          <a:solidFill>
                            <a:srgbClr val="011754"/>
                          </a:solidFill>
                          <a:latin typeface="Calibri"/>
                        </a:rPr>
                        <a:t>Texto propio para revisar</a:t>
                      </a:r>
                    </a:p>
                  </a:txBody>
                  <a:tcPr anchor="ctr" marL="109728" marR="109728">
                    <a:solidFill>
                      <a:srgbClr val="FFFFFF"/>
                    </a:solidFill>
                  </a:tcPr>
                </a:tc>
                <a:tc>
                  <a:txBody>
                    <a:bodyPr wrap="square"/>
                    <a:lstStyle/>
                    <a:p>
                      <a:pPr algn="ctr"/>
                      <a:r>
                        <a:rPr sz="1800" b="1">
                          <a:solidFill>
                            <a:srgbClr val="1E7A3C"/>
                          </a:solidFill>
                          <a:latin typeface="Calibri"/>
                        </a:rPr>
                        <a:t>Sí</a:t>
                      </a:r>
                    </a:p>
                  </a:txBody>
                  <a:tcPr anchor="ctr" marL="109728" marR="109728">
                    <a:solidFill>
                      <a:srgbClr val="FFFFFF"/>
                    </a:solidFill>
                  </a:tcPr>
                </a:tc>
                <a:tc>
                  <a:txBody>
                    <a:bodyPr wrap="square"/>
                    <a:lstStyle/>
                    <a:p>
                      <a:pPr algn="l"/>
                      <a:r>
                        <a:rPr sz="1800" b="0">
                          <a:solidFill>
                            <a:srgbClr val="011754"/>
                          </a:solidFill>
                          <a:latin typeface="Calibri"/>
                        </a:rPr>
                        <a:t>Un párrafo de tu borrador sin datos identificables</a:t>
                      </a:r>
                    </a:p>
                  </a:txBody>
                  <a:tcPr anchor="ctr" marL="109728" marR="109728">
                    <a:solidFill>
                      <a:srgbClr val="FFFFFF"/>
                    </a:solidFill>
                  </a:tcPr>
                </a:tc>
              </a:tr>
              <a:tr h="749808">
                <a:tc>
                  <a:txBody>
                    <a:bodyPr wrap="square"/>
                    <a:lstStyle/>
                    <a:p>
                      <a:pPr algn="l"/>
                      <a:r>
                        <a:rPr sz="1800" b="1">
                          <a:solidFill>
                            <a:srgbClr val="011754"/>
                          </a:solidFill>
                          <a:latin typeface="Calibri"/>
                        </a:rPr>
                        <a:t>Resultados de un proyecto financiado</a:t>
                      </a:r>
                    </a:p>
                  </a:txBody>
                  <a:tcPr anchor="ctr" marL="109728" marR="109728">
                    <a:solidFill>
                      <a:srgbClr val="D9DEEF"/>
                    </a:solidFill>
                  </a:tcPr>
                </a:tc>
                <a:tc>
                  <a:txBody>
                    <a:bodyPr wrap="square"/>
                    <a:lstStyle/>
                    <a:p>
                      <a:pPr algn="ctr"/>
                      <a:r>
                        <a:rPr sz="1800" b="1">
                          <a:solidFill>
                            <a:srgbClr val="A02A2A"/>
                          </a:solidFill>
                          <a:latin typeface="Calibri"/>
                        </a:rPr>
                        <a:t>No</a:t>
                      </a:r>
                    </a:p>
                  </a:txBody>
                  <a:tcPr anchor="ctr" marL="109728" marR="109728">
                    <a:solidFill>
                      <a:srgbClr val="D9DEEF"/>
                    </a:solidFill>
                  </a:tcPr>
                </a:tc>
                <a:tc>
                  <a:txBody>
                    <a:bodyPr wrap="square"/>
                    <a:lstStyle/>
                    <a:p>
                      <a:pPr algn="l"/>
                      <a:r>
                        <a:rPr sz="1800" b="0">
                          <a:solidFill>
                            <a:srgbClr val="011754"/>
                          </a:solidFill>
                          <a:latin typeface="Calibri"/>
                        </a:rPr>
                        <a:t>Ensayos aún no publicados de un estudio con auspicio de una empresa</a:t>
                      </a:r>
                    </a:p>
                  </a:txBody>
                  <a:tcPr anchor="ctr" marL="109728" marR="109728">
                    <a:solidFill>
                      <a:srgbClr val="D9DEEF"/>
                    </a:solidFill>
                  </a:tcPr>
                </a:tc>
              </a:tr>
            </a:tbl>
          </a:graphicData>
        </a:graphic>
      </p:graphicFrame>
      <p:sp>
        <p:nvSpPr>
          <p:cNvPr id="5" name="TextBox 4"/>
          <p:cNvSpPr txBox="1"/>
          <p:nvPr/>
        </p:nvSpPr>
        <p:spPr>
          <a:xfrm>
            <a:off x="612648" y="5943600"/>
            <a:ext cx="10972800" cy="365760"/>
          </a:xfrm>
          <a:prstGeom prst="rect">
            <a:avLst/>
          </a:prstGeom>
          <a:noFill/>
        </p:spPr>
        <p:txBody>
          <a:bodyPr wrap="square" lIns="45720" rIns="45720" tIns="27432" bIns="27432" anchor="t">
            <a:spAutoFit/>
          </a:bodyPr>
          <a:lstStyle/>
          <a:p>
            <a:pPr algn="l">
              <a:spcAft>
                <a:spcPts val="400"/>
              </a:spcAft>
            </a:pPr>
            <a:r>
              <a:rPr sz="1800" b="1" i="0">
                <a:solidFill>
                  <a:srgbClr val="2B4EB4"/>
                </a:solidFill>
                <a:latin typeface="Calibri"/>
              </a:rPr>
              <a:t>En el laboratorio aplicarás este criterio a la tabla institucional de Daniel.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vider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82912" y="2676125"/>
            <a:ext cx="437840" cy="1999910"/>
          </a:xfrm>
          <a:prstGeom prst="rect">
            <a:avLst/>
          </a:prstGeom>
          <a:noFill/>
        </p:spPr>
        <p:txBody>
          <a:bodyPr wrap="square">
            <a:spAutoFit/>
          </a:bodyPr>
          <a:lstStyle/>
          <a:p>
            <a:pPr algn="l">
              <a:lnSpc>
                <a:spcPct val="115000"/>
              </a:lnSpc>
            </a:pPr>
            <a:r>
              <a:rPr sz="7200" b="1" i="0">
                <a:solidFill>
                  <a:srgbClr val="FFFFFF"/>
                </a:solidFill>
                <a:latin typeface="Calibri"/>
              </a:rPr>
              <a:t>5</a:t>
            </a:r>
          </a:p>
        </p:txBody>
      </p:sp>
      <p:sp>
        <p:nvSpPr>
          <p:cNvPr id="4" name="TextBox 3"/>
          <p:cNvSpPr txBox="1"/>
          <p:nvPr/>
        </p:nvSpPr>
        <p:spPr>
          <a:xfrm>
            <a:off x="982912" y="4737409"/>
            <a:ext cx="10346277" cy="702221"/>
          </a:xfrm>
          <a:prstGeom prst="rect">
            <a:avLst/>
          </a:prstGeom>
          <a:noFill/>
        </p:spPr>
        <p:txBody>
          <a:bodyPr wrap="square">
            <a:spAutoFit/>
          </a:bodyPr>
          <a:lstStyle/>
          <a:p>
            <a:pPr algn="l">
              <a:lnSpc>
                <a:spcPct val="115000"/>
              </a:lnSpc>
            </a:pPr>
            <a:r>
              <a:rPr sz="2600" b="0" i="0">
                <a:solidFill>
                  <a:srgbClr val="FFFFFF"/>
                </a:solidFill>
                <a:latin typeface="Calibri"/>
              </a:rPr>
              <a:t>AUTORÍA, TRANSPARENCIA Y DECLARACIÓN DE USO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Partimos de un texto ya trabajado con IA</a:t>
            </a:r>
          </a:p>
        </p:txBody>
      </p:sp>
      <p:sp>
        <p:nvSpPr>
          <p:cNvPr id="4" name="Rounded Rectangle 3"/>
          <p:cNvSpPr/>
          <p:nvPr/>
        </p:nvSpPr>
        <p:spPr>
          <a:xfrm>
            <a:off x="612648" y="1600200"/>
            <a:ext cx="10972800" cy="10972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424160" cy="1097280"/>
          </a:xfrm>
          <a:prstGeom prst="rect">
            <a:avLst/>
          </a:prstGeom>
          <a:noFill/>
        </p:spPr>
        <p:txBody>
          <a:bodyPr wrap="square" lIns="45720" rIns="45720" tIns="27432" bIns="27432" anchor="ctr">
            <a:spAutoFit/>
          </a:bodyPr>
          <a:lstStyle/>
          <a:p>
            <a:pPr algn="l">
              <a:spcAft>
                <a:spcPts val="400"/>
              </a:spcAft>
            </a:pPr>
            <a:r>
              <a:rPr sz="2200" b="0" i="1">
                <a:solidFill>
                  <a:srgbClr val="FFFFFF"/>
                </a:solidFill>
                <a:latin typeface="Calibri"/>
              </a:rPr>
              <a:t>«Usé una IA para traducir y mejorar la redacción de mi artículo.»</a:t>
            </a:r>
          </a:p>
        </p:txBody>
      </p:sp>
      <p:sp>
        <p:nvSpPr>
          <p:cNvPr id="6" name="Rounded Rectangle 5"/>
          <p:cNvSpPr/>
          <p:nvPr/>
        </p:nvSpPr>
        <p:spPr>
          <a:xfrm>
            <a:off x="612648" y="2926080"/>
            <a:ext cx="5394960" cy="292608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035808"/>
            <a:ext cx="5029200" cy="270662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Lo que sí dice</a:t>
            </a:r>
          </a:p>
          <a:p>
            <a:pPr algn="l">
              <a:spcAft>
                <a:spcPts val="400"/>
              </a:spcAft>
            </a:pPr>
            <a:r>
              <a:rPr sz="1800" b="0" i="0">
                <a:solidFill>
                  <a:srgbClr val="011754"/>
                </a:solidFill>
                <a:latin typeface="Calibri"/>
              </a:rPr>
              <a:t>Que se usó IA.</a:t>
            </a:r>
          </a:p>
          <a:p>
            <a:pPr algn="l">
              <a:spcAft>
                <a:spcPts val="400"/>
              </a:spcAft>
            </a:pPr>
            <a:r>
              <a:rPr sz="1800" b="0" i="0">
                <a:solidFill>
                  <a:srgbClr val="011754"/>
                </a:solidFill>
                <a:latin typeface="Calibri"/>
              </a:rPr>
              <a:t>Que la tarea fue traducir y mejorar la redacción.</a:t>
            </a:r>
          </a:p>
        </p:txBody>
      </p:sp>
      <p:sp>
        <p:nvSpPr>
          <p:cNvPr id="8" name="Rounded Rectangle 7"/>
          <p:cNvSpPr/>
          <p:nvPr/>
        </p:nvSpPr>
        <p:spPr>
          <a:xfrm>
            <a:off x="6190488" y="2926080"/>
            <a:ext cx="5394960" cy="2926080"/>
          </a:xfrm>
          <a:prstGeom prst="roundRect">
            <a:avLst>
              <a:gd name="adj" fmla="val 6000"/>
            </a:avLst>
          </a:prstGeom>
          <a:solidFill>
            <a:srgbClr val="F6EC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3035808"/>
            <a:ext cx="5029200" cy="2706624"/>
          </a:xfrm>
          <a:prstGeom prst="rect">
            <a:avLst/>
          </a:prstGeom>
          <a:noFill/>
        </p:spPr>
        <p:txBody>
          <a:bodyPr wrap="square" lIns="45720" rIns="45720" tIns="27432" bIns="27432" anchor="t">
            <a:spAutoFit/>
          </a:bodyPr>
          <a:lstStyle/>
          <a:p>
            <a:pPr algn="l">
              <a:spcAft>
                <a:spcPts val="600"/>
              </a:spcAft>
            </a:pPr>
            <a:r>
              <a:rPr sz="2000" b="1" i="0">
                <a:solidFill>
                  <a:srgbClr val="8A5A00"/>
                </a:solidFill>
                <a:latin typeface="Calibri"/>
              </a:rPr>
              <a:t>¿Es suficiente? Falta indicar</a:t>
            </a:r>
          </a:p>
          <a:p>
            <a:pPr algn="l">
              <a:spcAft>
                <a:spcPts val="400"/>
              </a:spcAft>
            </a:pPr>
            <a:r>
              <a:rPr sz="1800" b="0" i="0">
                <a:solidFill>
                  <a:srgbClr val="011754"/>
                </a:solidFill>
                <a:latin typeface="Calibri"/>
              </a:rPr>
              <a:t>• La herramienta y su versión.</a:t>
            </a:r>
          </a:p>
          <a:p>
            <a:pPr algn="l">
              <a:spcAft>
                <a:spcPts val="400"/>
              </a:spcAft>
            </a:pPr>
            <a:r>
              <a:rPr sz="1800" b="0" i="0">
                <a:solidFill>
                  <a:srgbClr val="011754"/>
                </a:solidFill>
                <a:latin typeface="Calibri"/>
              </a:rPr>
              <a:t>• La tarea exacta y las partes del texto.</a:t>
            </a:r>
          </a:p>
          <a:p>
            <a:pPr algn="l">
              <a:spcAft>
                <a:spcPts val="400"/>
              </a:spcAft>
            </a:pPr>
            <a:r>
              <a:rPr sz="1800" b="0" i="0">
                <a:solidFill>
                  <a:srgbClr val="011754"/>
                </a:solidFill>
                <a:latin typeface="Calibri"/>
              </a:rPr>
              <a:t>• Qué verificaron los autores.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¿Qué debe indicar una declaración de uso de IA?</a:t>
            </a:r>
          </a:p>
        </p:txBody>
      </p:sp>
      <p:sp>
        <p:nvSpPr>
          <p:cNvPr id="4" name="Rounded Rectangle 3"/>
          <p:cNvSpPr/>
          <p:nvPr/>
        </p:nvSpPr>
        <p:spPr>
          <a:xfrm>
            <a:off x="61264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1. ¿Qué herramienta?</a:t>
            </a:r>
          </a:p>
          <a:p>
            <a:pPr algn="l">
              <a:spcAft>
                <a:spcPts val="400"/>
              </a:spcAft>
            </a:pPr>
            <a:r>
              <a:rPr sz="1800" b="0" i="0">
                <a:solidFill>
                  <a:srgbClr val="011754"/>
                </a:solidFill>
                <a:latin typeface="Calibri"/>
              </a:rPr>
              <a:t>Nombre y versión del asistente utilizado, por ejemplo Claude (versión gratuita).</a:t>
            </a:r>
          </a:p>
        </p:txBody>
      </p:sp>
      <p:sp>
        <p:nvSpPr>
          <p:cNvPr id="6" name="Rounded Rectangle 5"/>
          <p:cNvSpPr/>
          <p:nvPr/>
        </p:nvSpPr>
        <p:spPr>
          <a:xfrm>
            <a:off x="6190488" y="160020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3368" y="170992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2. ¿Para qué tarea?</a:t>
            </a:r>
          </a:p>
          <a:p>
            <a:pPr algn="l">
              <a:spcAft>
                <a:spcPts val="400"/>
              </a:spcAft>
            </a:pPr>
            <a:r>
              <a:rPr sz="1800" b="0" i="0">
                <a:solidFill>
                  <a:srgbClr val="011754"/>
                </a:solidFill>
                <a:latin typeface="Calibri"/>
              </a:rPr>
              <a:t>Traducción, corrección de estilo, generación de ideas u otra.</a:t>
            </a:r>
          </a:p>
        </p:txBody>
      </p:sp>
      <p:sp>
        <p:nvSpPr>
          <p:cNvPr id="8" name="Rounded Rectangle 7"/>
          <p:cNvSpPr/>
          <p:nvPr/>
        </p:nvSpPr>
        <p:spPr>
          <a:xfrm>
            <a:off x="61264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3. ¿Qué partes del texto?</a:t>
            </a:r>
          </a:p>
          <a:p>
            <a:pPr algn="l">
              <a:spcAft>
                <a:spcPts val="400"/>
              </a:spcAft>
            </a:pPr>
            <a:r>
              <a:rPr sz="1800" b="0" i="0">
                <a:solidFill>
                  <a:srgbClr val="011754"/>
                </a:solidFill>
                <a:latin typeface="Calibri"/>
              </a:rPr>
              <a:t>Qué secciones del trabajo contaron con ese apoyo.</a:t>
            </a:r>
          </a:p>
        </p:txBody>
      </p:sp>
      <p:sp>
        <p:nvSpPr>
          <p:cNvPr id="10" name="Rounded Rectangle 9"/>
          <p:cNvSpPr/>
          <p:nvPr/>
        </p:nvSpPr>
        <p:spPr>
          <a:xfrm>
            <a:off x="6190488" y="3611880"/>
            <a:ext cx="5394960" cy="182880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3721608"/>
            <a:ext cx="5029200" cy="160934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4. ¿Qué verificación?</a:t>
            </a:r>
          </a:p>
          <a:p>
            <a:pPr algn="l">
              <a:spcAft>
                <a:spcPts val="400"/>
              </a:spcAft>
            </a:pPr>
            <a:r>
              <a:rPr sz="1800" b="0" i="0">
                <a:solidFill>
                  <a:srgbClr val="011754"/>
                </a:solidFill>
                <a:latin typeface="Calibri"/>
              </a:rPr>
              <a:t>Qué comprobaron los autores antes de aceptar el resultado.</a:t>
            </a:r>
          </a:p>
        </p:txBody>
      </p:sp>
      <p:sp>
        <p:nvSpPr>
          <p:cNvPr id="12" name="Rounded Rectangle 11"/>
          <p:cNvSpPr/>
          <p:nvPr/>
        </p:nvSpPr>
        <p:spPr>
          <a:xfrm>
            <a:off x="612648" y="5486400"/>
            <a:ext cx="10972800" cy="6400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486400"/>
            <a:ext cx="10515600" cy="64008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Toda declaración de uso de IA debe incluir estos cuatro elementos.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Ejemplo de declaración de uso</a:t>
            </a:r>
          </a:p>
        </p:txBody>
      </p:sp>
      <p:sp>
        <p:nvSpPr>
          <p:cNvPr id="4" name="Rounded Rectangle 3"/>
          <p:cNvSpPr/>
          <p:nvPr/>
        </p:nvSpPr>
        <p:spPr>
          <a:xfrm>
            <a:off x="612648" y="1600200"/>
            <a:ext cx="10972800" cy="219456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424160" cy="2194560"/>
          </a:xfrm>
          <a:prstGeom prst="rect">
            <a:avLst/>
          </a:prstGeom>
          <a:noFill/>
        </p:spPr>
        <p:txBody>
          <a:bodyPr wrap="square" lIns="45720" rIns="45720" tIns="27432" bIns="27432" anchor="ctr">
            <a:spAutoFit/>
          </a:bodyPr>
          <a:lstStyle/>
          <a:p>
            <a:pPr algn="l">
              <a:spcAft>
                <a:spcPts val="400"/>
              </a:spcAft>
            </a:pPr>
            <a:r>
              <a:rPr sz="2000" b="0" i="0">
                <a:solidFill>
                  <a:srgbClr val="FFFFFF"/>
                </a:solidFill>
                <a:latin typeface="Calibri"/>
              </a:rPr>
              <a:t>Los autores utilizaron Claude (versión gratuita) para traducir al inglés y mejorar la redacción académica del manuscrito. La IA no intervino en el análisis de datos, la interpretación de resultados ni la redacción de las conclusiones. Los autores verificaron la fidelidad de la traducción y asumen la responsabilidad total del contenido.</a:t>
            </a:r>
          </a:p>
        </p:txBody>
      </p:sp>
      <p:sp>
        <p:nvSpPr>
          <p:cNvPr id="6" name="Rounded Rectangle 5"/>
          <p:cNvSpPr/>
          <p:nvPr/>
        </p:nvSpPr>
        <p:spPr>
          <a:xfrm>
            <a:off x="612648" y="3977639"/>
            <a:ext cx="3535680" cy="15087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4087368"/>
            <a:ext cx="3169920" cy="1289304"/>
          </a:xfrm>
          <a:prstGeom prst="rect">
            <a:avLst/>
          </a:prstGeom>
          <a:noFill/>
        </p:spPr>
        <p:txBody>
          <a:bodyPr wrap="square" lIns="45720" rIns="45720" tIns="27432" bIns="27432" anchor="t">
            <a:spAutoFit/>
          </a:bodyPr>
          <a:lstStyle/>
          <a:p>
            <a:pPr algn="l">
              <a:spcAft>
                <a:spcPts val="600"/>
              </a:spcAft>
            </a:pPr>
            <a:r>
              <a:rPr sz="1800" b="1" i="0">
                <a:solidFill>
                  <a:srgbClr val="2B4EB4"/>
                </a:solidFill>
                <a:latin typeface="Calibri"/>
              </a:rPr>
              <a:t>Herramienta y tarea</a:t>
            </a:r>
          </a:p>
          <a:p>
            <a:pPr algn="l">
              <a:spcAft>
                <a:spcPts val="400"/>
              </a:spcAft>
            </a:pPr>
            <a:r>
              <a:rPr sz="1800" b="0" i="0">
                <a:solidFill>
                  <a:srgbClr val="011754"/>
                </a:solidFill>
                <a:latin typeface="Calibri"/>
              </a:rPr>
              <a:t>Claude (gratuita): traducción y redacción.</a:t>
            </a:r>
          </a:p>
        </p:txBody>
      </p:sp>
      <p:sp>
        <p:nvSpPr>
          <p:cNvPr id="8" name="Rounded Rectangle 7"/>
          <p:cNvSpPr/>
          <p:nvPr/>
        </p:nvSpPr>
        <p:spPr>
          <a:xfrm>
            <a:off x="4331208" y="3977639"/>
            <a:ext cx="3535680" cy="15087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4088" y="4087368"/>
            <a:ext cx="3169920" cy="1289304"/>
          </a:xfrm>
          <a:prstGeom prst="rect">
            <a:avLst/>
          </a:prstGeom>
          <a:noFill/>
        </p:spPr>
        <p:txBody>
          <a:bodyPr wrap="square" lIns="45720" rIns="45720" tIns="27432" bIns="27432" anchor="t">
            <a:spAutoFit/>
          </a:bodyPr>
          <a:lstStyle/>
          <a:p>
            <a:pPr algn="l">
              <a:spcAft>
                <a:spcPts val="600"/>
              </a:spcAft>
            </a:pPr>
            <a:r>
              <a:rPr sz="1800" b="1" i="0">
                <a:solidFill>
                  <a:srgbClr val="2B4EB4"/>
                </a:solidFill>
                <a:latin typeface="Calibri"/>
              </a:rPr>
              <a:t>Lo que la IA no hizo</a:t>
            </a:r>
          </a:p>
          <a:p>
            <a:pPr algn="l">
              <a:spcAft>
                <a:spcPts val="400"/>
              </a:spcAft>
            </a:pPr>
            <a:r>
              <a:rPr sz="1800" b="0" i="0">
                <a:solidFill>
                  <a:srgbClr val="011754"/>
                </a:solidFill>
                <a:latin typeface="Calibri"/>
              </a:rPr>
              <a:t>Análisis, interpretación y conclusiones.</a:t>
            </a:r>
          </a:p>
        </p:txBody>
      </p:sp>
      <p:sp>
        <p:nvSpPr>
          <p:cNvPr id="10" name="Rounded Rectangle 9"/>
          <p:cNvSpPr/>
          <p:nvPr/>
        </p:nvSpPr>
        <p:spPr>
          <a:xfrm>
            <a:off x="8049767" y="3977639"/>
            <a:ext cx="3535680" cy="15087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2647" y="4087368"/>
            <a:ext cx="3169920" cy="1289304"/>
          </a:xfrm>
          <a:prstGeom prst="rect">
            <a:avLst/>
          </a:prstGeom>
          <a:noFill/>
        </p:spPr>
        <p:txBody>
          <a:bodyPr wrap="square" lIns="45720" rIns="45720" tIns="27432" bIns="27432" anchor="t">
            <a:spAutoFit/>
          </a:bodyPr>
          <a:lstStyle/>
          <a:p>
            <a:pPr algn="l">
              <a:spcAft>
                <a:spcPts val="600"/>
              </a:spcAft>
            </a:pPr>
            <a:r>
              <a:rPr sz="1800" b="1" i="0">
                <a:solidFill>
                  <a:srgbClr val="2B4EB4"/>
                </a:solidFill>
                <a:latin typeface="Calibri"/>
              </a:rPr>
              <a:t>Verificación y responsabilidad</a:t>
            </a:r>
          </a:p>
          <a:p>
            <a:pPr algn="l">
              <a:spcAft>
                <a:spcPts val="400"/>
              </a:spcAft>
            </a:pPr>
            <a:r>
              <a:rPr sz="1800" b="0" i="0">
                <a:solidFill>
                  <a:srgbClr val="011754"/>
                </a:solidFill>
                <a:latin typeface="Calibri"/>
              </a:rPr>
              <a:t>Fidelidad revisada; autores responsables.</a:t>
            </a:r>
          </a:p>
        </p:txBody>
      </p:sp>
      <p:sp>
        <p:nvSpPr>
          <p:cNvPr id="12" name="TextBox 11"/>
          <p:cNvSpPr txBox="1"/>
          <p:nvPr/>
        </p:nvSpPr>
        <p:spPr>
          <a:xfrm>
            <a:off x="612648" y="5715000"/>
            <a:ext cx="10972800" cy="457200"/>
          </a:xfrm>
          <a:prstGeom prst="rect">
            <a:avLst/>
          </a:prstGeom>
          <a:noFill/>
        </p:spPr>
        <p:txBody>
          <a:bodyPr wrap="square" lIns="45720" rIns="45720" tIns="27432" bIns="27432" anchor="t">
            <a:spAutoFit/>
          </a:bodyPr>
          <a:lstStyle/>
          <a:p>
            <a:pPr algn="l">
              <a:spcAft>
                <a:spcPts val="400"/>
              </a:spcAft>
            </a:pPr>
            <a:r>
              <a:rPr sz="1800" b="1" i="0">
                <a:solidFill>
                  <a:srgbClr val="2B4EB4"/>
                </a:solidFill>
                <a:latin typeface="Calibri"/>
              </a:rPr>
              <a:t>La declaración protege la autoría; ocultar el uso de IA no.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Límite de la declaración</a:t>
            </a:r>
          </a:p>
        </p:txBody>
      </p:sp>
      <p:sp>
        <p:nvSpPr>
          <p:cNvPr id="4" name="Rounded Rectangle 3"/>
          <p:cNvSpPr/>
          <p:nvPr/>
        </p:nvSpPr>
        <p:spPr>
          <a:xfrm>
            <a:off x="6126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Lo que declara</a:t>
            </a:r>
          </a:p>
          <a:p>
            <a:pPr algn="l">
              <a:spcAft>
                <a:spcPts val="400"/>
              </a:spcAft>
            </a:pPr>
            <a:r>
              <a:rPr sz="1800" b="0" i="0">
                <a:solidFill>
                  <a:srgbClr val="011754"/>
                </a:solidFill>
                <a:latin typeface="Calibri"/>
              </a:rPr>
              <a:t>Qué herramienta se usó y en qué tarea, con transparencia ante la revista o el comité.</a:t>
            </a:r>
          </a:p>
        </p:txBody>
      </p:sp>
      <p:sp>
        <p:nvSpPr>
          <p:cNvPr id="6" name="Rounded Rectangle 5"/>
          <p:cNvSpPr/>
          <p:nvPr/>
        </p:nvSpPr>
        <p:spPr>
          <a:xfrm>
            <a:off x="43464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93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Lo que no reemplaza</a:t>
            </a:r>
          </a:p>
          <a:p>
            <a:pPr algn="l">
              <a:spcAft>
                <a:spcPts val="400"/>
              </a:spcAft>
            </a:pPr>
            <a:r>
              <a:rPr sz="1800" b="0" i="0">
                <a:solidFill>
                  <a:srgbClr val="011754"/>
                </a:solidFill>
                <a:latin typeface="Calibri"/>
              </a:rPr>
              <a:t>La revisión, la verificación y la decisión del investigador sobre el contenido.</a:t>
            </a:r>
          </a:p>
        </p:txBody>
      </p:sp>
      <p:sp>
        <p:nvSpPr>
          <p:cNvPr id="8" name="Rounded Rectangle 7"/>
          <p:cNvSpPr/>
          <p:nvPr/>
        </p:nvSpPr>
        <p:spPr>
          <a:xfrm>
            <a:off x="8080248" y="1645920"/>
            <a:ext cx="3505200" cy="301752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3128" y="1755648"/>
            <a:ext cx="3139440" cy="2798063"/>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Investigador</a:t>
            </a:r>
          </a:p>
          <a:p>
            <a:pPr algn="l">
              <a:spcAft>
                <a:spcPts val="400"/>
              </a:spcAft>
            </a:pPr>
            <a:r>
              <a:rPr sz="1800" b="0" i="0">
                <a:solidFill>
                  <a:srgbClr val="011754"/>
                </a:solidFill>
                <a:latin typeface="Calibri"/>
              </a:rPr>
              <a:t>Evalúa, verifica, interpreta, decide y firma. La responsabilidad no se transfiere.</a:t>
            </a:r>
          </a:p>
        </p:txBody>
      </p:sp>
      <p:sp>
        <p:nvSpPr>
          <p:cNvPr id="10" name="Rounded Rectangle 9"/>
          <p:cNvSpPr/>
          <p:nvPr/>
        </p:nvSpPr>
        <p:spPr>
          <a:xfrm>
            <a:off x="612648" y="4937760"/>
            <a:ext cx="10972800" cy="91440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937760"/>
            <a:ext cx="10515600" cy="91440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Declarar el uso de IA no disminuye la autoría; ocultarlo sí la compromete.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0" name="Google Shape;240;g3cf80e77ae7_4_178"/>
          <p:cNvSpPr/>
          <p:nvPr/>
        </p:nvSpPr>
        <p:spPr>
          <a:xfrm>
            <a:off x="-147963" y="-69639"/>
            <a:ext cx="12487926" cy="7117830"/>
          </a:xfrm>
          <a:custGeom>
            <a:avLst/>
            <a:gdLst/>
            <a:ahLst/>
            <a:cxnLst/>
            <a:rect l="l" t="t" r="r" b="b"/>
            <a:pathLst>
              <a:path w="4933502" h="2811982" extrusionOk="0">
                <a:moveTo>
                  <a:pt x="0" y="0"/>
                </a:moveTo>
                <a:lnTo>
                  <a:pt x="4933502" y="0"/>
                </a:lnTo>
                <a:lnTo>
                  <a:pt x="4933502" y="2811982"/>
                </a:lnTo>
                <a:lnTo>
                  <a:pt x="0" y="2811982"/>
                </a:lnTo>
                <a:close/>
              </a:path>
            </a:pathLst>
          </a:custGeom>
          <a:solidFill>
            <a:srgbClr val="FFFFFF"/>
          </a:solidFill>
          <a:ln>
            <a:noFill/>
          </a:ln>
        </p:spPr>
        <p:txBody>
          <a:bodyPr/>
          <a:p/>
        </p:txBody>
      </p:sp>
      <p:grpSp>
        <p:nvGrpSpPr>
          <p:cNvPr id="242" name="Google Shape;242;g3cf80e77ae7_4_178"/>
          <p:cNvGrpSpPr/>
          <p:nvPr/>
        </p:nvGrpSpPr>
        <p:grpSpPr>
          <a:xfrm>
            <a:off x="0" y="4707312"/>
            <a:ext cx="12192000" cy="2150689"/>
            <a:chOff x="0" y="-38100"/>
            <a:chExt cx="14449778" cy="2548965"/>
          </a:xfrm>
        </p:grpSpPr>
        <p:sp>
          <p:nvSpPr>
            <p:cNvPr id="243" name="Google Shape;243;g3cf80e77ae7_4_178"/>
            <p:cNvSpPr/>
            <p:nvPr/>
          </p:nvSpPr>
          <p:spPr>
            <a:xfrm>
              <a:off x="0" y="0"/>
              <a:ext cx="14449778" cy="2510865"/>
            </a:xfrm>
            <a:custGeom>
              <a:avLst/>
              <a:gdLst/>
              <a:ahLst/>
              <a:cxnLst/>
              <a:rect l="l" t="t" r="r" b="b"/>
              <a:pathLst>
                <a:path w="14449778" h="2510865" extrusionOk="0">
                  <a:moveTo>
                    <a:pt x="0" y="0"/>
                  </a:moveTo>
                  <a:lnTo>
                    <a:pt x="14449778" y="0"/>
                  </a:lnTo>
                  <a:lnTo>
                    <a:pt x="14449778" y="2510865"/>
                  </a:lnTo>
                  <a:lnTo>
                    <a:pt x="0" y="2510865"/>
                  </a:lnTo>
                  <a:close/>
                </a:path>
              </a:pathLst>
            </a:custGeom>
            <a:gradFill>
              <a:gsLst>
                <a:gs pos="0">
                  <a:srgbClr val="031A8D"/>
                </a:gs>
                <a:gs pos="33333">
                  <a:srgbClr val="000156"/>
                </a:gs>
                <a:gs pos="66667">
                  <a:srgbClr val="000156"/>
                </a:gs>
                <a:gs pos="100000">
                  <a:srgbClr val="000156"/>
                </a:gs>
              </a:gsLst>
              <a:lin ang="2700000" scaled="0"/>
            </a:gradFill>
            <a:ln>
              <a:noFill/>
            </a:ln>
          </p:spPr>
        </p:sp>
        <p:sp>
          <p:nvSpPr>
            <p:cNvPr id="244" name="Google Shape;244;g3cf80e77ae7_4_178"/>
            <p:cNvSpPr txBox="1"/>
            <p:nvPr/>
          </p:nvSpPr>
          <p:spPr>
            <a:xfrm>
              <a:off x="0" y="-38100"/>
              <a:ext cx="14449778" cy="2548965"/>
            </a:xfrm>
            <a:prstGeom prst="rect">
              <a:avLst/>
            </a:prstGeom>
            <a:noFill/>
            <a:ln>
              <a:noFill/>
            </a:ln>
          </p:spPr>
          <p:txBody>
            <a:bodyPr spcFirstLastPara="1" wrap="square" lIns="33867" tIns="33867" rIns="33867" bIns="33867" anchor="ctr" anchorCtr="0">
              <a:noAutofit/>
            </a:bodyPr>
            <a:lstStyle/>
            <a:p>
              <a:pPr algn="ctr">
                <a:lnSpc>
                  <a:spcPct val="147722"/>
                </a:lnSpc>
              </a:pPr>
              <a:endParaRPr sz="1200">
                <a:solidFill>
                  <a:schemeClr val="dk1"/>
                </a:solidFill>
                <a:latin typeface="Calibri"/>
                <a:ea typeface="Calibri"/>
                <a:cs typeface="Calibri"/>
                <a:sym typeface="Calibri"/>
              </a:endParaRPr>
            </a:p>
          </p:txBody>
        </p:sp>
      </p:grpSp>
      <p:sp>
        <p:nvSpPr>
          <p:cNvPr id="245" name="Google Shape;245;g3cf80e77ae7_4_178"/>
          <p:cNvSpPr/>
          <p:nvPr/>
        </p:nvSpPr>
        <p:spPr>
          <a:xfrm>
            <a:off x="7894980" y="0"/>
            <a:ext cx="3611221" cy="8014953"/>
          </a:xfrm>
          <a:custGeom>
            <a:avLst/>
            <a:gdLst/>
            <a:ahLst/>
            <a:cxnLst/>
            <a:rect l="l" t="t" r="r" b="b"/>
            <a:pathLst>
              <a:path w="2858770" h="6344920" extrusionOk="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rotWithShape="1">
            <a:blip r:embed="rId3">
              <a:alphaModFix amt="93000"/>
            </a:blip>
            <a:stretch>
              <a:fillRect l="-113407" r="-119516"/>
            </a:stretch>
          </a:blipFill>
          <a:ln>
            <a:noFill/>
          </a:ln>
        </p:spPr>
        <p:txBody>
          <a:bodyPr spcFirstLastPara="1" wrap="square" lIns="60950" tIns="60950" rIns="60950" bIns="60950" anchor="ctr" anchorCtr="0">
            <a:noAutofit/>
          </a:bodyPr>
          <a:lstStyle/>
          <a:p>
            <a:endParaRPr sz="1200"/>
          </a:p>
        </p:txBody>
      </p:sp>
      <p:grpSp>
        <p:nvGrpSpPr>
          <p:cNvPr id="246" name="Google Shape;246;g3cf80e77ae7_4_178"/>
          <p:cNvGrpSpPr/>
          <p:nvPr/>
        </p:nvGrpSpPr>
        <p:grpSpPr>
          <a:xfrm>
            <a:off x="11506200" y="-32147"/>
            <a:ext cx="685800" cy="717947"/>
            <a:chOff x="0" y="-38100"/>
            <a:chExt cx="812800" cy="850900"/>
          </a:xfrm>
        </p:grpSpPr>
        <p:sp>
          <p:nvSpPr>
            <p:cNvPr id="247" name="Google Shape;247;g3cf80e77ae7_4_178"/>
            <p:cNvSpPr/>
            <p:nvPr/>
          </p:nvSpPr>
          <p:spPr>
            <a:xfrm>
              <a:off x="0" y="0"/>
              <a:ext cx="812800" cy="812800"/>
            </a:xfrm>
            <a:custGeom>
              <a:avLst/>
              <a:gdLst/>
              <a:ahLst/>
              <a:cxnLst/>
              <a:rect l="l" t="t" r="r" b="b"/>
              <a:pathLst>
                <a:path w="812800" h="812800" extrusionOk="0">
                  <a:moveTo>
                    <a:pt x="0" y="0"/>
                  </a:moveTo>
                  <a:lnTo>
                    <a:pt x="812800" y="0"/>
                  </a:lnTo>
                  <a:lnTo>
                    <a:pt x="812800" y="812800"/>
                  </a:lnTo>
                  <a:lnTo>
                    <a:pt x="0" y="812800"/>
                  </a:lnTo>
                  <a:close/>
                </a:path>
              </a:pathLst>
            </a:custGeom>
            <a:solidFill>
              <a:srgbClr val="011754"/>
            </a:solidFill>
            <a:ln>
              <a:noFill/>
            </a:ln>
          </p:spPr>
        </p:sp>
        <p:sp>
          <p:nvSpPr>
            <p:cNvPr id="248" name="Google Shape;248;g3cf80e77ae7_4_178"/>
            <p:cNvSpPr txBox="1"/>
            <p:nvPr/>
          </p:nvSpPr>
          <p:spPr>
            <a:xfrm>
              <a:off x="0" y="-38100"/>
              <a:ext cx="812800" cy="850900"/>
            </a:xfrm>
            <a:prstGeom prst="rect">
              <a:avLst/>
            </a:prstGeom>
            <a:noFill/>
            <a:ln>
              <a:noFill/>
            </a:ln>
          </p:spPr>
          <p:txBody>
            <a:bodyPr spcFirstLastPara="1" wrap="square" lIns="33867" tIns="33867" rIns="33867" bIns="33867" anchor="ctr" anchorCtr="0">
              <a:noAutofit/>
            </a:bodyPr>
            <a:lstStyle/>
            <a:p>
              <a:pPr algn="ctr">
                <a:lnSpc>
                  <a:spcPct val="147722"/>
                </a:lnSpc>
              </a:pPr>
              <a:endParaRPr sz="1200">
                <a:solidFill>
                  <a:schemeClr val="dk1"/>
                </a:solidFill>
                <a:latin typeface="Calibri"/>
                <a:ea typeface="Calibri"/>
                <a:cs typeface="Calibri"/>
                <a:sym typeface="Calibri"/>
              </a:endParaRPr>
            </a:p>
          </p:txBody>
        </p:sp>
      </p:grpSp>
      <p:grpSp>
        <p:nvGrpSpPr>
          <p:cNvPr id="249" name="Google Shape;249;g3cf80e77ae7_4_178"/>
          <p:cNvGrpSpPr/>
          <p:nvPr/>
        </p:nvGrpSpPr>
        <p:grpSpPr>
          <a:xfrm>
            <a:off x="7235925" y="462783"/>
            <a:ext cx="1318109" cy="1379896"/>
            <a:chOff x="0" y="-38100"/>
            <a:chExt cx="812800" cy="850900"/>
          </a:xfrm>
        </p:grpSpPr>
        <p:sp>
          <p:nvSpPr>
            <p:cNvPr id="250" name="Google Shape;250;g3cf80e77ae7_4_178"/>
            <p:cNvSpPr/>
            <p:nvPr/>
          </p:nvSpPr>
          <p:spPr>
            <a:xfrm>
              <a:off x="0" y="0"/>
              <a:ext cx="812800" cy="812800"/>
            </a:xfrm>
            <a:custGeom>
              <a:avLst/>
              <a:gdLst/>
              <a:ahLst/>
              <a:cxnLst/>
              <a:rect l="l" t="t" r="r" b="b"/>
              <a:pathLst>
                <a:path w="812800" h="812800" extrusionOk="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11754">
                <a:alpha val="29803"/>
              </a:srgbClr>
            </a:solidFill>
            <a:ln>
              <a:noFill/>
            </a:ln>
          </p:spPr>
          <p:txBody>
            <a:bodyPr spcFirstLastPara="1" wrap="square" lIns="60950" tIns="60950" rIns="60950" bIns="60950" anchor="ctr" anchorCtr="0">
              <a:noAutofit/>
            </a:bodyPr>
            <a:lstStyle/>
            <a:p>
              <a:endParaRPr sz="1200"/>
            </a:p>
          </p:txBody>
        </p:sp>
        <p:sp>
          <p:nvSpPr>
            <p:cNvPr id="251" name="Google Shape;251;g3cf80e77ae7_4_178"/>
            <p:cNvSpPr txBox="1"/>
            <p:nvPr/>
          </p:nvSpPr>
          <p:spPr>
            <a:xfrm>
              <a:off x="0" y="-38100"/>
              <a:ext cx="812800" cy="850900"/>
            </a:xfrm>
            <a:prstGeom prst="rect">
              <a:avLst/>
            </a:prstGeom>
            <a:noFill/>
            <a:ln>
              <a:noFill/>
            </a:ln>
          </p:spPr>
          <p:txBody>
            <a:bodyPr spcFirstLastPara="1" wrap="square" lIns="33867" tIns="33867" rIns="33867" bIns="33867" anchor="ctr" anchorCtr="0">
              <a:noAutofit/>
            </a:bodyPr>
            <a:lstStyle/>
            <a:p>
              <a:pPr algn="ctr">
                <a:lnSpc>
                  <a:spcPct val="147722"/>
                </a:lnSpc>
              </a:pPr>
              <a:endParaRPr sz="1200">
                <a:solidFill>
                  <a:schemeClr val="dk1"/>
                </a:solidFill>
                <a:latin typeface="Calibri"/>
                <a:ea typeface="Calibri"/>
                <a:cs typeface="Calibri"/>
                <a:sym typeface="Calibri"/>
              </a:endParaRPr>
            </a:p>
          </p:txBody>
        </p:sp>
      </p:grpSp>
      <p:sp>
        <p:nvSpPr>
          <p:cNvPr id="252" name="Google Shape;252;g3cf80e77ae7_4_178"/>
          <p:cNvSpPr txBox="1"/>
          <p:nvPr/>
        </p:nvSpPr>
        <p:spPr>
          <a:xfrm>
            <a:off x="904150" y="4997700"/>
            <a:ext cx="6710400" cy="1046440"/>
          </a:xfrm>
          <a:prstGeom prst="rect">
            <a:avLst/>
          </a:prstGeom>
          <a:noFill/>
          <a:ln>
            <a:noFill/>
          </a:ln>
        </p:spPr>
        <p:txBody>
          <a:bodyPr spcFirstLastPara="1" wrap="square" lIns="0" tIns="0" rIns="0" bIns="0" anchor="t" anchorCtr="0">
            <a:spAutoFit/>
          </a:bodyPr>
          <a:lstStyle/>
          <a:p>
            <a:pPr>
              <a:spcAft>
                <a:spcPts val="800"/>
              </a:spcAft>
            </a:pPr>
            <a:r>
              <a:rPr lang="es-MX" sz="1800" dirty="0">
                <a:solidFill>
                  <a:srgbClr val="FFFFFF"/>
                </a:solidFill>
                <a:latin typeface="Calibri"/>
              </a:rPr>
              <a:t>Trabajaremos con la respuesta de IA preparada para la sesión</a:t>
            </a:r>
          </a:p>
          <a:p>
            <a:pPr marL="331107" indent="-165553">
              <a:spcAft>
                <a:spcPts val="800"/>
              </a:spcAft>
              <a:buClr>
                <a:srgbClr val="FFFFFF"/>
              </a:buClr>
              <a:buChar char="•"/>
            </a:pPr>
            <a:r>
              <a:rPr lang="es-MX" sz="1800" dirty="0">
                <a:solidFill>
                  <a:srgbClr val="FFFFFF"/>
                </a:solidFill>
                <a:latin typeface="Calibri"/>
              </a:rPr>
              <a:t>Ten a mano tu ficha de auditoría y el formato de declaración</a:t>
            </a:r>
            <a:r>
              <a:rPr lang="es-MX" sz="1800" dirty="0" err="1">
                <a:solidFill>
                  <a:srgbClr val="FFFFFF"/>
                </a:solidFill>
                <a:latin typeface="Calibri"/>
              </a:rPr>
              <a:t/>
            </a:r>
            <a:r>
              <a:rPr lang="es-MX" sz="1800" dirty="0">
                <a:solidFill>
                  <a:srgbClr val="FFFFFF"/>
                </a:solidFill>
                <a:latin typeface="Calibri"/>
              </a:rPr>
              <a:t/>
            </a:r>
          </a:p>
          <a:p>
            <a:pPr marL="331107" indent="-165553">
              <a:spcAft>
                <a:spcPts val="800"/>
              </a:spcAft>
              <a:buClr>
                <a:srgbClr val="FFFFFF"/>
              </a:buClr>
              <a:buChar char="•"/>
            </a:pPr>
            <a:r>
              <a:rPr lang="es-MX" sz="1800" dirty="0">
                <a:solidFill>
                  <a:srgbClr val="FFFFFF"/>
                </a:solidFill>
                <a:latin typeface="Calibri"/>
              </a:rPr>
              <a:t>Registra cada criterio con una observación concreta</a:t>
            </a:r>
            <a:r>
              <a:rPr lang="es-MX" sz="1800" dirty="0" err="1">
                <a:solidFill>
                  <a:srgbClr val="FFFFFF"/>
                </a:solidFill>
                <a:latin typeface="Calibri"/>
              </a:rPr>
              <a:t/>
            </a:r>
            <a:endParaRPr lang="es-MX" sz="1600" dirty="0">
              <a:solidFill>
                <a:srgbClr val="FFFFFF"/>
              </a:solidFill>
              <a:latin typeface="Calibri"/>
            </a:endParaRPr>
          </a:p>
        </p:txBody>
      </p:sp>
      <p:sp>
        <p:nvSpPr>
          <p:cNvPr id="253" name="Google Shape;253;g3cf80e77ae7_4_178"/>
          <p:cNvSpPr txBox="1"/>
          <p:nvPr/>
        </p:nvSpPr>
        <p:spPr>
          <a:xfrm>
            <a:off x="1082949" y="1563660"/>
            <a:ext cx="5863764" cy="2454262"/>
          </a:xfrm>
          <a:prstGeom prst="rect">
            <a:avLst/>
          </a:prstGeom>
          <a:noFill/>
          <a:ln>
            <a:noFill/>
          </a:ln>
        </p:spPr>
        <p:txBody>
          <a:bodyPr spcFirstLastPara="1" wrap="square" lIns="0" tIns="0" rIns="0" bIns="0" anchor="t" anchorCtr="0">
            <a:spAutoFit/>
          </a:bodyPr>
          <a:lstStyle/>
          <a:p>
            <a:pPr>
              <a:lnSpc>
                <a:spcPct val="115000"/>
              </a:lnSpc>
            </a:pPr>
            <a:r>
              <a:rPr lang="en-US" sz="6934" b="1" dirty="0">
                <a:solidFill>
                  <a:srgbClr val="000156"/>
                </a:solidFill>
                <a:latin typeface="Fira Sans"/>
                <a:ea typeface="Fira Sans"/>
                <a:cs typeface="Fira Sans"/>
                <a:sym typeface="Fira Sans"/>
              </a:rPr>
              <a:t>VAMOS A LA PRÁCTICA</a:t>
            </a:r>
            <a:endParaRPr sz="1200" dirty="0"/>
          </a:p>
        </p:txBody>
      </p:sp>
      <p:grpSp>
        <p:nvGrpSpPr>
          <p:cNvPr id="254" name="Google Shape;254;g3cf80e77ae7_4_178"/>
          <p:cNvGrpSpPr/>
          <p:nvPr/>
        </p:nvGrpSpPr>
        <p:grpSpPr>
          <a:xfrm>
            <a:off x="5656329" y="6009371"/>
            <a:ext cx="1697259" cy="1697259"/>
            <a:chOff x="0" y="0"/>
            <a:chExt cx="812800" cy="812800"/>
          </a:xfrm>
        </p:grpSpPr>
        <p:sp>
          <p:nvSpPr>
            <p:cNvPr id="255" name="Google Shape;255;g3cf80e77ae7_4_17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noFill/>
            <a:ln w="571500" cap="sq" cmpd="sng">
              <a:solidFill>
                <a:srgbClr val="0345E4">
                  <a:alpha val="9803"/>
                </a:srgbClr>
              </a:solidFill>
              <a:prstDash val="solid"/>
              <a:miter lim="8000"/>
              <a:headEnd type="none" w="sm" len="sm"/>
              <a:tailEnd type="none" w="sm" len="sm"/>
            </a:ln>
          </p:spPr>
          <p:txBody>
            <a:bodyPr spcFirstLastPara="1" wrap="square" lIns="60950" tIns="60950" rIns="60950" bIns="60950" anchor="ctr" anchorCtr="0">
              <a:noAutofit/>
            </a:bodyPr>
            <a:lstStyle/>
            <a:p>
              <a:endParaRPr sz="1200"/>
            </a:p>
          </p:txBody>
        </p:sp>
        <p:sp>
          <p:nvSpPr>
            <p:cNvPr id="256" name="Google Shape;256;g3cf80e77ae7_4_178"/>
            <p:cNvSpPr txBox="1"/>
            <p:nvPr/>
          </p:nvSpPr>
          <p:spPr>
            <a:xfrm>
              <a:off x="76200" y="38100"/>
              <a:ext cx="660400" cy="698500"/>
            </a:xfrm>
            <a:prstGeom prst="rect">
              <a:avLst/>
            </a:prstGeom>
            <a:noFill/>
            <a:ln>
              <a:noFill/>
            </a:ln>
          </p:spPr>
          <p:txBody>
            <a:bodyPr spcFirstLastPara="1" wrap="square" lIns="33867" tIns="33867" rIns="33867" bIns="33867" anchor="ctr" anchorCtr="0">
              <a:noAutofit/>
            </a:bodyPr>
            <a:lstStyle/>
            <a:p>
              <a:pPr algn="ctr">
                <a:lnSpc>
                  <a:spcPct val="147722"/>
                </a:lnSpc>
              </a:pPr>
              <a:endParaRPr sz="1200">
                <a:solidFill>
                  <a:schemeClr val="dk1"/>
                </a:solidFill>
                <a:latin typeface="Calibri"/>
                <a:ea typeface="Calibri"/>
                <a:cs typeface="Calibri"/>
                <a:sym typeface="Calibri"/>
              </a:endParaRPr>
            </a:p>
          </p:txBody>
        </p:sp>
      </p:grpSp>
      <p:sp>
        <p:nvSpPr>
          <p:cNvPr id="257" name="Google Shape;257;g3cf80e77ae7_4_178"/>
          <p:cNvSpPr/>
          <p:nvPr/>
        </p:nvSpPr>
        <p:spPr>
          <a:xfrm>
            <a:off x="11170168" y="142088"/>
            <a:ext cx="879745" cy="879745"/>
          </a:xfrm>
          <a:custGeom>
            <a:avLst/>
            <a:gdLst/>
            <a:ahLst/>
            <a:cxnLst/>
            <a:rect l="l" t="t" r="r" b="b"/>
            <a:pathLst>
              <a:path w="1319617" h="1319617" extrusionOk="0">
                <a:moveTo>
                  <a:pt x="0" y="0"/>
                </a:moveTo>
                <a:lnTo>
                  <a:pt x="1319617" y="0"/>
                </a:lnTo>
                <a:lnTo>
                  <a:pt x="1319617" y="1319617"/>
                </a:lnTo>
                <a:lnTo>
                  <a:pt x="0" y="1319617"/>
                </a:lnTo>
                <a:lnTo>
                  <a:pt x="0" y="0"/>
                </a:lnTo>
                <a:close/>
              </a:path>
            </a:pathLst>
          </a:custGeom>
          <a:blipFill rotWithShape="1">
            <a:blip r:embed="rId4">
              <a:alphaModFix/>
            </a:blip>
            <a:stretch>
              <a:fillRect/>
            </a:stretch>
          </a:blipFill>
          <a:ln w="47625" cap="sq" cmpd="sng">
            <a:solidFill>
              <a:srgbClr val="FFFFFF"/>
            </a:solidFill>
            <a:prstDash val="solid"/>
            <a:miter lim="8000"/>
            <a:headEnd type="none" w="sm" len="sm"/>
            <a:tailEnd type="none" w="sm" len="sm"/>
          </a:ln>
        </p:spPr>
        <p:txBody>
          <a:bodyPr/>
          <a:p/>
        </p:txBody>
      </p:sp>
      <p:sp>
        <p:nvSpPr>
          <p:cNvPr id="2" name="TextBox 4">
            <a:extLst>
              <a:ext uri="{FF2B5EF4-FFF2-40B4-BE49-F238E27FC236}">
                <a16:creationId xmlns:a16="http://schemas.microsoft.com/office/drawing/2014/main" id="{EA5FC1F7-28A3-C8DA-1E0C-19D3168E7153}"/>
              </a:ext>
            </a:extLst>
          </p:cNvPr>
          <p:cNvSpPr txBox="1"/>
          <p:nvPr/>
        </p:nvSpPr>
        <p:spPr>
          <a:xfrm>
            <a:off x="324048" y="4124852"/>
            <a:ext cx="9863333" cy="600000"/>
          </a:xfrm>
          <a:prstGeom prst="rect">
            <a:avLst/>
          </a:prstGeom>
          <a:noFill/>
        </p:spPr>
        <p:txBody>
          <a:bodyPr wrap="square">
            <a:spAutoFit/>
          </a:bodyPr>
          <a:lstStyle/>
          <a:p>
            <a:pPr algn="l">
              <a:lnSpc>
                <a:spcPct val="115000"/>
              </a:lnSpc>
            </a:pPr>
            <a:r>
              <a:rPr sz="1800" b="0" i="0" dirty="0">
                <a:solidFill>
                  <a:srgbClr val="011754"/>
                </a:solidFill>
                <a:latin typeface="Calibri"/>
              </a:rPr>
              <a:t>De la auditoría de una respuesta de IA a la declaración responsable de su uso</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r>
              <a:rPr sz="1800" b="0" i="0" dirty="0">
                <a:solidFill>
                  <a:srgbClr val="011754"/>
                </a:solidFill>
                <a:latin typeface="Calibri"/>
              </a:rPr>
              <a:t/>
            </a:r>
            <a:r>
              <a:rPr sz="1800" b="0" i="0" dirty="0" err="1">
                <a:solidFill>
                  <a:srgbClr val="011754"/>
                </a:solidFill>
                <a:latin typeface="Calibri"/>
              </a:rPr>
              <a:t/>
            </a:r>
            <a:endParaRPr sz="1600" b="0" i="0" dirty="0">
              <a:solidFill>
                <a:srgbClr val="011754"/>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Cierre de sesión</a:t>
            </a:r>
          </a:p>
        </p:txBody>
      </p:sp>
      <p:sp>
        <p:nvSpPr>
          <p:cNvPr id="4" name="Rounded Rectangle 3"/>
          <p:cNvSpPr/>
          <p:nvPr/>
        </p:nvSpPr>
        <p:spPr>
          <a:xfrm>
            <a:off x="612648" y="1600200"/>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04088" y="1655064"/>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1280160" y="1600200"/>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Recibir la respuesta</a:t>
            </a:r>
          </a:p>
        </p:txBody>
      </p:sp>
      <p:sp>
        <p:nvSpPr>
          <p:cNvPr id="7" name="Rounded Rectangle 6"/>
          <p:cNvSpPr/>
          <p:nvPr/>
        </p:nvSpPr>
        <p:spPr>
          <a:xfrm>
            <a:off x="612648" y="2258568"/>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2313432"/>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280160" y="2258568"/>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Aplicar los criterios</a:t>
            </a:r>
          </a:p>
        </p:txBody>
      </p:sp>
      <p:sp>
        <p:nvSpPr>
          <p:cNvPr id="10" name="Rounded Rectangle 9"/>
          <p:cNvSpPr/>
          <p:nvPr/>
        </p:nvSpPr>
        <p:spPr>
          <a:xfrm>
            <a:off x="612648" y="2916935"/>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4088" y="2971799"/>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1280160" y="2916935"/>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Detectar alucinaciones</a:t>
            </a:r>
          </a:p>
        </p:txBody>
      </p:sp>
      <p:sp>
        <p:nvSpPr>
          <p:cNvPr id="13" name="Rounded Rectangle 12"/>
          <p:cNvSpPr/>
          <p:nvPr/>
        </p:nvSpPr>
        <p:spPr>
          <a:xfrm>
            <a:off x="612648" y="3575303"/>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4088" y="3630167"/>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5" name="TextBox 14"/>
          <p:cNvSpPr txBox="1"/>
          <p:nvPr/>
        </p:nvSpPr>
        <p:spPr>
          <a:xfrm>
            <a:off x="1280160" y="3575303"/>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Verificar la fuente</a:t>
            </a:r>
          </a:p>
        </p:txBody>
      </p:sp>
      <p:sp>
        <p:nvSpPr>
          <p:cNvPr id="16" name="Rounded Rectangle 15"/>
          <p:cNvSpPr/>
          <p:nvPr/>
        </p:nvSpPr>
        <p:spPr>
          <a:xfrm>
            <a:off x="612648" y="4233671"/>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4088" y="4288535"/>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8" name="TextBox 17"/>
          <p:cNvSpPr txBox="1"/>
          <p:nvPr/>
        </p:nvSpPr>
        <p:spPr>
          <a:xfrm>
            <a:off x="1280160" y="4233671"/>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Proteger datos sensibles</a:t>
            </a:r>
          </a:p>
        </p:txBody>
      </p:sp>
      <p:sp>
        <p:nvSpPr>
          <p:cNvPr id="19" name="Rounded Rectangle 18"/>
          <p:cNvSpPr/>
          <p:nvPr/>
        </p:nvSpPr>
        <p:spPr>
          <a:xfrm>
            <a:off x="612648" y="4892039"/>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4088" y="4946903"/>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6</a:t>
            </a:r>
          </a:p>
        </p:txBody>
      </p:sp>
      <p:sp>
        <p:nvSpPr>
          <p:cNvPr id="21" name="TextBox 20"/>
          <p:cNvSpPr txBox="1"/>
          <p:nvPr/>
        </p:nvSpPr>
        <p:spPr>
          <a:xfrm>
            <a:off x="1280160" y="4892039"/>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Redactar la declaración</a:t>
            </a:r>
          </a:p>
        </p:txBody>
      </p:sp>
      <p:sp>
        <p:nvSpPr>
          <p:cNvPr id="22" name="Rounded Rectangle 21"/>
          <p:cNvSpPr/>
          <p:nvPr/>
        </p:nvSpPr>
        <p:spPr>
          <a:xfrm>
            <a:off x="612648" y="5550407"/>
            <a:ext cx="5394960" cy="566928"/>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4088" y="5605271"/>
            <a:ext cx="457200" cy="457200"/>
          </a:xfrm>
          <a:prstGeom prst="ellipse">
            <a:avLst/>
          </a:prstGeom>
          <a:solidFill>
            <a:srgbClr val="2B4E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7</a:t>
            </a:r>
          </a:p>
        </p:txBody>
      </p:sp>
      <p:sp>
        <p:nvSpPr>
          <p:cNvPr id="24" name="TextBox 23"/>
          <p:cNvSpPr txBox="1"/>
          <p:nvPr/>
        </p:nvSpPr>
        <p:spPr>
          <a:xfrm>
            <a:off x="1280160" y="5550407"/>
            <a:ext cx="4663440" cy="566928"/>
          </a:xfrm>
          <a:prstGeom prst="rect">
            <a:avLst/>
          </a:prstGeom>
          <a:noFill/>
        </p:spPr>
        <p:txBody>
          <a:bodyPr wrap="square" lIns="45720" rIns="45720" tIns="27432" bIns="27432" anchor="ctr">
            <a:spAutoFit/>
          </a:bodyPr>
          <a:lstStyle/>
          <a:p>
            <a:pPr algn="l">
              <a:spcAft>
                <a:spcPts val="400"/>
              </a:spcAft>
            </a:pPr>
            <a:r>
              <a:rPr sz="1800" b="1" i="0">
                <a:solidFill>
                  <a:srgbClr val="011754"/>
                </a:solidFill>
                <a:latin typeface="Calibri"/>
              </a:rPr>
              <a:t>Decidir y firmar</a:t>
            </a:r>
          </a:p>
        </p:txBody>
      </p:sp>
      <p:sp>
        <p:nvSpPr>
          <p:cNvPr id="25" name="Rounded Rectangle 24"/>
          <p:cNvSpPr/>
          <p:nvPr/>
        </p:nvSpPr>
        <p:spPr>
          <a:xfrm>
            <a:off x="6309360" y="1600200"/>
            <a:ext cx="5276088" cy="45262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1600200"/>
            <a:ext cx="4846320" cy="4526280"/>
          </a:xfrm>
          <a:prstGeom prst="rect">
            <a:avLst/>
          </a:prstGeom>
          <a:noFill/>
        </p:spPr>
        <p:txBody>
          <a:bodyPr wrap="square" lIns="45720" rIns="45720" tIns="27432" bIns="27432" anchor="ctr">
            <a:spAutoFit/>
          </a:bodyPr>
          <a:lstStyle/>
          <a:p>
            <a:pPr algn="l">
              <a:spcAft>
                <a:spcPts val="1200"/>
              </a:spcAft>
            </a:pPr>
            <a:r>
              <a:rPr sz="2000" b="1" i="0">
                <a:solidFill>
                  <a:srgbClr val="D4AF37"/>
                </a:solidFill>
                <a:latin typeface="Calibri"/>
              </a:rPr>
              <a:t>Pregunta para llevar</a:t>
            </a:r>
          </a:p>
          <a:p>
            <a:pPr algn="l">
              <a:spcAft>
                <a:spcPts val="1400"/>
              </a:spcAft>
            </a:pPr>
            <a:r>
              <a:rPr sz="2200" b="1" i="0">
                <a:solidFill>
                  <a:srgbClr val="FFFFFF"/>
                </a:solidFill>
                <a:latin typeface="Calibri"/>
              </a:rPr>
              <a:t>¿Qué puede apoyar la IA y qué debe seguir decidiendo el investigador?</a:t>
            </a:r>
          </a:p>
          <a:p>
            <a:pPr algn="l">
              <a:spcAft>
                <a:spcPts val="400"/>
              </a:spcAft>
            </a:pPr>
            <a:r>
              <a:rPr sz="1800" b="0" i="0">
                <a:solidFill>
                  <a:srgbClr val="FFFFFF"/>
                </a:solidFill>
                <a:latin typeface="Calibri"/>
              </a:rPr>
              <a:t>Siete pasos que ahora puedes aplicar a cualquier respuesta de IA en tu investigación.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12648" y="777240"/>
            <a:ext cx="10332720" cy="640080"/>
          </a:xfrm>
          <a:prstGeom prst="rect">
            <a:avLst/>
          </a:prstGeom>
          <a:noFill/>
        </p:spPr>
        <p:txBody>
          <a:bodyPr wrap="square" lIns="45720" rIns="45720" tIns="27432" bIns="27432" anchor="ctr">
            <a:spAutoFit/>
          </a:bodyPr>
          <a:lstStyle/>
          <a:p>
            <a:pPr algn="l">
              <a:spcAft>
                <a:spcPts val="400"/>
              </a:spcAft>
            </a:pPr>
            <a:r>
              <a:rPr sz="2800" b="1" i="0">
                <a:solidFill>
                  <a:srgbClr val="1836B2"/>
                </a:solidFill>
                <a:latin typeface="Calibri"/>
              </a:rPr>
              <a:t>Bibliografía</a:t>
            </a:r>
          </a:p>
        </p:txBody>
      </p:sp>
      <p:sp>
        <p:nvSpPr>
          <p:cNvPr id="4" name="TextBox 3"/>
          <p:cNvSpPr txBox="1"/>
          <p:nvPr/>
        </p:nvSpPr>
        <p:spPr>
          <a:xfrm>
            <a:off x="612648" y="1463040"/>
            <a:ext cx="10972800" cy="457200"/>
          </a:xfrm>
          <a:prstGeom prst="rect">
            <a:avLst/>
          </a:prstGeom>
          <a:noFill/>
        </p:spPr>
        <p:txBody>
          <a:bodyPr wrap="square" lIns="45720" rIns="45720" tIns="27432" bIns="27432" anchor="t">
            <a:spAutoFit/>
          </a:bodyPr>
          <a:lstStyle/>
          <a:p>
            <a:pPr algn="l">
              <a:spcAft>
                <a:spcPts val="400"/>
              </a:spcAft>
            </a:pPr>
            <a:r>
              <a:rPr sz="1800" b="0" i="0">
                <a:solidFill>
                  <a:srgbClr val="011754"/>
                </a:solidFill>
                <a:latin typeface="Calibri"/>
              </a:rPr>
              <a:t>Referencias clave de esta sesión</a:t>
            </a:r>
          </a:p>
        </p:txBody>
      </p:sp>
      <p:sp>
        <p:nvSpPr>
          <p:cNvPr id="5" name="Rounded Rectangle 4"/>
          <p:cNvSpPr/>
          <p:nvPr/>
        </p:nvSpPr>
        <p:spPr>
          <a:xfrm>
            <a:off x="612648" y="2011680"/>
            <a:ext cx="5394960" cy="17373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21408"/>
            <a:ext cx="5029200" cy="15179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Ji, Z. et al. (2023)</a:t>
            </a:r>
          </a:p>
          <a:p>
            <a:pPr algn="l">
              <a:spcAft>
                <a:spcPts val="400"/>
              </a:spcAft>
            </a:pPr>
            <a:r>
              <a:rPr sz="1800" b="0" i="0">
                <a:solidFill>
                  <a:srgbClr val="011754"/>
                </a:solidFill>
                <a:latin typeface="Calibri"/>
              </a:rPr>
              <a:t>Survey of Hallucination in Natural Language Generation. ACM Computing Surveys, 55(12).</a:t>
            </a:r>
          </a:p>
        </p:txBody>
      </p:sp>
      <p:sp>
        <p:nvSpPr>
          <p:cNvPr id="7" name="Rounded Rectangle 6"/>
          <p:cNvSpPr/>
          <p:nvPr/>
        </p:nvSpPr>
        <p:spPr>
          <a:xfrm>
            <a:off x="6190488" y="2011680"/>
            <a:ext cx="5394960" cy="17373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3368" y="2121408"/>
            <a:ext cx="5029200" cy="15179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Weidinger, L. et al. (2022)</a:t>
            </a:r>
          </a:p>
          <a:p>
            <a:pPr algn="l">
              <a:spcAft>
                <a:spcPts val="400"/>
              </a:spcAft>
            </a:pPr>
            <a:r>
              <a:rPr sz="1800" b="0" i="0">
                <a:solidFill>
                  <a:srgbClr val="011754"/>
                </a:solidFill>
                <a:latin typeface="Calibri"/>
              </a:rPr>
              <a:t>Taxonomy of Risks posed by Language Models. ACM FAccT 2022.</a:t>
            </a:r>
          </a:p>
        </p:txBody>
      </p:sp>
      <p:sp>
        <p:nvSpPr>
          <p:cNvPr id="9" name="Rounded Rectangle 8"/>
          <p:cNvSpPr/>
          <p:nvPr/>
        </p:nvSpPr>
        <p:spPr>
          <a:xfrm>
            <a:off x="612648" y="3931920"/>
            <a:ext cx="5394960" cy="17373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041648"/>
            <a:ext cx="5029200" cy="15179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COPE – Committee on Publication Ethics (2023)</a:t>
            </a:r>
          </a:p>
          <a:p>
            <a:pPr algn="l">
              <a:spcAft>
                <a:spcPts val="400"/>
              </a:spcAft>
            </a:pPr>
            <a:r>
              <a:rPr sz="1800" b="0" i="0">
                <a:solidFill>
                  <a:srgbClr val="011754"/>
                </a:solidFill>
                <a:latin typeface="Calibri"/>
              </a:rPr>
              <a:t>Authorship and AI tools: position statement.</a:t>
            </a:r>
          </a:p>
        </p:txBody>
      </p:sp>
      <p:sp>
        <p:nvSpPr>
          <p:cNvPr id="11" name="Rounded Rectangle 10"/>
          <p:cNvSpPr/>
          <p:nvPr/>
        </p:nvSpPr>
        <p:spPr>
          <a:xfrm>
            <a:off x="6190488" y="3931920"/>
            <a:ext cx="5394960" cy="1737360"/>
          </a:xfrm>
          <a:prstGeom prst="roundRect">
            <a:avLst>
              <a:gd name="adj" fmla="val 6000"/>
            </a:avLst>
          </a:prstGeom>
          <a:solidFill>
            <a:srgbClr val="D9D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4041648"/>
            <a:ext cx="5029200" cy="1517904"/>
          </a:xfrm>
          <a:prstGeom prst="rect">
            <a:avLst/>
          </a:prstGeom>
          <a:noFill/>
        </p:spPr>
        <p:txBody>
          <a:bodyPr wrap="square" lIns="45720" rIns="45720" tIns="27432" bIns="27432" anchor="t">
            <a:spAutoFit/>
          </a:bodyPr>
          <a:lstStyle/>
          <a:p>
            <a:pPr algn="l">
              <a:spcAft>
                <a:spcPts val="600"/>
              </a:spcAft>
            </a:pPr>
            <a:r>
              <a:rPr sz="2000" b="1" i="0">
                <a:solidFill>
                  <a:srgbClr val="2B4EB4"/>
                </a:solidFill>
                <a:latin typeface="Calibri"/>
              </a:rPr>
              <a:t>UNESCO (2023)</a:t>
            </a:r>
          </a:p>
          <a:p>
            <a:pPr algn="l">
              <a:spcAft>
                <a:spcPts val="400"/>
              </a:spcAft>
            </a:pPr>
            <a:r>
              <a:rPr sz="1800" b="0" i="0">
                <a:solidFill>
                  <a:srgbClr val="011754"/>
                </a:solidFill>
                <a:latin typeface="Calibri"/>
              </a:rPr>
              <a:t>Guidance for Generative AI in Education and Research.</a:t>
            </a:r>
          </a:p>
        </p:txBody>
      </p:sp>
      <p:sp>
        <p:nvSpPr>
          <p:cNvPr id="13" name="Rounded Rectangle 12"/>
          <p:cNvSpPr/>
          <p:nvPr/>
        </p:nvSpPr>
        <p:spPr>
          <a:xfrm>
            <a:off x="612648" y="5577840"/>
            <a:ext cx="10972800" cy="640080"/>
          </a:xfrm>
          <a:prstGeom prst="roundRect">
            <a:avLst>
              <a:gd name="adj" fmla="val 6000"/>
            </a:avLst>
          </a:prstGeom>
          <a:solidFill>
            <a:srgbClr val="011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577840"/>
            <a:ext cx="10515600" cy="640080"/>
          </a:xfrm>
          <a:prstGeom prst="rect">
            <a:avLst/>
          </a:prstGeom>
          <a:noFill/>
        </p:spPr>
        <p:txBody>
          <a:bodyPr wrap="square" lIns="45720" rIns="45720" tIns="27432" bIns="27432" anchor="ctr">
            <a:spAutoFit/>
          </a:bodyPr>
          <a:lstStyle/>
          <a:p>
            <a:pPr algn="l">
              <a:spcAft>
                <a:spcPts val="400"/>
              </a:spcAft>
            </a:pPr>
            <a:r>
              <a:rPr sz="1800" b="1" i="0">
                <a:solidFill>
                  <a:srgbClr val="FFFFFF"/>
                </a:solidFill>
                <a:latin typeface="Calibri"/>
              </a:rPr>
              <a:t>Como en el laboratorio: toda referencia se comprueba en su fuente original.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1271</Words>
  <Application>Microsoft Office PowerPoint</Application>
  <PresentationFormat>Panorámica</PresentationFormat>
  <Paragraphs>233</Paragraphs>
  <Slides>30</Slides>
  <Notes>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30</vt:i4>
      </vt:variant>
    </vt:vector>
  </HeadingPairs>
  <TitlesOfParts>
    <vt:vector size="36" baseType="lpstr">
      <vt:lpstr>Aptos</vt:lpstr>
      <vt:lpstr>Arial</vt:lpstr>
      <vt:lpstr>Calibri</vt:lpstr>
      <vt:lpstr>Fira Sans</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PILAR SAYAN MEJIA</cp:lastModifiedBy>
  <cp:revision>7</cp:revision>
  <dcterms:created xsi:type="dcterms:W3CDTF">2013-01-27T09:14:16Z</dcterms:created>
  <dcterms:modified xsi:type="dcterms:W3CDTF">2026-09-27T19:09:21Z</dcterms:modified>
  <cp:category/>
</cp:coreProperties>
</file>