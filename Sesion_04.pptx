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5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306" r:id="rId2"/>
    <p:sldId id="307" r:id="rId3"/>
    <p:sldId id="258" r:id="rId4"/>
    <p:sldId id="259" r:id="rId5"/>
    <p:sldId id="309" r:id="rId37"/>
    <p:sldId id="310" r:id="rId38"/>
    <p:sldId id="311" r:id="rId39"/>
    <p:sldId id="313" r:id="rId41"/>
    <p:sldId id="314" r:id="rId42"/>
    <p:sldId id="317" r:id="rId45"/>
    <p:sldId id="318" r:id="rId46"/>
    <p:sldId id="319" r:id="rId47"/>
    <p:sldId id="320" r:id="rId48"/>
    <p:sldId id="321" r:id="rId49"/>
    <p:sldId id="323" r:id="rId51"/>
    <p:sldId id="326" r:id="rId54"/>
    <p:sldId id="327" r:id="rId55"/>
    <p:sldId id="308" r:id="rId29"/>
    <p:sldId id="329" r:id="rId57"/>
    <p:sldId id="330" r:id="rId58"/>
    <p:sldId id="331" r:id="rId59"/>
    <p:sldId id="332" r:id="rId60"/>
    <p:sldId id="333" r:id="rId61"/>
    <p:sldId id="334" r:id="rId62"/>
    <p:sldId id="335" r:id="rId63"/>
    <p:sldId id="337" r:id="rId65"/>
    <p:sldId id="338" r:id="rId66"/>
    <p:sldId id="339" r:id="rId6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29" Type="http://schemas.openxmlformats.org/officeDocument/2006/relationships/slide" Target="slides/slide28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1" Type="http://schemas.openxmlformats.org/officeDocument/2006/relationships/slide" Target="slides/slide45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0D9C41-E925-46F2-8BD1-5CCE9E4476A6}" type="datetimeFigureOut">
              <a:rPr lang="es-PE" smtClean="0"/>
              <a:t>27/09/2026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888531-3C4D-42FD-A92B-15644527B8D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06971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cf80e77ae7_4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7" name="Google Shape;237;g3cf80e77ae7_4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9CDD1"/>
          </a:solidFill>
          <a:ln/>
        </p:spPr>
      </p:sp>
    </p:spTree>
    <p:extLst>
      <p:ext uri="{BB962C8B-B14F-4D97-AF65-F5344CB8AC3E}">
        <p14:creationId xmlns:p14="http://schemas.microsoft.com/office/powerpoint/2010/main" val="15242655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Relationship Id="rId4" Type="http://schemas.openxmlformats.org/officeDocument/2006/relationships/image" Target="../media/image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ENOVO\AppData\Local\Temp\claude\C--Users-LENOVO-Documents-CONTRATOS\f17f3f05-49d0-46aa-84a7-c43f168039e8\scratchpad\eliteed\bg_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212" y="0"/>
            <a:ext cx="12191695" cy="68578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7207" y="944856"/>
            <a:ext cx="5242429" cy="737598"/>
          </a:xfrm>
          <a:prstGeom prst="roundRect">
            <a:avLst>
              <a:gd name="adj" fmla="val 49587"/>
            </a:avLst>
          </a:prstGeom>
          <a:ln/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885117" y="1097280"/>
            <a:ext cx="377942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  <a:buClr>
                <a:srgbClr val="000000"/>
              </a:buClr>
            </a:pPr>
            <a:r>
              <a:rPr lang="en-US" sz="1500" b="1" dirty="0">
                <a:solidFill>
                  <a:srgbClr val="031A8D"/>
                </a:solidFill>
                <a:latin typeface="Montserrat"/>
                <a:sym typeface="Arial"/>
              </a:rPr>
              <a:t>PROGRAMA DE ESPECIALIZACIÓN</a:t>
            </a:r>
          </a:p>
        </p:txBody>
      </p:sp>
      <p:sp>
        <p:nvSpPr>
          <p:cNvPr id="5" name="Shape 2"/>
          <p:cNvSpPr/>
          <p:nvPr/>
        </p:nvSpPr>
        <p:spPr>
          <a:xfrm>
            <a:off x="827207" y="1682454"/>
            <a:ext cx="115821" cy="2072588"/>
          </a:xfrm>
          <a:prstGeom prst="rect">
            <a:avLst/>
          </a:prstGeom>
          <a:solidFill>
            <a:srgbClr val="CCA4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1097252" y="1783080"/>
            <a:ext cx="8899937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8"/>
              </a:lnSpc>
              <a:buClr>
                <a:srgbClr val="000000"/>
              </a:buClr>
            </a:pPr>
            <a:r>
              <a:rPr lang="es-MX" sz="4400" b="1" dirty="0">
                <a:solidFill>
                  <a:srgbClr val="D4AF37"/>
                </a:solidFill>
                <a:latin typeface="Montserrat"/>
                <a:sym typeface="Arial"/>
              </a:rPr>
              <a:t>IA PARA LA BÚSQUEDA Y GESTIÓN DE INFORMACIÓN</a:t>
            </a:r>
          </a:p>
        </p:txBody>
      </p:sp>
      <p:sp>
        <p:nvSpPr>
          <p:cNvPr id="7" name="Text 4"/>
          <p:cNvSpPr/>
          <p:nvPr/>
        </p:nvSpPr>
        <p:spPr>
          <a:xfrm>
            <a:off x="827207" y="3928736"/>
            <a:ext cx="935221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Módulo 2: Búsqueda Inteligente de Literatura y Herramientas de IA</a:t>
            </a:r>
          </a:p>
        </p:txBody>
      </p:sp>
      <p:sp>
        <p:nvSpPr>
          <p:cNvPr id="9" name="Text 6"/>
          <p:cNvSpPr/>
          <p:nvPr/>
        </p:nvSpPr>
        <p:spPr>
          <a:xfrm>
            <a:off x="3104143" y="5659755"/>
            <a:ext cx="593098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D4AF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Docente: Lic. Pilar Rocío Sayán Mejía</a:t>
            </a:r>
            <a:r>
              <a:rPr lang="en-US" sz="21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E9151AAB-818C-8BDA-B0DD-E37A64264434}"/>
              </a:ext>
            </a:extLst>
          </p:cNvPr>
          <p:cNvSpPr/>
          <p:nvPr/>
        </p:nvSpPr>
        <p:spPr>
          <a:xfrm>
            <a:off x="827207" y="4923060"/>
            <a:ext cx="626364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5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Sesión 04: IA para la Búsqueda y Gestión de Información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196" y="784622"/>
            <a:ext cx="11785305" cy="5288756"/>
          </a:xfrm>
          <a:prstGeom prst="roundRect">
            <a:avLst>
              <a:gd name="adj" fmla="val 4353"/>
            </a:avLst>
          </a:prstGeom>
          <a:solidFill>
            <a:srgbClr val="FFFFFF"/>
          </a:solidFill>
          <a:ln w="6350">
            <a:solidFill>
              <a:srgbClr val="BBD9F5"/>
            </a:solidFill>
            <a:prstDash val="solid"/>
          </a:ln>
          <a:effectLst>
            <a:outerShdw blurRad="127" dist="90170" dir="2700000" algn="bl" rotWithShape="0">
              <a:srgbClr val="BBD9F5">
                <a:alpha val="100000"/>
              </a:srgbClr>
            </a:outerShdw>
          </a:effectLst>
        </p:spPr>
        <p:txBody>
          <a:bodyPr/>
          <a:p/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95" y="784622"/>
            <a:ext cx="4640444" cy="5288756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1210" y="0"/>
                </a:lnTo>
                <a:lnTo>
                  <a:pt x="92090" y="2640"/>
                </a:lnTo>
                <a:lnTo>
                  <a:pt x="93070" y="7030"/>
                </a:lnTo>
                <a:lnTo>
                  <a:pt x="93650" y="11330"/>
                </a:lnTo>
                <a:lnTo>
                  <a:pt x="93850" y="14750"/>
                </a:lnTo>
                <a:lnTo>
                  <a:pt x="93460" y="21970"/>
                </a:lnTo>
                <a:lnTo>
                  <a:pt x="91990" y="31150"/>
                </a:lnTo>
                <a:lnTo>
                  <a:pt x="91410" y="36520"/>
                </a:lnTo>
                <a:lnTo>
                  <a:pt x="91210" y="40040"/>
                </a:lnTo>
                <a:lnTo>
                  <a:pt x="91310" y="45700"/>
                </a:lnTo>
                <a:lnTo>
                  <a:pt x="91890" y="48930"/>
                </a:lnTo>
                <a:lnTo>
                  <a:pt x="93160" y="52540"/>
                </a:lnTo>
                <a:lnTo>
                  <a:pt x="94920" y="56050"/>
                </a:lnTo>
                <a:lnTo>
                  <a:pt x="97170" y="59860"/>
                </a:lnTo>
                <a:lnTo>
                  <a:pt x="98730" y="63280"/>
                </a:lnTo>
                <a:lnTo>
                  <a:pt x="99800" y="67290"/>
                </a:lnTo>
                <a:lnTo>
                  <a:pt x="100000" y="71480"/>
                </a:lnTo>
                <a:lnTo>
                  <a:pt x="99710" y="73630"/>
                </a:lnTo>
                <a:lnTo>
                  <a:pt x="99020" y="76460"/>
                </a:lnTo>
                <a:lnTo>
                  <a:pt x="97750" y="80180"/>
                </a:lnTo>
                <a:lnTo>
                  <a:pt x="96390" y="83400"/>
                </a:lnTo>
                <a:lnTo>
                  <a:pt x="91890" y="91990"/>
                </a:lnTo>
                <a:lnTo>
                  <a:pt x="89450" y="96000"/>
                </a:lnTo>
                <a:lnTo>
                  <a:pt x="8672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4" name="Text 1"/>
          <p:cNvSpPr/>
          <p:nvPr/>
        </p:nvSpPr>
        <p:spPr>
          <a:xfrm>
            <a:off x="5262134" y="1224260"/>
            <a:ext cx="6086918" cy="249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50" dirty="0">
                <a:latin typeface="Montserrat"/>
              </a:rPr>
              <a:t>Docente</a:t>
            </a:r>
          </a:p>
        </p:txBody>
      </p:sp>
      <p:sp>
        <p:nvSpPr>
          <p:cNvPr id="5" name="Text 2"/>
          <p:cNvSpPr/>
          <p:nvPr/>
        </p:nvSpPr>
        <p:spPr>
          <a:xfrm>
            <a:off x="5262134" y="1537892"/>
            <a:ext cx="6086918" cy="499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100" dirty="0">
                <a:latin typeface="Montserrat"/>
              </a:rPr>
              <a:t>Lic. Pilar Rocío Sayán Mejía</a:t>
            </a:r>
          </a:p>
        </p:txBody>
      </p:sp>
      <p:sp>
        <p:nvSpPr>
          <p:cNvPr id="6" name="Shape 3"/>
          <p:cNvSpPr/>
          <p:nvPr/>
        </p:nvSpPr>
        <p:spPr>
          <a:xfrm>
            <a:off x="5262134" y="2277369"/>
            <a:ext cx="2963491" cy="1981795"/>
          </a:xfrm>
          <a:prstGeom prst="roundRect">
            <a:avLst>
              <a:gd name="adj" fmla="val 7261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41021" y="2456260"/>
            <a:ext cx="2605717" cy="249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50" dirty="0">
                <a:latin typeface="Montserrat"/>
              </a:rPr>
              <a:t>Formación</a:t>
            </a:r>
          </a:p>
        </p:txBody>
      </p:sp>
      <p:sp>
        <p:nvSpPr>
          <p:cNvPr id="8" name="Text 5"/>
          <p:cNvSpPr/>
          <p:nvPr/>
        </p:nvSpPr>
        <p:spPr>
          <a:xfrm>
            <a:off x="5441021" y="2801838"/>
            <a:ext cx="2605717" cy="1278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250" dirty="0">
                <a:latin typeface="Montserrat"/>
              </a:rPr>
              <a:t>Licenciada en Comunicación y especialista en entornos digitales, investigación académica y tecnologías aplicadas a la educación.</a:t>
            </a:r>
          </a:p>
        </p:txBody>
      </p:sp>
      <p:sp>
        <p:nvSpPr>
          <p:cNvPr id="9" name="Shape 6"/>
          <p:cNvSpPr/>
          <p:nvPr/>
        </p:nvSpPr>
        <p:spPr>
          <a:xfrm>
            <a:off x="8385462" y="2277369"/>
            <a:ext cx="2963590" cy="1981795"/>
          </a:xfrm>
          <a:prstGeom prst="roundRect">
            <a:avLst>
              <a:gd name="adj" fmla="val 7261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64348" y="2456260"/>
            <a:ext cx="2605816" cy="249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50" dirty="0">
                <a:latin typeface="Montserrat"/>
              </a:rPr>
              <a:t>Experiencia Docente</a:t>
            </a:r>
          </a:p>
        </p:txBody>
      </p:sp>
      <p:sp>
        <p:nvSpPr>
          <p:cNvPr id="11" name="Text 8"/>
          <p:cNvSpPr/>
          <p:nvPr/>
        </p:nvSpPr>
        <p:spPr>
          <a:xfrm>
            <a:off x="8564348" y="2801839"/>
            <a:ext cx="2605816" cy="1022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>
              <a:lnSpc>
                <a:spcPct val="133000"/>
              </a:lnSpc>
            </a:pPr>
            <a:r>
              <a:rPr lang="en-US" sz="1250" dirty="0">
                <a:latin typeface="Montserrat"/>
              </a:rPr>
              <a:t>Facilitadora de programas de especialización en IA, pensamiento crítico e investigación aplicada con herramientas tecnológicas.</a:t>
            </a:r>
          </a:p>
        </p:txBody>
      </p:sp>
      <p:sp>
        <p:nvSpPr>
          <p:cNvPr id="12" name="Shape 9"/>
          <p:cNvSpPr/>
          <p:nvPr/>
        </p:nvSpPr>
        <p:spPr>
          <a:xfrm>
            <a:off x="5262134" y="4419006"/>
            <a:ext cx="6086918" cy="1214735"/>
          </a:xfrm>
          <a:prstGeom prst="roundRect">
            <a:avLst>
              <a:gd name="adj" fmla="val 11845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41020" y="4597896"/>
            <a:ext cx="5729144" cy="249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50" dirty="0">
                <a:latin typeface="Montserrat"/>
              </a:rPr>
              <a:t>Enfoque</a:t>
            </a:r>
          </a:p>
        </p:txBody>
      </p:sp>
      <p:sp>
        <p:nvSpPr>
          <p:cNvPr id="14" name="Text 11"/>
          <p:cNvSpPr/>
          <p:nvPr/>
        </p:nvSpPr>
        <p:spPr>
          <a:xfrm>
            <a:off x="5441020" y="4943476"/>
            <a:ext cx="5729144" cy="511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250" dirty="0">
                <a:latin typeface="Montserrat"/>
              </a:rPr>
              <a:t>Combina fundamentos teóricos sólidos con laboratorios prácticos que desarrollan criterio analítico y autonomía investigadora.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A478B04F-572C-AF9B-FBEC-1C6EA61F04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1890"/>
            <a:ext cx="12192000" cy="6879891"/>
          </a:xfrm>
          <a:prstGeom prst="rect">
            <a:avLst/>
          </a:prstGeom>
        </p:spPr>
      </p:pic>
      <p:sp>
        <p:nvSpPr>
          <p:cNvPr id="17" name="Shape 4">
            <a:extLst>
              <a:ext uri="{FF2B5EF4-FFF2-40B4-BE49-F238E27FC236}">
                <a16:creationId xmlns:a16="http://schemas.microsoft.com/office/drawing/2014/main" id="{F9F8CD91-3EB0-3505-1123-0ABE8AAF20EA}"/>
              </a:ext>
            </a:extLst>
          </p:cNvPr>
          <p:cNvSpPr/>
          <p:nvPr/>
        </p:nvSpPr>
        <p:spPr>
          <a:xfrm>
            <a:off x="2203978" y="4492961"/>
            <a:ext cx="2587453" cy="1394212"/>
          </a:xfrm>
          <a:prstGeom prst="roundRect">
            <a:avLst>
              <a:gd name="adj" fmla="val 1691"/>
            </a:avLst>
          </a:prstGeom>
          <a:solidFill>
            <a:schemeClr val="bg1"/>
          </a:solidFill>
          <a:ln w="38100">
            <a:solidFill>
              <a:srgbClr val="000156"/>
            </a:solidFill>
            <a:prstDash val="sysDot"/>
          </a:ln>
        </p:spPr>
        <p:txBody>
          <a:bodyPr/>
          <a:lstStyle/>
          <a:p>
            <a:endParaRPr lang="es-PE" sz="2400" dirty="0">
              <a:latin typeface="Montserrat"/>
            </a:endParaRPr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943B41A7-1693-2AEC-4E89-25DD1F82D67B}"/>
              </a:ext>
            </a:extLst>
          </p:cNvPr>
          <p:cNvSpPr/>
          <p:nvPr/>
        </p:nvSpPr>
        <p:spPr>
          <a:xfrm>
            <a:off x="2297412" y="5003660"/>
            <a:ext cx="2317121" cy="883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200" dirty="0">
                <a:latin typeface="Montserrat"/>
              </a:rPr>
              <a:t>Python · R · SQL · React · </a:t>
            </a:r>
          </a:p>
          <a:p>
            <a:pPr>
              <a:lnSpc>
                <a:spcPct val="133000"/>
              </a:lnSpc>
            </a:pPr>
            <a:r>
              <a:rPr lang="en-US" sz="1200" dirty="0">
                <a:latin typeface="Montserrat"/>
              </a:rPr>
              <a:t>TypeScript · </a:t>
            </a:r>
            <a:r>
              <a:rPr lang="en-US" sz="1200" dirty="0" err="1">
                <a:latin typeface="Montserrat"/>
              </a:rPr>
              <a:t>Supabase</a:t>
            </a:r>
            <a:r>
              <a:rPr lang="en-US" sz="1200" dirty="0">
                <a:latin typeface="Montserrat"/>
              </a:rPr>
              <a:t> · APIs </a:t>
            </a:r>
          </a:p>
          <a:p>
            <a:pPr>
              <a:lnSpc>
                <a:spcPct val="133000"/>
              </a:lnSpc>
            </a:pPr>
            <a:r>
              <a:rPr lang="en-US" sz="1200" dirty="0">
                <a:latin typeface="Montserrat"/>
              </a:rPr>
              <a:t>· LLMs · Git/GitHub</a:t>
            </a: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40D22330-A528-9B3A-BC4C-A542DCA468EE}"/>
              </a:ext>
            </a:extLst>
          </p:cNvPr>
          <p:cNvSpPr/>
          <p:nvPr/>
        </p:nvSpPr>
        <p:spPr>
          <a:xfrm>
            <a:off x="2302130" y="4633485"/>
            <a:ext cx="1791994" cy="309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latin typeface="Montserrat"/>
              </a:rPr>
              <a:t>Herramientas</a:t>
            </a:r>
            <a:endParaRPr lang="en-US" sz="1400" b="1" dirty="0">
              <a:latin typeface="Montserrat" panose="020B0604020202020204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EA0138F-2062-4DE2-47B9-6A5B9F66B869}"/>
              </a:ext>
            </a:extLst>
          </p:cNvPr>
          <p:cNvSpPr/>
          <p:nvPr/>
        </p:nvSpPr>
        <p:spPr>
          <a:xfrm>
            <a:off x="4798165" y="784623"/>
            <a:ext cx="6962647" cy="54483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400">
              <a:latin typeface="Montserrat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605810E-BC40-7989-1C4C-3528A873D718}"/>
              </a:ext>
            </a:extLst>
          </p:cNvPr>
          <p:cNvSpPr txBox="1"/>
          <p:nvPr/>
        </p:nvSpPr>
        <p:spPr>
          <a:xfrm>
            <a:off x="4850374" y="624981"/>
            <a:ext cx="6319791" cy="57246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s-MX" sz="1700" dirty="0">
              <a:latin typeface="Montserrat"/>
            </a:endParaRPr>
          </a:p>
          <a:p>
            <a:pPr algn="just"/>
            <a:r>
              <a:rPr lang="es-MX" sz="1500" dirty="0">
                <a:latin typeface="Montserrat"/>
              </a:rPr>
              <a:t>Docente especialista en Estadística Aplicada, Ciencia de Datos, Inteligencia Artificial y Analítica de Negocios, con más de 20 años de experiencia en educación superior y capacitación profesional. Cuenta con trayectoria en análisis de datos, Machine </a:t>
            </a:r>
            <a:r>
              <a:rPr lang="es-MX" sz="1500" dirty="0" err="1">
                <a:latin typeface="Montserrat"/>
              </a:rPr>
              <a:t>Learning</a:t>
            </a:r>
            <a:r>
              <a:rPr lang="es-MX" sz="1500" dirty="0">
                <a:latin typeface="Montserrat"/>
              </a:rPr>
              <a:t>, investigación aplicada y desarrollo de soluciones tecnológicas orientadas a la resolución de problemas reales.</a:t>
            </a:r>
          </a:p>
          <a:p>
            <a:endParaRPr lang="es-MX" sz="1500" dirty="0">
              <a:latin typeface="Montserrat"/>
            </a:endParaRPr>
          </a:p>
          <a:p>
            <a:pPr algn="just"/>
            <a:r>
              <a:rPr lang="es-MX" sz="1500" dirty="0">
                <a:latin typeface="Montserrat"/>
              </a:rPr>
              <a:t>Su experiencia integra herramientas como Python, R y SQL con tecnologías para el desarrollo de aplicaciones como </a:t>
            </a:r>
            <a:r>
              <a:rPr lang="es-MX" sz="1500" dirty="0" err="1">
                <a:latin typeface="Montserrat"/>
              </a:rPr>
              <a:t>React</a:t>
            </a:r>
            <a:r>
              <a:rPr lang="es-MX" sz="1500" dirty="0">
                <a:latin typeface="Montserrat"/>
              </a:rPr>
              <a:t>, </a:t>
            </a:r>
            <a:r>
              <a:rPr lang="es-MX" sz="1500" dirty="0" err="1">
                <a:latin typeface="Montserrat"/>
              </a:rPr>
              <a:t>TypeScript</a:t>
            </a:r>
            <a:r>
              <a:rPr lang="es-MX" sz="1500" dirty="0">
                <a:latin typeface="Montserrat"/>
              </a:rPr>
              <a:t>, </a:t>
            </a:r>
            <a:r>
              <a:rPr lang="es-MX" sz="1500" dirty="0" err="1">
                <a:latin typeface="Montserrat"/>
              </a:rPr>
              <a:t>Supabase</a:t>
            </a:r>
            <a:r>
              <a:rPr lang="es-MX" sz="1500" dirty="0">
                <a:latin typeface="Montserrat"/>
              </a:rPr>
              <a:t> y Git/GitHub, incorporando actualmente IA generativa, modelos de lenguaje (</a:t>
            </a:r>
            <a:r>
              <a:rPr lang="es-MX" sz="1500" dirty="0" err="1">
                <a:latin typeface="Montserrat"/>
              </a:rPr>
              <a:t>LLMs</a:t>
            </a:r>
            <a:r>
              <a:rPr lang="es-MX" sz="1500" dirty="0">
                <a:latin typeface="Montserrat"/>
              </a:rPr>
              <a:t>), </a:t>
            </a:r>
            <a:r>
              <a:rPr lang="es-MX" sz="1500" dirty="0" err="1">
                <a:latin typeface="Montserrat"/>
              </a:rPr>
              <a:t>APIs</a:t>
            </a:r>
            <a:r>
              <a:rPr lang="es-MX" sz="1500" dirty="0">
                <a:latin typeface="Montserrat"/>
              </a:rPr>
              <a:t> de inteligencia artificial y herramientas de desarrollo asistido por IA.</a:t>
            </a:r>
          </a:p>
          <a:p>
            <a:endParaRPr lang="es-MX" sz="1500" dirty="0">
              <a:latin typeface="Montserrat"/>
            </a:endParaRPr>
          </a:p>
          <a:p>
            <a:pPr algn="just"/>
            <a:r>
              <a:rPr lang="es-MX" sz="1500" dirty="0">
                <a:latin typeface="Montserrat"/>
              </a:rPr>
              <a:t>En su labor docente promueve un enfoque práctico basado en proyectos, integrando datos, programación, desarrollo Full </a:t>
            </a:r>
            <a:r>
              <a:rPr lang="es-MX" sz="1500" dirty="0" err="1">
                <a:latin typeface="Montserrat"/>
              </a:rPr>
              <a:t>Stack</a:t>
            </a:r>
            <a:r>
              <a:rPr lang="es-MX" sz="1500" dirty="0">
                <a:latin typeface="Montserrat"/>
              </a:rPr>
              <a:t> e Inteligencia Artificial para que los estudiantes puedan diseñar y construir soluciones funcionales. Actualmente desarrolla actividades de docencia, capacitación y asesoría en Ciencia de Datos, Analítica, Inteligencia Artificial y transformación digital.</a:t>
            </a:r>
          </a:p>
          <a:p>
            <a:endParaRPr lang="es-MX" sz="1700" dirty="0">
              <a:latin typeface="Montserrat"/>
            </a:endParaRPr>
          </a:p>
          <a:p>
            <a:endParaRPr lang="es-MX" sz="1700" dirty="0">
              <a:latin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genda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12" y="427292"/>
            <a:ext cx="10228277" cy="717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700" b="1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10515600" cy="841248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1792224"/>
            <a:ext cx="548640" cy="548640"/>
          </a:xfrm>
          <a:prstGeom prst="ellipse">
            <a:avLst/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645920"/>
            <a:ext cx="2377440" cy="8412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Vocabulario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1645920"/>
            <a:ext cx="7132320" cy="8412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Descomponer una pregunta de investigación en conceptos y construir vocabulario de búsqueda antes de usar la 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78608"/>
            <a:ext cx="10515600" cy="841248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724912"/>
            <a:ext cx="548640" cy="548640"/>
          </a:xfrm>
          <a:prstGeom prst="ellipse">
            <a:avLst/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78608"/>
            <a:ext cx="2377440" cy="8412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Operadores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578608"/>
            <a:ext cx="7132320" cy="8412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Aplicar operadores de búsqueda (comillas, AND, OR) para armar cadenas equilibradas entre amplitud y precisión.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511296"/>
            <a:ext cx="10515600" cy="841248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0120" y="3657600"/>
            <a:ext cx="548640" cy="548640"/>
          </a:xfrm>
          <a:prstGeom prst="ellipse">
            <a:avLst/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511296"/>
            <a:ext cx="2377440" cy="8412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Google Scholar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3511296"/>
            <a:ext cx="7132320" cy="8412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Usar Google Scholar como estación de trabajo central, apoyándose en la IA solo para ampliar vocabulario.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43984"/>
            <a:ext cx="10515600" cy="841248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4590288"/>
            <a:ext cx="548640" cy="548640"/>
          </a:xfrm>
          <a:prstGeom prst="ellipse">
            <a:avLst/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443984"/>
            <a:ext cx="2377440" cy="8412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Aplicación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4443984"/>
            <a:ext cx="7132320" cy="8412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Aplicar el proceso completo a un caso real y documentarlo en una bitácora reproducible.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376672"/>
            <a:ext cx="10515600" cy="841248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0120" y="5522976"/>
            <a:ext cx="548640" cy="548640"/>
          </a:xfrm>
          <a:prstGeom prst="ellipse">
            <a:avLst/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5376672"/>
            <a:ext cx="2377440" cy="8412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Criterio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5376672"/>
            <a:ext cx="7132320" cy="8412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Distinguir lo que la IA sugiere de lo que el investigador debe verificar y decidir.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genda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12" y="427292"/>
            <a:ext cx="10228277" cy="717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700" b="1">
                <a:solidFill>
                  <a:srgbClr val="FFFFFF"/>
                </a:solidFill>
                <a:latin typeface="Calibri"/>
              </a:rPr>
              <a:t>RUTA DE APRENDIZAJE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39319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Bienvenida y punto de partida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92040" y="1645920"/>
            <a:ext cx="53035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Qué es un antecedente y por qué se busca literatura.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0" y="1755648"/>
            <a:ext cx="914400" cy="466344"/>
          </a:xfrm>
          <a:prstGeom prst="roundRect">
            <a:avLst>
              <a:gd name="adj" fmla="val 30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0" y="1755648"/>
            <a:ext cx="914400" cy="46634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10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23160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23160"/>
            <a:ext cx="39319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Estrategia y términos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423160"/>
            <a:ext cx="53035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De la pregunta a los conceptos, el vocabulario y las cadenas.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87000" y="2532888"/>
            <a:ext cx="914400" cy="466344"/>
          </a:xfrm>
          <a:prstGeom prst="roundRect">
            <a:avLst>
              <a:gd name="adj" fmla="val 30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87000" y="2532888"/>
            <a:ext cx="914400" cy="46634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25 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00400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200400"/>
            <a:ext cx="39319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Demostración en Google Scholar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200400"/>
            <a:ext cx="53035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Pantalla, filtros, «citado por», versiones y alertas.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87000" y="3310128"/>
            <a:ext cx="914400" cy="466344"/>
          </a:xfrm>
          <a:prstGeom prst="roundRect">
            <a:avLst>
              <a:gd name="adj" fmla="val 30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87000" y="3310128"/>
            <a:ext cx="914400" cy="46634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20 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977639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977639"/>
            <a:ext cx="39319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Búsqueda acompañada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3977639"/>
            <a:ext cx="53035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Aplicas el método a tu propio tema con apoyo de la IA.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87000" y="4087368"/>
            <a:ext cx="914400" cy="466344"/>
          </a:xfrm>
          <a:prstGeom prst="roundRect">
            <a:avLst>
              <a:gd name="adj" fmla="val 30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87000" y="4087368"/>
            <a:ext cx="914400" cy="46634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35 min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754879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754879"/>
            <a:ext cx="39319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Registro en la bitácora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4754879"/>
            <a:ext cx="53035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Documentas cada búsqueda para poder repetirla.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87000" y="4864607"/>
            <a:ext cx="914400" cy="466344"/>
          </a:xfrm>
          <a:prstGeom prst="roundRect">
            <a:avLst>
              <a:gd name="adj" fmla="val 30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87000" y="4864607"/>
            <a:ext cx="914400" cy="46634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20 min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532119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532119"/>
            <a:ext cx="39319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Cierre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5532119"/>
            <a:ext cx="53035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Síntesis, dudas y transferencia al caso autónomo.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87000" y="5641847"/>
            <a:ext cx="914400" cy="466344"/>
          </a:xfrm>
          <a:prstGeom prst="roundRect">
            <a:avLst>
              <a:gd name="adj" fmla="val 30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87000" y="5641847"/>
            <a:ext cx="914400" cy="46634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10 min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cf80e77ae7_4_178"/>
          <p:cNvSpPr/>
          <p:nvPr/>
        </p:nvSpPr>
        <p:spPr>
          <a:xfrm>
            <a:off x="-147963" y="-69639"/>
            <a:ext cx="12487926" cy="7117830"/>
          </a:xfrm>
          <a:custGeom>
            <a:avLst/>
            <a:gdLst/>
            <a:ahLst/>
            <a:cxnLst/>
            <a:rect l="l" t="t" r="r" b="b"/>
            <a:pathLst>
              <a:path w="4933502" h="2811982" extrusionOk="0">
                <a:moveTo>
                  <a:pt x="0" y="0"/>
                </a:moveTo>
                <a:lnTo>
                  <a:pt x="4933502" y="0"/>
                </a:lnTo>
                <a:lnTo>
                  <a:pt x="4933502" y="2811982"/>
                </a:lnTo>
                <a:lnTo>
                  <a:pt x="0" y="281198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grpSp>
        <p:nvGrpSpPr>
          <p:cNvPr id="242" name="Google Shape;242;g3cf80e77ae7_4_178"/>
          <p:cNvGrpSpPr/>
          <p:nvPr/>
        </p:nvGrpSpPr>
        <p:grpSpPr>
          <a:xfrm>
            <a:off x="0" y="4707312"/>
            <a:ext cx="12192000" cy="2150689"/>
            <a:chOff x="0" y="-38100"/>
            <a:chExt cx="14449778" cy="2548965"/>
          </a:xfrm>
        </p:grpSpPr>
        <p:sp>
          <p:nvSpPr>
            <p:cNvPr id="243" name="Google Shape;243;g3cf80e77ae7_4_178"/>
            <p:cNvSpPr/>
            <p:nvPr/>
          </p:nvSpPr>
          <p:spPr>
            <a:xfrm>
              <a:off x="0" y="0"/>
              <a:ext cx="14449778" cy="2510865"/>
            </a:xfrm>
            <a:custGeom>
              <a:avLst/>
              <a:gdLst/>
              <a:ahLst/>
              <a:cxnLst/>
              <a:rect l="l" t="t" r="r" b="b"/>
              <a:pathLst>
                <a:path w="14449778" h="2510865" extrusionOk="0">
                  <a:moveTo>
                    <a:pt x="0" y="0"/>
                  </a:moveTo>
                  <a:lnTo>
                    <a:pt x="14449778" y="0"/>
                  </a:lnTo>
                  <a:lnTo>
                    <a:pt x="14449778" y="2510865"/>
                  </a:lnTo>
                  <a:lnTo>
                    <a:pt x="0" y="2510865"/>
                  </a:lnTo>
                  <a:close/>
                </a:path>
              </a:pathLst>
            </a:custGeom>
            <a:gradFill>
              <a:gsLst>
                <a:gs pos="0">
                  <a:srgbClr val="031A8D"/>
                </a:gs>
                <a:gs pos="33333">
                  <a:srgbClr val="000156"/>
                </a:gs>
                <a:gs pos="66667">
                  <a:srgbClr val="000156"/>
                </a:gs>
                <a:gs pos="100000">
                  <a:srgbClr val="000156"/>
                </a:gs>
              </a:gsLst>
              <a:lin ang="2700000" scaled="0"/>
            </a:gradFill>
            <a:ln>
              <a:noFill/>
            </a:ln>
          </p:spPr>
        </p:sp>
        <p:sp>
          <p:nvSpPr>
            <p:cNvPr id="244" name="Google Shape;244;g3cf80e77ae7_4_178"/>
            <p:cNvSpPr txBox="1"/>
            <p:nvPr/>
          </p:nvSpPr>
          <p:spPr>
            <a:xfrm>
              <a:off x="0" y="-38100"/>
              <a:ext cx="14449778" cy="25489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5" name="Google Shape;245;g3cf80e77ae7_4_178"/>
          <p:cNvSpPr/>
          <p:nvPr/>
        </p:nvSpPr>
        <p:spPr>
          <a:xfrm>
            <a:off x="7894980" y="0"/>
            <a:ext cx="3611221" cy="8014953"/>
          </a:xfrm>
          <a:custGeom>
            <a:avLst/>
            <a:gdLst/>
            <a:ahLst/>
            <a:cxnLst/>
            <a:rect l="l" t="t" r="r" b="b"/>
            <a:pathLst>
              <a:path w="2858770" h="6344920" extrusionOk="0">
                <a:moveTo>
                  <a:pt x="1827530" y="6344920"/>
                </a:moveTo>
                <a:lnTo>
                  <a:pt x="0" y="6344920"/>
                </a:lnTo>
                <a:lnTo>
                  <a:pt x="0" y="1031240"/>
                </a:lnTo>
                <a:cubicBezTo>
                  <a:pt x="0" y="461010"/>
                  <a:pt x="461010" y="0"/>
                  <a:pt x="1031240" y="0"/>
                </a:cubicBezTo>
                <a:lnTo>
                  <a:pt x="2858770" y="0"/>
                </a:lnTo>
                <a:lnTo>
                  <a:pt x="2858770" y="5313680"/>
                </a:lnTo>
                <a:cubicBezTo>
                  <a:pt x="2858770" y="5883910"/>
                  <a:pt x="2397760" y="6344920"/>
                  <a:pt x="1827530" y="6344920"/>
                </a:cubicBezTo>
                <a:close/>
              </a:path>
            </a:pathLst>
          </a:custGeom>
          <a:blipFill rotWithShape="1">
            <a:blip r:embed="rId3">
              <a:alphaModFix amt="93000"/>
            </a:blip>
            <a:stretch>
              <a:fillRect l="-113407" r="-119516"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endParaRPr sz="1200"/>
          </a:p>
        </p:txBody>
      </p:sp>
      <p:grpSp>
        <p:nvGrpSpPr>
          <p:cNvPr id="246" name="Google Shape;246;g3cf80e77ae7_4_178"/>
          <p:cNvGrpSpPr/>
          <p:nvPr/>
        </p:nvGrpSpPr>
        <p:grpSpPr>
          <a:xfrm>
            <a:off x="11506200" y="-32147"/>
            <a:ext cx="685800" cy="717947"/>
            <a:chOff x="0" y="-38100"/>
            <a:chExt cx="812800" cy="850900"/>
          </a:xfrm>
        </p:grpSpPr>
        <p:sp>
          <p:nvSpPr>
            <p:cNvPr id="247" name="Google Shape;247;g3cf80e77ae7_4_17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11754"/>
            </a:solidFill>
            <a:ln>
              <a:noFill/>
            </a:ln>
          </p:spPr>
        </p:sp>
        <p:sp>
          <p:nvSpPr>
            <p:cNvPr id="248" name="Google Shape;248;g3cf80e77ae7_4_178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" name="Google Shape;249;g3cf80e77ae7_4_178"/>
          <p:cNvGrpSpPr/>
          <p:nvPr/>
        </p:nvGrpSpPr>
        <p:grpSpPr>
          <a:xfrm>
            <a:off x="7235925" y="462783"/>
            <a:ext cx="1318109" cy="1379896"/>
            <a:chOff x="0" y="-38100"/>
            <a:chExt cx="812800" cy="850900"/>
          </a:xfrm>
        </p:grpSpPr>
        <p:sp>
          <p:nvSpPr>
            <p:cNvPr id="250" name="Google Shape;250;g3cf80e77ae7_4_17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199699" y="0"/>
                  </a:moveTo>
                  <a:lnTo>
                    <a:pt x="613101" y="0"/>
                  </a:lnTo>
                  <a:cubicBezTo>
                    <a:pt x="666064" y="0"/>
                    <a:pt x="716859" y="21040"/>
                    <a:pt x="754309" y="58491"/>
                  </a:cubicBezTo>
                  <a:cubicBezTo>
                    <a:pt x="791760" y="95941"/>
                    <a:pt x="812800" y="146736"/>
                    <a:pt x="812800" y="199699"/>
                  </a:cubicBezTo>
                  <a:lnTo>
                    <a:pt x="812800" y="613101"/>
                  </a:lnTo>
                  <a:cubicBezTo>
                    <a:pt x="812800" y="666064"/>
                    <a:pt x="791760" y="716859"/>
                    <a:pt x="754309" y="754309"/>
                  </a:cubicBezTo>
                  <a:cubicBezTo>
                    <a:pt x="716859" y="791760"/>
                    <a:pt x="666064" y="812800"/>
                    <a:pt x="613101" y="812800"/>
                  </a:cubicBezTo>
                  <a:lnTo>
                    <a:pt x="199699" y="812800"/>
                  </a:lnTo>
                  <a:cubicBezTo>
                    <a:pt x="146736" y="812800"/>
                    <a:pt x="95941" y="791760"/>
                    <a:pt x="58491" y="754309"/>
                  </a:cubicBezTo>
                  <a:cubicBezTo>
                    <a:pt x="21040" y="716859"/>
                    <a:pt x="0" y="666064"/>
                    <a:pt x="0" y="613101"/>
                  </a:cubicBezTo>
                  <a:lnTo>
                    <a:pt x="0" y="199699"/>
                  </a:lnTo>
                  <a:cubicBezTo>
                    <a:pt x="0" y="146736"/>
                    <a:pt x="21040" y="95941"/>
                    <a:pt x="58491" y="58491"/>
                  </a:cubicBezTo>
                  <a:cubicBezTo>
                    <a:pt x="95941" y="21040"/>
                    <a:pt x="146736" y="0"/>
                    <a:pt x="199699" y="0"/>
                  </a:cubicBezTo>
                  <a:close/>
                </a:path>
              </a:pathLst>
            </a:custGeom>
            <a:solidFill>
              <a:srgbClr val="011754">
                <a:alpha val="29803"/>
              </a:srgbClr>
            </a:solidFill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endParaRPr sz="1200"/>
            </a:p>
          </p:txBody>
        </p:sp>
        <p:sp>
          <p:nvSpPr>
            <p:cNvPr id="251" name="Google Shape;251;g3cf80e77ae7_4_178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2" name="Google Shape;252;g3cf80e77ae7_4_178"/>
          <p:cNvSpPr txBox="1"/>
          <p:nvPr/>
        </p:nvSpPr>
        <p:spPr>
          <a:xfrm>
            <a:off x="904150" y="4800600"/>
            <a:ext cx="6710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s-MX" sz="1800" dirty="0">
                <a:solidFill>
                  <a:srgbClr val="FFFFFF"/>
                </a:solidFill>
                <a:latin typeface="Calibri"/>
              </a:rPr>
              <a:t>Trabajaremos directamente en Google Scholar</a:t>
            </a:r>
          </a:p>
          <a:p>
            <a:pPr marL="331107" indent="-165553">
              <a:spcAft>
                <a:spcPts val="800"/>
              </a:spcAft>
              <a:buClr>
                <a:srgbClr val="FFFFFF"/>
              </a:buClr>
              <a:buChar char="•"/>
            </a:pPr>
            <a:r>
              <a:rPr lang="es-MX" sz="1800" dirty="0">
                <a:solidFill>
                  <a:srgbClr val="FFFFFF"/>
                </a:solidFill>
                <a:latin typeface="Calibri"/>
              </a:rPr>
              <a:t>Abre Google Scholar en una pestaña nueva</a:t>
            </a:r>
          </a:p>
          <a:p>
            <a:pPr marL="331107" indent="-165553">
              <a:spcAft>
                <a:spcPts val="800"/>
              </a:spcAft>
              <a:buClr>
                <a:srgbClr val="FFFFFF"/>
              </a:buClr>
              <a:buChar char="•"/>
            </a:pPr>
            <a:r>
              <a:rPr lang="es-MX" sz="1800" dirty="0">
                <a:solidFill>
                  <a:srgbClr val="FFFFFF"/>
                </a:solidFill>
                <a:latin typeface="Calibri"/>
              </a:rPr>
              <a:t>Ten a mano tu cuaderno o bitácora de registro</a:t>
            </a:r>
            <a:endParaRPr lang="es-MX" sz="1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3" name="Google Shape;253;g3cf80e77ae7_4_178"/>
          <p:cNvSpPr txBox="1"/>
          <p:nvPr/>
        </p:nvSpPr>
        <p:spPr>
          <a:xfrm>
            <a:off x="1082949" y="1563660"/>
            <a:ext cx="5863764" cy="245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6934" b="1" dirty="0">
                <a:solidFill>
                  <a:srgbClr val="000156"/>
                </a:solidFill>
                <a:latin typeface="Fira Sans"/>
                <a:ea typeface="Fira Sans"/>
                <a:cs typeface="Fira Sans"/>
                <a:sym typeface="Fira Sans"/>
              </a:rPr>
              <a:t>VAMOS A LA PRÁCTICA</a:t>
            </a:r>
            <a:endParaRPr sz="1200" dirty="0"/>
          </a:p>
        </p:txBody>
      </p:sp>
      <p:grpSp>
        <p:nvGrpSpPr>
          <p:cNvPr id="254" name="Google Shape;254;g3cf80e77ae7_4_178"/>
          <p:cNvGrpSpPr/>
          <p:nvPr/>
        </p:nvGrpSpPr>
        <p:grpSpPr>
          <a:xfrm>
            <a:off x="5656329" y="6009371"/>
            <a:ext cx="1697259" cy="1697259"/>
            <a:chOff x="0" y="0"/>
            <a:chExt cx="812800" cy="812800"/>
          </a:xfrm>
        </p:grpSpPr>
        <p:sp>
          <p:nvSpPr>
            <p:cNvPr id="255" name="Google Shape;255;g3cf80e77ae7_4_17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noFill/>
            <a:ln w="571500" cap="sq" cmpd="sng">
              <a:solidFill>
                <a:srgbClr val="0345E4">
                  <a:alpha val="9803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endParaRPr sz="1200"/>
            </a:p>
          </p:txBody>
        </p:sp>
        <p:sp>
          <p:nvSpPr>
            <p:cNvPr id="256" name="Google Shape;256;g3cf80e77ae7_4_17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7" name="Google Shape;257;g3cf80e77ae7_4_178"/>
          <p:cNvSpPr/>
          <p:nvPr/>
        </p:nvSpPr>
        <p:spPr>
          <a:xfrm>
            <a:off x="11170168" y="142088"/>
            <a:ext cx="879745" cy="879745"/>
          </a:xfrm>
          <a:custGeom>
            <a:avLst/>
            <a:gdLst/>
            <a:ahLst/>
            <a:cxnLst/>
            <a:rect l="l" t="t" r="r" b="b"/>
            <a:pathLst>
              <a:path w="1319617" h="1319617" extrusionOk="0">
                <a:moveTo>
                  <a:pt x="0" y="0"/>
                </a:moveTo>
                <a:lnTo>
                  <a:pt x="1319617" y="0"/>
                </a:lnTo>
                <a:lnTo>
                  <a:pt x="1319617" y="1319617"/>
                </a:lnTo>
                <a:lnTo>
                  <a:pt x="0" y="13196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 w="47625" cap="sq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EA5FC1F7-28A3-C8DA-1E0C-19D3168E7153}"/>
              </a:ext>
            </a:extLst>
          </p:cNvPr>
          <p:cNvSpPr txBox="1"/>
          <p:nvPr/>
        </p:nvSpPr>
        <p:spPr>
          <a:xfrm>
            <a:off x="324048" y="4124852"/>
            <a:ext cx="9863333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 dirty="0">
                <a:solidFill>
                  <a:srgbClr val="011754"/>
                </a:solidFill>
                <a:latin typeface="Calibri"/>
              </a:rPr>
              <a:t>De una pregunta de investigación a una búsqueda documentada</a:t>
            </a:r>
            <a:endParaRPr sz="1600" b="0" i="0" dirty="0">
              <a:solidFill>
                <a:srgbClr val="011754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Antes de buscar, pensemos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4630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11754"/>
                </a:solidFill>
                <a:latin typeface="Calibri"/>
              </a:rPr>
              <a:t>Si necesitaras encontrar 20 artículos científicos relevantes, ¿por dónde empezarías?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057400"/>
            <a:ext cx="2606040" cy="26517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67128"/>
            <a:ext cx="2240280" cy="2432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Google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Buscador abierto y general. Mezcla noticias, blogs, publicidad y algún artículo.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1568" y="2057400"/>
            <a:ext cx="2606040" cy="26517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84448" y="2167128"/>
            <a:ext cx="2240280" cy="2432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Google Scholar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Buscador académico: artículos, tesis, libros y patentes con citas y versiones.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2057400"/>
            <a:ext cx="2606040" cy="26517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2167128"/>
            <a:ext cx="2240280" cy="2432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ChatGPT / Claude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Exploración asistida por IA. Sugiere ideas, pero puede inventar fuentes.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79408" y="2057400"/>
            <a:ext cx="2606040" cy="26517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62288" y="2167128"/>
            <a:ext cx="2240280" cy="2432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Base científica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Scopus, Web of Science o SciELO: curadas, pero con acceso institucional.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5029200"/>
            <a:ext cx="10972800" cy="82296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029200"/>
            <a:ext cx="1051560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Pausa activa: comenta tu punto de partida con el compañero o compañera de al lado.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Punto de partida: ¿qué es un antecedente?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5394960" cy="19659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709928"/>
            <a:ext cx="5029200" cy="17465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Qué es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Un estudio previo, ya publicado, que trató un problema parecido al tuyo. Es la base sobre la que se apoya tu investigación.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0488" y="1600200"/>
            <a:ext cx="5394960" cy="19659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3368" y="1709928"/>
            <a:ext cx="5029200" cy="17465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Para qué se busca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Para saber qué se ha hecho, qué métodos se usaron, qué se encontró y qué vacíos quedan por resolver.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3749039"/>
            <a:ext cx="5394960" cy="19659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3858768"/>
            <a:ext cx="5029200" cy="17465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Qué no es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Una noticia, un blog, un resumen de IA o una cita que nadie puede comprobar.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3749039"/>
            <a:ext cx="5394960" cy="19659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3858768"/>
            <a:ext cx="5029200" cy="17465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Dónde se usa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En el planteamiento del problema, el estado del arte, el marco teórico y la justificación.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5486400"/>
            <a:ext cx="10972800" cy="68580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5486400"/>
            <a:ext cx="1051560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Esta sesión es autocontenida: no necesitas haber cursado el módulo anterior.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Buscar es diseñar una estrategia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4630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Convertimos una necesidad de información en consultas sistemáticas y repetibles.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011680"/>
            <a:ext cx="2640330" cy="178308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148840"/>
            <a:ext cx="502920" cy="502920"/>
          </a:xfrm>
          <a:prstGeom prst="ellipse">
            <a:avLst/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148840"/>
            <a:ext cx="190881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788920"/>
            <a:ext cx="227457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La pregunta de partida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0138" y="2011680"/>
            <a:ext cx="2640330" cy="178308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27298" y="2148840"/>
            <a:ext cx="502920" cy="502920"/>
          </a:xfrm>
          <a:prstGeom prst="ellipse">
            <a:avLst/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75937" y="2148840"/>
            <a:ext cx="190881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Necesidad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3018" y="2788920"/>
            <a:ext cx="227457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Qué información falta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7628" y="2011680"/>
            <a:ext cx="2640330" cy="178308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4788" y="2148840"/>
            <a:ext cx="502920" cy="502920"/>
          </a:xfrm>
          <a:prstGeom prst="ellipse">
            <a:avLst/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3428" y="2148840"/>
            <a:ext cx="190881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Conceptos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508" y="2788920"/>
            <a:ext cx="227457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Los nodos centrales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45118" y="2011680"/>
            <a:ext cx="2640330" cy="178308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082278" y="2148840"/>
            <a:ext cx="502920" cy="502920"/>
          </a:xfrm>
          <a:prstGeom prst="ellipse">
            <a:avLst/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0918" y="2148840"/>
            <a:ext cx="190881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Palabras clave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7998" y="2788920"/>
            <a:ext cx="227457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Sinónimos y equivalentes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" y="3977639"/>
            <a:ext cx="2640330" cy="178308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9808" y="4114800"/>
            <a:ext cx="502920" cy="502920"/>
          </a:xfrm>
          <a:prstGeom prst="ellipse">
            <a:avLst/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4114800"/>
            <a:ext cx="190881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Cadena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4754879"/>
            <a:ext cx="227457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Sintaxis con operadores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90138" y="3977639"/>
            <a:ext cx="2640330" cy="178308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27298" y="4114800"/>
            <a:ext cx="502920" cy="502920"/>
          </a:xfrm>
          <a:prstGeom prst="ellipse">
            <a:avLst/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75937" y="4114800"/>
            <a:ext cx="190881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Fuentes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73018" y="4754879"/>
            <a:ext cx="227457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Bases académicas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67628" y="3977639"/>
            <a:ext cx="2640330" cy="178308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04788" y="4114800"/>
            <a:ext cx="502920" cy="502920"/>
          </a:xfrm>
          <a:prstGeom prst="ellipse">
            <a:avLst/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3428" y="4114800"/>
            <a:ext cx="190881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Evaluación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508" y="4754879"/>
            <a:ext cx="227457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Criterio y filtro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45118" y="3977639"/>
            <a:ext cx="2640330" cy="178308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27998" y="3977639"/>
            <a:ext cx="2274570" cy="1783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Buscar no es copiar el título de la tesis en la barra de texto.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La pregunta se convierte en conceptos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4630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11754"/>
                </a:solidFill>
                <a:latin typeface="Calibri"/>
              </a:rPr>
              <a:t>Pregunta guía: ¿Qué relación existe entre la IA generativa y el aprendizaje autónomo en estudiantes universitarios?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331720"/>
            <a:ext cx="3535680" cy="269748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441448"/>
            <a:ext cx="3169920" cy="24780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Concepto 1 · Tecnología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Inteligencia artificial generativa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Modelos y herramientas que generan texto, imagen o código de forma interactiva.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1208" y="2331720"/>
            <a:ext cx="3535680" cy="269748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14088" y="2441448"/>
            <a:ext cx="3169920" cy="24780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Concepto 2 · Proceso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Aprendizaje autónomo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Autorregulación, iniciativa y agencia del estudiante en su propio estudio.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9767" y="2331720"/>
            <a:ext cx="3535680" cy="269748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32647" y="2441448"/>
            <a:ext cx="3169920" cy="24780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Concepto 3 · Población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Estudiantes universitarios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Comunidad de educación superior, de pregrado y posgrado.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5257800"/>
            <a:ext cx="10972800" cy="82296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5257800"/>
            <a:ext cx="1051560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Actividad: identifica los tres conceptos nucleares en tres preguntas de investigación distintas.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Un concepto necesita un vocabulario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840480"/>
                <a:gridCol w="438912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Dimensión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Función metodológica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Ejemplo: IA generativa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Palabra clave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Término central del concepto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inteligencia artificial generativa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Sinónimo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Otra forma de decirlo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IA generativa, GenAI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Variante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Denominación académica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modelos de lenguaje de gran tamaño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Término relacionado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Concepto próximo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chatbots, ChatGPT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Equivalente en inglés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Expresión internacional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generative AI, large language models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852160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Sin vocabulario variado, la búsqueda deja fuera literatura que usa otras palabras.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La IA amplía; el investigador decide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10972800" cy="160020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600200"/>
            <a:ext cx="10515600" cy="1600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4AF37"/>
                </a:solidFill>
                <a:latin typeface="Calibri"/>
              </a:rPr>
              <a:t>Prompt estructurado para enriquecer el vocabulario</a:t>
            </a:r>
          </a:p>
          <a:p>
            <a:pPr algn="l">
              <a:spcAft>
                <a:spcPts val="400"/>
              </a:spcAft>
            </a:pPr>
            <a:r>
              <a:rPr sz="1800" b="0" i="1">
                <a:solidFill>
                  <a:srgbClr val="FFFFFF"/>
                </a:solidFill>
                <a:latin typeface="Calibri"/>
              </a:rPr>
              <a:t>«Identifica conceptos, términos principales, sinónimos, variantes y equivalentes en inglés para esta necesidad. Señala términos demasiado amplios y no inventes referencias.»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342900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3538728"/>
            <a:ext cx="2240280" cy="21579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1. Mis términos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Vocabulario formulado antes, sin asistencia.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342900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4448" y="3538728"/>
            <a:ext cx="2240280" cy="21579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2. Propuestos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Sugerencias y sinónimos aportados por la 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342900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3538728"/>
            <a:ext cx="2240280" cy="21579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3. Qué conservo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Solo los términos que encajan con mi pregunta.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79408" y="342900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62288" y="3538728"/>
            <a:ext cx="2240280" cy="21579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4. Por qué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Justifico cada inclusión y cada descarte.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5897880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Primero tus términos, después la IA; cada descarte, con su razón, va a la bitácora.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Los operadores cambian lo que recuperas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2084832" cy="40233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2688" y="1783080"/>
            <a:ext cx="1444752" cy="822960"/>
          </a:xfrm>
          <a:prstGeom prst="roundRect">
            <a:avLst>
              <a:gd name="adj" fmla="val 20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783080"/>
            <a:ext cx="1444752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" 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743200"/>
            <a:ext cx="1865376" cy="2834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Comillas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Frase exacta: palabras juntas y en ese orden.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600200"/>
            <a:ext cx="2084832" cy="40233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154680" y="1783080"/>
            <a:ext cx="1444752" cy="822960"/>
          </a:xfrm>
          <a:prstGeom prst="roundRect">
            <a:avLst>
              <a:gd name="adj" fmla="val 20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1783080"/>
            <a:ext cx="1444752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4368" y="2743200"/>
            <a:ext cx="1865376" cy="2834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Intersección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Ambos conceptos deben estar presentes. En Scholar es implícito.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56632" y="1600200"/>
            <a:ext cx="2084832" cy="40233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76672" y="1783080"/>
            <a:ext cx="1444752" cy="822960"/>
          </a:xfrm>
          <a:prstGeom prst="roundRect">
            <a:avLst>
              <a:gd name="adj" fmla="val 20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76672" y="1783080"/>
            <a:ext cx="1444752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743200"/>
            <a:ext cx="1865376" cy="2834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Ampliación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Une sinónimos. Va en mayúsculas.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78624" y="1600200"/>
            <a:ext cx="2084832" cy="40233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598664" y="1783080"/>
            <a:ext cx="1444752" cy="822960"/>
          </a:xfrm>
          <a:prstGeom prst="roundRect">
            <a:avLst>
              <a:gd name="adj" fmla="val 20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98664" y="1783080"/>
            <a:ext cx="1444752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( 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88352" y="2743200"/>
            <a:ext cx="1865376" cy="2834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Agrupación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Agrupa los sinónimos antes de cruzar conceptos.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0616" y="1600200"/>
            <a:ext cx="2084832" cy="40233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820656" y="1783080"/>
            <a:ext cx="1444752" cy="822960"/>
          </a:xfrm>
          <a:prstGeom prst="roundRect">
            <a:avLst>
              <a:gd name="adj" fmla="val 20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0656" y="1783080"/>
            <a:ext cx="1444752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10344" y="2743200"/>
            <a:ext cx="1865376" cy="2834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Exclusión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Un guion antes del término lo excluye del resultado.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57607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En Google Scholar, la exclusión se escribe con guion, no con la palabra NOT.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Operadores útiles en Google Scholar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840480"/>
                <a:gridCol w="475488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Recurso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Qué hace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Ejemplo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"frase"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Busca la expresión exacta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"self-directed learning"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OR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Acepta cualquiera de las opciones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"college students" OR "university students"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-término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Excluye un término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"generative AI" -blog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author: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Busca por autor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author:"A. Martín-Martín"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allintitle: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Exige los términos en el título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allintitle: generative AI learning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852160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El operador site: se usa en Google, no en Scholar. Ej.: site:edu.pe inteligencia artificial.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Una cadena se construye por capas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3017520" cy="960120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2834639" cy="9601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 · Término simple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21607" y="1600200"/>
            <a:ext cx="7863840" cy="96012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86200" y="1600200"/>
            <a:ext cx="7589519" cy="9601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generative artificial intelligence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697480"/>
            <a:ext cx="3017520" cy="960120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2834639" cy="9601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 · Intersección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21607" y="2697480"/>
            <a:ext cx="7863840" cy="96012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2697480"/>
            <a:ext cx="7589519" cy="9601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"generative artificial intelligence" "self-directed learning"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3794760"/>
            <a:ext cx="3017520" cy="960120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94760"/>
            <a:ext cx="2834639" cy="9601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 · Con sinónimos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21607" y="3794760"/>
            <a:ext cx="7863840" cy="96012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6200" y="3794760"/>
            <a:ext cx="7589519" cy="9601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("generative artificial intelligence" OR "generative AI") ("self-directed learning" OR "autonomous learning")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4892040"/>
            <a:ext cx="3017520" cy="960120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92040"/>
            <a:ext cx="2834639" cy="9601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 · Con población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21607" y="4892040"/>
            <a:ext cx="7863840" cy="96012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200" y="4892040"/>
            <a:ext cx="7589519" cy="9601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… AND ("university students" OR "college students" OR "higher education")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5669280"/>
            <a:ext cx="10972800" cy="59436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669280"/>
            <a:ext cx="1051560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Se avanza de la palabra aislada a una ecuación con la población delimitada.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Amplitud y precisión deben equilibrarse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3535680" cy="31089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709928"/>
            <a:ext cx="3169920" cy="28895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Cadena amplia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Muchos resultados, menor precisión. Útil para mapear el terreno y captar discusiones emergentes.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31208" y="1600200"/>
            <a:ext cx="3535680" cy="3108960"/>
          </a:xfrm>
          <a:prstGeom prst="roundRect">
            <a:avLst>
              <a:gd name="adj" fmla="val 6000"/>
            </a:avLst>
          </a:prstGeom>
          <a:solidFill>
            <a:srgbClr val="F6E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14088" y="1709928"/>
            <a:ext cx="3169920" cy="28895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Zona de equilibrio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Volumen suficiente y pertinente para evaluar tendencias y ajustar la estrategia con criterio.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9767" y="1600200"/>
            <a:ext cx="3535680" cy="31089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32647" y="1709928"/>
            <a:ext cx="3169920" cy="28895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Cadena específica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Pocos resultados muy precisos, con el riesgo de perder literatura que use otra terminología.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4983480"/>
            <a:ext cx="10972800" cy="82296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983480"/>
            <a:ext cx="1051560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Actividad rápida: formula en tu cuaderno una cadena amplia, una intermedia y una específica.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Herramientas de esta sesión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709928"/>
            <a:ext cx="2240280" cy="2980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Google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Búsqueda general. Ubica páginas de revistas, instituciones y términos relacionados.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01568" y="1600200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84448" y="1709928"/>
            <a:ext cx="2240280" cy="2980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Google Scholar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Ejecución académica: búsqueda masiva, rastreo de citas y versiones del artículo.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0488" y="1600200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709928"/>
            <a:ext cx="2240280" cy="2980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ChatGPT o Claude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Sinónimos y traducciones. Proponen cadenas que el investigador prueba.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79408" y="1600200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62288" y="1709928"/>
            <a:ext cx="2240280" cy="2980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Bitácora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Registro reproducible: cadena, fecha, filtros y resultados.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5029200"/>
            <a:ext cx="10972800" cy="82296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5029200"/>
            <a:ext cx="1051560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Google Scholar recupera fuentes; la IA amplía el vocabulario. Una fuente que muestra la IA no es evidencia hasta comprobarla.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Google Scholar ejecuta y rastrea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3383280" cy="914400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32004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 · Ejecutar y filtrar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87368" y="1600200"/>
            <a:ext cx="7498080" cy="9144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51960" y="1600200"/>
            <a:ext cx="722376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Ingresa la cadena y acota la ventana temporal, por ejemplo los últimos 3 a 5 años.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651760"/>
            <a:ext cx="3383280" cy="914400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32004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 · Revisar metadatos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87368" y="2651760"/>
            <a:ext cx="7498080" cy="9144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2651760"/>
            <a:ext cx="722376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Evalúa título, autores y resumen de los primeros 20 a 30 resultados.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3703320"/>
            <a:ext cx="3383280" cy="914400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03320"/>
            <a:ext cx="32004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 · Citado por y versiones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87368" y="3703320"/>
            <a:ext cx="7498080" cy="9144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3703320"/>
            <a:ext cx="722376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Rastrea estudios posteriores y accede a preprints o repositorios.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4754879"/>
            <a:ext cx="3383280" cy="914400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754879"/>
            <a:ext cx="32004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 · Texto completo y alertas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87368" y="4754879"/>
            <a:ext cx="7498080" cy="9144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60" y="4754879"/>
            <a:ext cx="722376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Verifica el acceso abierto y activa alertas de nuevos artículos.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5669280"/>
            <a:ext cx="10972800" cy="59436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669280"/>
            <a:ext cx="1051560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Scholar es la estación de trabajo central: volumen, pertinencia y trazabilidad.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Qué te permite hacer Google Scholar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3535680" cy="19659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709928"/>
            <a:ext cx="3169920" cy="17465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Filtro por año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Limita a literatura reciente en temas que cambian rápido.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31208" y="1600200"/>
            <a:ext cx="3535680" cy="19659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14088" y="1709928"/>
            <a:ext cx="3169920" cy="17465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Citado por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Muestra qué estudios posteriores usaron este artículo.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9767" y="1600200"/>
            <a:ext cx="3535680" cy="19659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32647" y="1709928"/>
            <a:ext cx="3169920" cy="17465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Versiones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Reúne copias en repositorios o de acceso abierto.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749039"/>
            <a:ext cx="3535680" cy="19659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3858768"/>
            <a:ext cx="3169920" cy="17465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Texto completo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Enlaza al PDF o a la página del editor.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1208" y="3749039"/>
            <a:ext cx="3535680" cy="19659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4088" y="3858768"/>
            <a:ext cx="3169920" cy="17465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Biblioteca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Guarda artículos y conecta el acceso de tu universidad.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9767" y="3749039"/>
            <a:ext cx="3535680" cy="19659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2647" y="3858768"/>
            <a:ext cx="3169920" cy="17465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Alertas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Avisa cuando hay publicaciones nuevas sobre tu cadena.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57607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La IA facilita el descubrimiento; no reemplaza la lectura del artículo.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Paso 1 · Delimitamos lo que buscamos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4630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Caso: una investigadora estudia IA generativa y aprendizaje autónomo, pero su búsqueda trae noticias y blogs. Antes de usar cualquier herramienta, completa la matriz de delimitación (sin IA).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233172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86384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Elemento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Resolución esperada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Tema y pregunta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¿Qué relación existe entre la IA generativa y el aprendizaje autónomo en universitarios?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Población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Estudiantes de pregrado y posgrado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Conceptos 1, 2 y 3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IA generativa · aprendizaje autónomo · estudiantes universitarios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Qué NO buscamos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Noticias, blogs de empresas, foros de opinión y ensayos no empíricos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Paso 2 · Construimos el vocabulario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023360"/>
                <a:gridCol w="45720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Concepto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Propuestos (tú + IA)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Decisión y justificación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</a:tr>
              <a:tr h="114300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IA generativa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generative AI, GenAI, LLMs, ChatGPT, chatbots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Conservo "generative AI" y "LLMs". Descarto "chatbots": demasiado vago.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</a:tr>
              <a:tr h="114300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Aprendizaje autónomo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self-directed, autonomous y self-regulated learning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Conservo todos: son términos teóricos consolidados.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Estudiantes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university students, college students, higher education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Conservo "university students" y "higher education". Descarto escolares.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852160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Bitácora activa: anota qué términos descartas y la razón académica.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Paso 3 · Construimos tres cadenas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2377440" cy="1234440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2194560" cy="12344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Amplia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81528" y="1600200"/>
            <a:ext cx="8503920" cy="123444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46120" y="1600200"/>
            <a:ext cx="8229600" cy="12344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"generative AI" learning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971800"/>
            <a:ext cx="2377440" cy="1234440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2194560" cy="12344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Intermedia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81528" y="2971800"/>
            <a:ext cx="8503920" cy="123444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2971800"/>
            <a:ext cx="8229600" cy="12344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("generative AI" OR "generative artificial intelligence") ("self-directed learning" OR "self-regulated learning")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4343400"/>
            <a:ext cx="2377440" cy="1234440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343400"/>
            <a:ext cx="2194560" cy="12344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Específica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81528" y="4343400"/>
            <a:ext cx="8503920" cy="123444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4343400"/>
            <a:ext cx="8229600" cy="12344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… ("self-directed learning" OR "self-regulated learning") ("university students" OR "college students" OR "higher education")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5394960"/>
            <a:ext cx="10972800" cy="73152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394960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Discute qué gana y qué pierde cada nivel antes de ejecutarlo en Google Scholar.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Paso 4 · Ampliamos los términos con 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3535680" cy="338328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709928"/>
            <a:ext cx="3169920" cy="31638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Hallazgos útiles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Sinónimos útiles en español e inglés.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Variantes del concepto central.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31208" y="1600200"/>
            <a:ext cx="3535680" cy="3383280"/>
          </a:xfrm>
          <a:prstGeom prst="roundRect">
            <a:avLst>
              <a:gd name="adj" fmla="val 6000"/>
            </a:avLst>
          </a:prstGeom>
          <a:solidFill>
            <a:srgbClr val="F6E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14088" y="1709928"/>
            <a:ext cx="3169920" cy="31638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Por verificar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Términos que cambian el sentido de la pregunta.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Fuentes sugeridas sin enlace verificable.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9767" y="1600200"/>
            <a:ext cx="3535680" cy="338328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32647" y="1709928"/>
            <a:ext cx="3169920" cy="31638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Regla de oro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La IA sugiere términos; el investigador prueba la cadena y verifica las fuentes en Scholar.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5257800"/>
            <a:ext cx="10972800" cy="82296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5257800"/>
            <a:ext cx="1051560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Evalúa cada propuesta antes de buscar y descarta lo que no encaje con tu pregunta.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Paso 5 · Probamos las cadenas en Scholar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41148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Criterio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Cadena amplia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Cadena específica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Comportamiento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Recupera más con términos generales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Comillas y AND delimitan los conceptos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Volumen y pertinencia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Mayor volumen; revisar pertinencia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Menos resultados; más pertinentes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Trazabilidad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Registrar cadena, fecha y filtros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Registrar fecha, filtros y resultados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Limitaciones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Mucho resultado ajeno al tema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Puede excluir estudios con otros términos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852160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Anota cuántos resultados obtuviste con cada cadena y qué filtros usaste.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Pasos 6 y 7 · Artículo semilla y citas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5394960" cy="338328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709928"/>
            <a:ext cx="5029200" cy="31638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Paso 6 · Elegimos un artículo semilla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Selecciona un resultado preliminar y explica por qué parece relevante.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¿Coincide con los conceptos? ¿Se acerca a la población? ¿Abre nuevas rutas?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0488" y="1600200"/>
            <a:ext cx="5394960" cy="338328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3368" y="1709928"/>
            <a:ext cx="5029200" cy="31638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Paso 7 · Seguimos las citas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Desde ese artículo revisa «Citado por», versiones y artículos relacionados.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Pregunta: ¿qué resultados pertinentes aparecieron?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5257800"/>
            <a:ext cx="10972800" cy="82296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5257800"/>
            <a:ext cx="1051560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La verificación completa de DOI, metodología y calidad se hace en la sesión siguiente.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Paso 8 · La bitácora documenta el recorrido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68096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Campo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Qué se anota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Fecha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Día en que se hizo la búsqueda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Herramienta o base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Google Scholar, ChatGPT, Claude…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Cadena exacta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Copiada tal cual, con operadores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Filtros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Rango de años, orden, idioma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Resultados y notas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Cantidad, pertinencia y decisiones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12648" y="5349240"/>
            <a:ext cx="10972800" cy="77724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5349240"/>
            <a:ext cx="1051560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Si no puedo explicar cómo encontré una fuente, la búsqueda no está documentada.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Práctica autónoma: aplica la estrategia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4630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11754"/>
                </a:solidFill>
                <a:latin typeface="Calibri"/>
              </a:rPr>
              <a:t>Caso: relación entre el uso de redes sociales y la calidad del sueño en estudiantes universitarios.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057400"/>
            <a:ext cx="3535680" cy="192024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67128"/>
            <a:ext cx="3169920" cy="17007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1 · Conceptos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Delimita variables y términos sin asistencia.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1208" y="2057400"/>
            <a:ext cx="3535680" cy="192024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14088" y="2167128"/>
            <a:ext cx="3169920" cy="17007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2 · Vocabulario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Sinónimos y equivalentes en inglés.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9767" y="2057400"/>
            <a:ext cx="3535680" cy="192024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32647" y="2167128"/>
            <a:ext cx="3169920" cy="17007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3 · Tres cadenas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Amplia, intermedia y específica.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4160520"/>
            <a:ext cx="3535680" cy="192024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4270248"/>
            <a:ext cx="3169920" cy="17007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4 · Exploración con IA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Prueba términos alternativos en ChatGPT o Claude.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1208" y="4160520"/>
            <a:ext cx="3535680" cy="192024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4088" y="4270248"/>
            <a:ext cx="3169920" cy="17007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5 · Ejecución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Corre las cadenas en Google Scholar.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9767" y="4160520"/>
            <a:ext cx="3535680" cy="192024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2647" y="4270248"/>
            <a:ext cx="3169920" cy="17007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6 · Bitácora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Registra y justifica tu selección.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6126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Producto: conceptos, vocabulario, cadenas y bitácora.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Cinco ideas para llevarte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3383280" cy="786384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3200400" cy="7863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 · Diseñar estrategia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87368" y="1600200"/>
            <a:ext cx="7498080" cy="786384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51960" y="1600200"/>
            <a:ext cx="7223760" cy="7863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Buscar literatura es diseñar una estrategia intencionada, no escribir al azar.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505456"/>
            <a:ext cx="3383280" cy="786384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05456"/>
            <a:ext cx="3200400" cy="7863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 · El poder léxico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87368" y="2505456"/>
            <a:ext cx="7498080" cy="786384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2505456"/>
            <a:ext cx="7223760" cy="7863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Las palabras y los operadores que eliges cambian lo que recuperas.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3410712"/>
            <a:ext cx="3383280" cy="786384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10712"/>
            <a:ext cx="3200400" cy="7863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 · La IA explora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87368" y="3410712"/>
            <a:ext cx="7498080" cy="786384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3410712"/>
            <a:ext cx="7223760" cy="7863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Amplía el vocabulario y abre rutas; no cierra la evidencia.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4315968"/>
            <a:ext cx="3383280" cy="786384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15968"/>
            <a:ext cx="3200400" cy="7863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 · Sugerencia ≠ evidencia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87368" y="4315968"/>
            <a:ext cx="7498080" cy="786384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60" y="4315968"/>
            <a:ext cx="7223760" cy="7863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Una referencia que muestra un modelo no es evidencia científica.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5221224"/>
            <a:ext cx="3383280" cy="786384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21224"/>
            <a:ext cx="3200400" cy="7863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5 · Criterio humano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87368" y="5221224"/>
            <a:ext cx="7498080" cy="786384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60" y="5221224"/>
            <a:ext cx="7223760" cy="7863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Evaluar, verificar y seleccionar le corresponde al investigador.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" y="5669280"/>
            <a:ext cx="10972800" cy="59436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5669280"/>
            <a:ext cx="1051560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¿La IA busca por nosotros o nos ayuda a buscar mejor?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Bibliografía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463040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Fuentes que sustentan los conceptos, operadores y criterios de esta sesión.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192024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029968"/>
            <a:ext cx="5074920" cy="11978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Martín-Martín, A. et al. (2018)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Google Scholar, Web of Science, and Scopus: a systematic comparison of citations. Journal of Informetrics, 12(4).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92024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27648" y="2029968"/>
            <a:ext cx="5074920" cy="11978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Booth, A. et al. (2016)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Systematic Approaches to a Successful Literature Review (2.ª ed.). Sage.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342900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3538728"/>
            <a:ext cx="5074920" cy="11978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Wang, S. et al. (2023)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Can ChatGPT Write a Good Boolean Query for Systematic Review Search? SIGIR '23.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342900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3538728"/>
            <a:ext cx="5074920" cy="11978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Walters, W. H., &amp; Wilder, E. I. (2023)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Fabrication and errors in the bibliographic citations generated by ChatGPT. Sci. Rep., 13.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493776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5047488"/>
            <a:ext cx="5074920" cy="11978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Alkaissi, H., &amp; McFarlane, S. I. (2023)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Artificial Hallucinations in ChatGPT: Implications in Scientific Writing. Cureus, 15(2).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493776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5047488"/>
            <a:ext cx="5074920" cy="11978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UNESCO (2021)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Recomendación sobre la ética de la inteligencia artificial.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1271</Words>
  <Application>Microsoft Office PowerPoint</Application>
  <PresentationFormat>Panorámica</PresentationFormat>
  <Paragraphs>233</Paragraphs>
  <Slides>30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6" baseType="lpstr">
      <vt:lpstr>Aptos</vt:lpstr>
      <vt:lpstr>Arial</vt:lpstr>
      <vt:lpstr>Calibri</vt:lpstr>
      <vt:lpstr>Fira Sans</vt:lpstr>
      <vt:lpstr>Montserrat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PILAR SAYAN MEJIA</cp:lastModifiedBy>
  <cp:revision>7</cp:revision>
  <dcterms:created xsi:type="dcterms:W3CDTF">2013-01-27T09:14:16Z</dcterms:created>
  <dcterms:modified xsi:type="dcterms:W3CDTF">2026-09-27T19:09:21Z</dcterms:modified>
  <cp:category/>
</cp:coreProperties>
</file>