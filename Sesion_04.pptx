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306" r:id="rId2"/>
    <p:sldId id="307" r:id="rId3"/>
    <p:sldId id="258" r:id="rId4"/>
    <p:sldId id="259" r:id="rId5"/>
    <p:sldId id="309" r:id="rId37"/>
    <p:sldId id="310" r:id="rId38"/>
    <p:sldId id="260" r:id="rId6"/>
    <p:sldId id="311" r:id="rId39"/>
    <p:sldId id="312" r:id="rId40"/>
    <p:sldId id="313" r:id="rId41"/>
    <p:sldId id="314" r:id="rId42"/>
    <p:sldId id="315" r:id="rId43"/>
    <p:sldId id="316" r:id="rId44"/>
    <p:sldId id="317" r:id="rId45"/>
    <p:sldId id="268" r:id="rId11"/>
    <p:sldId id="318" r:id="rId46"/>
    <p:sldId id="319" r:id="rId47"/>
    <p:sldId id="320" r:id="rId48"/>
    <p:sldId id="321" r:id="rId49"/>
    <p:sldId id="322" r:id="rId50"/>
    <p:sldId id="275" r:id="rId15"/>
    <p:sldId id="323" r:id="rId51"/>
    <p:sldId id="324" r:id="rId52"/>
    <p:sldId id="325" r:id="rId53"/>
    <p:sldId id="326" r:id="rId54"/>
    <p:sldId id="327" r:id="rId55"/>
    <p:sldId id="283" r:id="rId19"/>
    <p:sldId id="308" r:id="rId29"/>
    <p:sldId id="328" r:id="rId56"/>
    <p:sldId id="329" r:id="rId57"/>
    <p:sldId id="330" r:id="rId58"/>
    <p:sldId id="331" r:id="rId59"/>
    <p:sldId id="332" r:id="rId60"/>
    <p:sldId id="333" r:id="rId61"/>
    <p:sldId id="334" r:id="rId62"/>
    <p:sldId id="335" r:id="rId63"/>
    <p:sldId id="336" r:id="rId64"/>
    <p:sldId id="337" r:id="rId65"/>
    <p:sldId id="338" r:id="rId66"/>
    <p:sldId id="339" r:id="rId6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15" Type="http://schemas.openxmlformats.org/officeDocument/2006/relationships/slide" Target="slides/slide14.xml"/><Relationship Id="rId19" Type="http://schemas.openxmlformats.org/officeDocument/2006/relationships/slide" Target="slides/slide18.xml"/><Relationship Id="rId29" Type="http://schemas.openxmlformats.org/officeDocument/2006/relationships/slide" Target="slides/slide28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0D9C41-E925-46F2-8BD1-5CCE9E4476A6}" type="datetimeFigureOut">
              <a:rPr lang="es-PE" smtClean="0"/>
              <a:t>27/09/2026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888531-3C4D-42FD-A92B-15644527B8D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06971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cf80e77ae7_4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7" name="Google Shape;237;g3cf80e77ae7_4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9CDD1"/>
          </a:solidFill>
          <a:ln/>
        </p:spPr>
      </p:sp>
    </p:spTree>
    <p:extLst>
      <p:ext uri="{BB962C8B-B14F-4D97-AF65-F5344CB8AC3E}">
        <p14:creationId xmlns:p14="http://schemas.microsoft.com/office/powerpoint/2010/main" val="152426555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LENOVO\AppData\Local\Temp\claude\C--Users-LENOVO-Documents-CONTRATOS\f17f3f05-49d0-46aa-84a7-c43f168039e8\scratchpad\eliteed\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212" y="0"/>
            <a:ext cx="12191695" cy="68578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7207" y="944856"/>
            <a:ext cx="5242429" cy="737598"/>
          </a:xfrm>
          <a:prstGeom prst="roundRect">
            <a:avLst>
              <a:gd name="adj" fmla="val 49587"/>
            </a:avLst>
          </a:prstGeom>
          <a:ln/>
        </p:spPr>
        <p:txBody>
          <a:bodyPr/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885117" y="1097280"/>
            <a:ext cx="37794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  <a:buClr>
                <a:srgbClr val="000000"/>
              </a:buClr>
            </a:pPr>
            <a:r>
              <a:rPr lang="en-US" sz="1500" b="1" dirty="0">
                <a:solidFill>
                  <a:srgbClr val="031A8D"/>
                </a:solidFill>
                <a:latin typeface="Montserrat"/>
                <a:sym typeface="Arial"/>
              </a:rPr>
              <a:t>PROGRAMA DE ESPECIALIZACIÓN</a:t>
            </a:r>
          </a:p>
        </p:txBody>
      </p:sp>
      <p:sp>
        <p:nvSpPr>
          <p:cNvPr id="5" name="Shape 2"/>
          <p:cNvSpPr/>
          <p:nvPr/>
        </p:nvSpPr>
        <p:spPr>
          <a:xfrm>
            <a:off x="827207" y="1682454"/>
            <a:ext cx="115821" cy="2072588"/>
          </a:xfrm>
          <a:prstGeom prst="rect">
            <a:avLst/>
          </a:prstGeom>
          <a:solidFill>
            <a:srgbClr val="CCA45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1097252" y="1783080"/>
            <a:ext cx="8899937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8"/>
              </a:lnSpc>
              <a:buClr>
                <a:srgbClr val="000000"/>
              </a:buClr>
            </a:pPr>
            <a:r>
              <a:rPr lang="es-MX" sz="4400" b="1" dirty="0">
                <a:solidFill>
                  <a:srgbClr val="D4AF37"/>
                </a:solidFill>
                <a:latin typeface="Montserrat"/>
                <a:sym typeface="Arial"/>
              </a:rPr>
              <a:t>IA PARA LA BÚSQUEDA Y GESTIÓN DE INFORMACIÓN</a:t>
            </a:r>
          </a:p>
        </p:txBody>
      </p:sp>
      <p:sp>
        <p:nvSpPr>
          <p:cNvPr id="7" name="Text 4"/>
          <p:cNvSpPr/>
          <p:nvPr/>
        </p:nvSpPr>
        <p:spPr>
          <a:xfrm>
            <a:off x="827207" y="3928736"/>
            <a:ext cx="935221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MX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Módulo 2: Búsqueda Inteligente de Literatura y Herramientas de IA</a:t>
            </a:r>
          </a:p>
        </p:txBody>
      </p:sp>
      <p:sp>
        <p:nvSpPr>
          <p:cNvPr id="9" name="Text 6"/>
          <p:cNvSpPr/>
          <p:nvPr/>
        </p:nvSpPr>
        <p:spPr>
          <a:xfrm>
            <a:off x="3104143" y="5659755"/>
            <a:ext cx="59309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Docente: Lic. Pilar Rocío Sayán Mejía</a:t>
            </a:r>
            <a:r>
              <a:rPr lang="en-US" sz="210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E9151AAB-818C-8BDA-B0DD-E37A64264434}"/>
              </a:ext>
            </a:extLst>
          </p:cNvPr>
          <p:cNvSpPr/>
          <p:nvPr/>
        </p:nvSpPr>
        <p:spPr>
          <a:xfrm>
            <a:off x="827207" y="4923060"/>
            <a:ext cx="62636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MX" sz="150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Sesión 04: IA para la Búsqueda y Gestión de Información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3196" y="784622"/>
            <a:ext cx="11785305" cy="5288756"/>
          </a:xfrm>
          <a:prstGeom prst="roundRect">
            <a:avLst>
              <a:gd name="adj" fmla="val 4353"/>
            </a:avLst>
          </a:prstGeom>
          <a:solidFill>
            <a:srgbClr val="FFFFFF"/>
          </a:solidFill>
          <a:ln w="6350">
            <a:solidFill>
              <a:srgbClr val="BBD9F5"/>
            </a:solidFill>
            <a:prstDash val="solid"/>
          </a:ln>
          <a:effectLst>
            <a:outerShdw blurRad="127" dist="90170" dir="2700000" algn="bl" rotWithShape="0">
              <a:srgbClr val="BBD9F5">
                <a:alpha val="100000"/>
              </a:srgbClr>
            </a:outerShdw>
          </a:effectLst>
        </p:spPr>
      </p:sp>
      <p:pic>
        <p:nvPicPr>
          <p:cNvPr id="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95" y="784622"/>
            <a:ext cx="4640444" cy="52887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1210" y="0"/>
                </a:lnTo>
                <a:lnTo>
                  <a:pt x="92090" y="2640"/>
                </a:lnTo>
                <a:lnTo>
                  <a:pt x="93070" y="7030"/>
                </a:lnTo>
                <a:lnTo>
                  <a:pt x="93650" y="11330"/>
                </a:lnTo>
                <a:lnTo>
                  <a:pt x="93850" y="14750"/>
                </a:lnTo>
                <a:lnTo>
                  <a:pt x="93460" y="21970"/>
                </a:lnTo>
                <a:lnTo>
                  <a:pt x="91990" y="31150"/>
                </a:lnTo>
                <a:lnTo>
                  <a:pt x="91410" y="36520"/>
                </a:lnTo>
                <a:lnTo>
                  <a:pt x="91210" y="40040"/>
                </a:lnTo>
                <a:lnTo>
                  <a:pt x="91310" y="45700"/>
                </a:lnTo>
                <a:lnTo>
                  <a:pt x="91890" y="48930"/>
                </a:lnTo>
                <a:lnTo>
                  <a:pt x="93160" y="52540"/>
                </a:lnTo>
                <a:lnTo>
                  <a:pt x="94920" y="56050"/>
                </a:lnTo>
                <a:lnTo>
                  <a:pt x="97170" y="59860"/>
                </a:lnTo>
                <a:lnTo>
                  <a:pt x="98730" y="63280"/>
                </a:lnTo>
                <a:lnTo>
                  <a:pt x="99800" y="67290"/>
                </a:lnTo>
                <a:lnTo>
                  <a:pt x="100000" y="71480"/>
                </a:lnTo>
                <a:lnTo>
                  <a:pt x="99710" y="73630"/>
                </a:lnTo>
                <a:lnTo>
                  <a:pt x="99020" y="76460"/>
                </a:lnTo>
                <a:lnTo>
                  <a:pt x="97750" y="80180"/>
                </a:lnTo>
                <a:lnTo>
                  <a:pt x="96390" y="83400"/>
                </a:lnTo>
                <a:lnTo>
                  <a:pt x="91890" y="91990"/>
                </a:lnTo>
                <a:lnTo>
                  <a:pt x="89450" y="96000"/>
                </a:lnTo>
                <a:lnTo>
                  <a:pt x="8672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262134" y="1224260"/>
            <a:ext cx="6086918" cy="249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550" dirty="0">
                <a:latin typeface="Montserrat"/>
              </a:rPr>
              <a:t>Docente</a:t>
            </a:r>
          </a:p>
        </p:txBody>
      </p:sp>
      <p:sp>
        <p:nvSpPr>
          <p:cNvPr id="5" name="Text 2"/>
          <p:cNvSpPr/>
          <p:nvPr/>
        </p:nvSpPr>
        <p:spPr>
          <a:xfrm>
            <a:off x="5262134" y="1537892"/>
            <a:ext cx="6086918" cy="499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100" dirty="0">
                <a:latin typeface="Montserrat"/>
              </a:rPr>
              <a:t>Lic. Pilar Rocío Sayán Mejía</a:t>
            </a:r>
          </a:p>
        </p:txBody>
      </p:sp>
      <p:sp>
        <p:nvSpPr>
          <p:cNvPr id="6" name="Shape 3"/>
          <p:cNvSpPr/>
          <p:nvPr/>
        </p:nvSpPr>
        <p:spPr>
          <a:xfrm>
            <a:off x="5262134" y="2277369"/>
            <a:ext cx="2963491" cy="1981795"/>
          </a:xfrm>
          <a:prstGeom prst="roundRect">
            <a:avLst>
              <a:gd name="adj" fmla="val 7261"/>
            </a:avLst>
          </a:prstGeom>
          <a:solidFill>
            <a:srgbClr val="FFFFFF"/>
          </a:solidFill>
          <a:ln w="19050">
            <a:solidFill>
              <a:srgbClr val="B4CCE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41021" y="2456260"/>
            <a:ext cx="2605717" cy="249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550" dirty="0">
                <a:latin typeface="Montserrat"/>
              </a:rPr>
              <a:t>Formación</a:t>
            </a:r>
          </a:p>
        </p:txBody>
      </p:sp>
      <p:sp>
        <p:nvSpPr>
          <p:cNvPr id="8" name="Text 5"/>
          <p:cNvSpPr/>
          <p:nvPr/>
        </p:nvSpPr>
        <p:spPr>
          <a:xfrm>
            <a:off x="5441021" y="2801838"/>
            <a:ext cx="2605717" cy="1278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250" dirty="0">
                <a:latin typeface="Montserrat"/>
              </a:rPr>
              <a:t>Licenciada en Comunicación y especialista en entornos digitales, investigación académica y tecnologías aplicadas a la educación.</a:t>
            </a:r>
          </a:p>
        </p:txBody>
      </p:sp>
      <p:sp>
        <p:nvSpPr>
          <p:cNvPr id="9" name="Shape 6"/>
          <p:cNvSpPr/>
          <p:nvPr/>
        </p:nvSpPr>
        <p:spPr>
          <a:xfrm>
            <a:off x="8385462" y="2277369"/>
            <a:ext cx="2963590" cy="1981795"/>
          </a:xfrm>
          <a:prstGeom prst="roundRect">
            <a:avLst>
              <a:gd name="adj" fmla="val 7261"/>
            </a:avLst>
          </a:prstGeom>
          <a:solidFill>
            <a:srgbClr val="FFFFFF"/>
          </a:solidFill>
          <a:ln w="19050">
            <a:solidFill>
              <a:srgbClr val="B4CC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64348" y="2456260"/>
            <a:ext cx="2605816" cy="249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550" dirty="0">
                <a:latin typeface="Montserrat"/>
              </a:rPr>
              <a:t>Experiencia Docente</a:t>
            </a:r>
          </a:p>
        </p:txBody>
      </p:sp>
      <p:sp>
        <p:nvSpPr>
          <p:cNvPr id="11" name="Text 8"/>
          <p:cNvSpPr/>
          <p:nvPr/>
        </p:nvSpPr>
        <p:spPr>
          <a:xfrm>
            <a:off x="8564348" y="2801839"/>
            <a:ext cx="2605816" cy="1022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>
              <a:lnSpc>
                <a:spcPct val="133000"/>
              </a:lnSpc>
            </a:pPr>
            <a:r>
              <a:rPr lang="en-US" sz="1250" dirty="0">
                <a:latin typeface="Montserrat"/>
              </a:rPr>
              <a:t>Facilitadora de programas de especialización en IA, pensamiento crítico e investigación aplicada con herramientas tecnológicas.</a:t>
            </a:r>
          </a:p>
        </p:txBody>
      </p:sp>
      <p:sp>
        <p:nvSpPr>
          <p:cNvPr id="12" name="Shape 9"/>
          <p:cNvSpPr/>
          <p:nvPr/>
        </p:nvSpPr>
        <p:spPr>
          <a:xfrm>
            <a:off x="5262134" y="4419006"/>
            <a:ext cx="6086918" cy="1214735"/>
          </a:xfrm>
          <a:prstGeom prst="roundRect">
            <a:avLst>
              <a:gd name="adj" fmla="val 11845"/>
            </a:avLst>
          </a:prstGeom>
          <a:solidFill>
            <a:srgbClr val="FFFFFF"/>
          </a:solidFill>
          <a:ln w="19050">
            <a:solidFill>
              <a:srgbClr val="B4CCE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41020" y="4597896"/>
            <a:ext cx="5729144" cy="249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550" dirty="0">
                <a:latin typeface="Montserrat"/>
              </a:rPr>
              <a:t>Enfoque</a:t>
            </a:r>
          </a:p>
        </p:txBody>
      </p:sp>
      <p:sp>
        <p:nvSpPr>
          <p:cNvPr id="14" name="Text 11"/>
          <p:cNvSpPr/>
          <p:nvPr/>
        </p:nvSpPr>
        <p:spPr>
          <a:xfrm>
            <a:off x="5441020" y="4943476"/>
            <a:ext cx="5729144" cy="511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250" dirty="0">
                <a:latin typeface="Montserrat"/>
              </a:rPr>
              <a:t>Combina fundamentos teóricos sólidos con laboratorios prácticos que desarrollan criterio analítico y autonomía investigadora.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A478B04F-572C-AF9B-FBEC-1C6EA61F04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21890"/>
            <a:ext cx="12192000" cy="6879891"/>
          </a:xfrm>
          <a:prstGeom prst="rect">
            <a:avLst/>
          </a:prstGeom>
        </p:spPr>
      </p:pic>
      <p:sp>
        <p:nvSpPr>
          <p:cNvPr id="17" name="Shape 4">
            <a:extLst>
              <a:ext uri="{FF2B5EF4-FFF2-40B4-BE49-F238E27FC236}">
                <a16:creationId xmlns:a16="http://schemas.microsoft.com/office/drawing/2014/main" id="{F9F8CD91-3EB0-3505-1123-0ABE8AAF20EA}"/>
              </a:ext>
            </a:extLst>
          </p:cNvPr>
          <p:cNvSpPr/>
          <p:nvPr/>
        </p:nvSpPr>
        <p:spPr>
          <a:xfrm>
            <a:off x="2203978" y="4492961"/>
            <a:ext cx="2587453" cy="1394212"/>
          </a:xfrm>
          <a:prstGeom prst="roundRect">
            <a:avLst>
              <a:gd name="adj" fmla="val 1691"/>
            </a:avLst>
          </a:prstGeom>
          <a:solidFill>
            <a:schemeClr val="bg1"/>
          </a:solidFill>
          <a:ln w="38100">
            <a:solidFill>
              <a:srgbClr val="000156"/>
            </a:solidFill>
            <a:prstDash val="sysDot"/>
          </a:ln>
        </p:spPr>
        <p:txBody>
          <a:bodyPr/>
          <a:lstStyle/>
          <a:p>
            <a:endParaRPr lang="es-PE" sz="2400" dirty="0">
              <a:latin typeface="Montserrat"/>
            </a:endParaRPr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943B41A7-1693-2AEC-4E89-25DD1F82D67B}"/>
              </a:ext>
            </a:extLst>
          </p:cNvPr>
          <p:cNvSpPr/>
          <p:nvPr/>
        </p:nvSpPr>
        <p:spPr>
          <a:xfrm>
            <a:off x="2297412" y="5003660"/>
            <a:ext cx="2317121" cy="883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200" dirty="0">
                <a:latin typeface="Montserrat"/>
              </a:rPr>
              <a:t>Python · R · SQL · React · </a:t>
            </a:r>
          </a:p>
          <a:p>
            <a:pPr>
              <a:lnSpc>
                <a:spcPct val="133000"/>
              </a:lnSpc>
            </a:pPr>
            <a:r>
              <a:rPr lang="en-US" sz="1200" dirty="0">
                <a:latin typeface="Montserrat"/>
              </a:rPr>
              <a:t>TypeScript · </a:t>
            </a:r>
            <a:r>
              <a:rPr lang="en-US" sz="1200" dirty="0" err="1">
                <a:latin typeface="Montserrat"/>
              </a:rPr>
              <a:t>Supabase</a:t>
            </a:r>
            <a:r>
              <a:rPr lang="en-US" sz="1200" dirty="0">
                <a:latin typeface="Montserrat"/>
              </a:rPr>
              <a:t> · APIs </a:t>
            </a:r>
          </a:p>
          <a:p>
            <a:pPr>
              <a:lnSpc>
                <a:spcPct val="133000"/>
              </a:lnSpc>
            </a:pPr>
            <a:r>
              <a:rPr lang="en-US" sz="1200" dirty="0">
                <a:latin typeface="Montserrat"/>
              </a:rPr>
              <a:t>· LLMs · Git/GitHub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40D22330-A528-9B3A-BC4C-A542DCA468EE}"/>
              </a:ext>
            </a:extLst>
          </p:cNvPr>
          <p:cNvSpPr/>
          <p:nvPr/>
        </p:nvSpPr>
        <p:spPr>
          <a:xfrm>
            <a:off x="2302130" y="4633485"/>
            <a:ext cx="1791994" cy="309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400" b="1" dirty="0">
                <a:latin typeface="Montserrat"/>
              </a:rPr>
              <a:t>Herramientas</a:t>
            </a:r>
            <a:endParaRPr lang="en-US" sz="1400" b="1" dirty="0">
              <a:latin typeface="Montserrat" panose="020B0604020202020204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EA0138F-2062-4DE2-47B9-6A5B9F66B869}"/>
              </a:ext>
            </a:extLst>
          </p:cNvPr>
          <p:cNvSpPr/>
          <p:nvPr/>
        </p:nvSpPr>
        <p:spPr>
          <a:xfrm>
            <a:off x="4798165" y="784623"/>
            <a:ext cx="6962647" cy="54483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1400">
              <a:latin typeface="Montserrat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605810E-BC40-7989-1C4C-3528A873D718}"/>
              </a:ext>
            </a:extLst>
          </p:cNvPr>
          <p:cNvSpPr txBox="1"/>
          <p:nvPr/>
        </p:nvSpPr>
        <p:spPr>
          <a:xfrm>
            <a:off x="4850374" y="624981"/>
            <a:ext cx="6319791" cy="57246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s-MX" sz="1700" dirty="0">
              <a:latin typeface="Montserrat"/>
            </a:endParaRPr>
          </a:p>
          <a:p>
            <a:pPr algn="just"/>
            <a:r>
              <a:rPr lang="es-MX" sz="1500" dirty="0">
                <a:latin typeface="Montserrat"/>
              </a:rPr>
              <a:t>Docente especialista en Estadística Aplicada, Ciencia de Datos, Inteligencia Artificial y Analítica de Negocios, con más de 20 años de experiencia en educación superior y capacitación profesional. Cuenta con trayectoria en análisis de datos, Machine </a:t>
            </a:r>
            <a:r>
              <a:rPr lang="es-MX" sz="1500" dirty="0" err="1">
                <a:latin typeface="Montserrat"/>
              </a:rPr>
              <a:t>Learning</a:t>
            </a:r>
            <a:r>
              <a:rPr lang="es-MX" sz="1500" dirty="0">
                <a:latin typeface="Montserrat"/>
              </a:rPr>
              <a:t>, investigación aplicada y desarrollo de soluciones tecnológicas orientadas a la resolución de problemas reales.</a:t>
            </a:r>
          </a:p>
          <a:p>
            <a:endParaRPr lang="es-MX" sz="1500" dirty="0">
              <a:latin typeface="Montserrat"/>
            </a:endParaRPr>
          </a:p>
          <a:p>
            <a:pPr algn="just"/>
            <a:r>
              <a:rPr lang="es-MX" sz="1500" dirty="0">
                <a:latin typeface="Montserrat"/>
              </a:rPr>
              <a:t>Su experiencia integra herramientas como Python, R y SQL con tecnologías para el desarrollo de aplicaciones como </a:t>
            </a:r>
            <a:r>
              <a:rPr lang="es-MX" sz="1500" dirty="0" err="1">
                <a:latin typeface="Montserrat"/>
              </a:rPr>
              <a:t>React</a:t>
            </a:r>
            <a:r>
              <a:rPr lang="es-MX" sz="1500" dirty="0">
                <a:latin typeface="Montserrat"/>
              </a:rPr>
              <a:t>, </a:t>
            </a:r>
            <a:r>
              <a:rPr lang="es-MX" sz="1500" dirty="0" err="1">
                <a:latin typeface="Montserrat"/>
              </a:rPr>
              <a:t>TypeScript</a:t>
            </a:r>
            <a:r>
              <a:rPr lang="es-MX" sz="1500" dirty="0">
                <a:latin typeface="Montserrat"/>
              </a:rPr>
              <a:t>, </a:t>
            </a:r>
            <a:r>
              <a:rPr lang="es-MX" sz="1500" dirty="0" err="1">
                <a:latin typeface="Montserrat"/>
              </a:rPr>
              <a:t>Supabase</a:t>
            </a:r>
            <a:r>
              <a:rPr lang="es-MX" sz="1500" dirty="0">
                <a:latin typeface="Montserrat"/>
              </a:rPr>
              <a:t> y Git/GitHub, incorporando actualmente IA generativa, modelos de lenguaje (</a:t>
            </a:r>
            <a:r>
              <a:rPr lang="es-MX" sz="1500" dirty="0" err="1">
                <a:latin typeface="Montserrat"/>
              </a:rPr>
              <a:t>LLMs</a:t>
            </a:r>
            <a:r>
              <a:rPr lang="es-MX" sz="1500" dirty="0">
                <a:latin typeface="Montserrat"/>
              </a:rPr>
              <a:t>), </a:t>
            </a:r>
            <a:r>
              <a:rPr lang="es-MX" sz="1500" dirty="0" err="1">
                <a:latin typeface="Montserrat"/>
              </a:rPr>
              <a:t>APIs</a:t>
            </a:r>
            <a:r>
              <a:rPr lang="es-MX" sz="1500" dirty="0">
                <a:latin typeface="Montserrat"/>
              </a:rPr>
              <a:t> de inteligencia artificial y herramientas de desarrollo asistido por IA.</a:t>
            </a:r>
          </a:p>
          <a:p>
            <a:endParaRPr lang="es-MX" sz="1500" dirty="0">
              <a:latin typeface="Montserrat"/>
            </a:endParaRPr>
          </a:p>
          <a:p>
            <a:pPr algn="just"/>
            <a:r>
              <a:rPr lang="es-MX" sz="1500" dirty="0">
                <a:latin typeface="Montserrat"/>
              </a:rPr>
              <a:t>En su labor docente promueve un enfoque práctico basado en proyectos, integrando datos, programación, desarrollo Full </a:t>
            </a:r>
            <a:r>
              <a:rPr lang="es-MX" sz="1500" dirty="0" err="1">
                <a:latin typeface="Montserrat"/>
              </a:rPr>
              <a:t>Stack</a:t>
            </a:r>
            <a:r>
              <a:rPr lang="es-MX" sz="1500" dirty="0">
                <a:latin typeface="Montserrat"/>
              </a:rPr>
              <a:t> e Inteligencia Artificial para que los estudiantes puedan diseñar y construir soluciones funcionales. Actualmente desarrolla actividades de docencia, capacitación y asesoría en Ciencia de Datos, Analítica, Inteligencia Artificial y transformación digital.</a:t>
            </a:r>
          </a:p>
          <a:p>
            <a:endParaRPr lang="es-MX" sz="1700" dirty="0">
              <a:latin typeface="Montserrat"/>
            </a:endParaRPr>
          </a:p>
          <a:p>
            <a:endParaRPr lang="es-MX" sz="1700" dirty="0">
              <a:latin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genda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2912" y="427292"/>
            <a:ext cx="10228277" cy="717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700" b="1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1792224"/>
            <a:ext cx="548640" cy="54864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645920"/>
            <a:ext cx="2377440" cy="8412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Vocabulario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1645920"/>
            <a:ext cx="7132320" cy="8412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Descomponer una pregunta de investigación en conceptos y construir vocabulario de búsqueda antes de usar la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786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724912"/>
            <a:ext cx="548640" cy="54864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78608"/>
            <a:ext cx="2377440" cy="8412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Operadores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578608"/>
            <a:ext cx="7132320" cy="8412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Aplicar operadores de búsqueda (comillas, AND, OR) para armar cadenas equilibradas entre amplitud y precisión.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1129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" y="3657600"/>
            <a:ext cx="548640" cy="54864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511296"/>
            <a:ext cx="2377440" cy="8412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Google Scholar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3511296"/>
            <a:ext cx="7132320" cy="8412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Usar Google Scholar como estación de trabajo central, apoyándose en la IA solo para ampliar vocabulario.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43984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4590288"/>
            <a:ext cx="548640" cy="54864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443984"/>
            <a:ext cx="2377440" cy="8412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Aplicación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4443984"/>
            <a:ext cx="7132320" cy="8412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Aplicar el proceso completo a un caso real y documentarlo en una bitácora reproducible.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37667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522976"/>
            <a:ext cx="548640" cy="54864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5376672"/>
            <a:ext cx="2377440" cy="8412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Criterio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5376672"/>
            <a:ext cx="7132320" cy="8412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Distinguir lo que la IA sugiere de lo que el investigador debe verificar y decidir.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genda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2912" y="427292"/>
            <a:ext cx="10228277" cy="717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700" b="1">
                <a:solidFill>
                  <a:srgbClr val="FFFFFF"/>
                </a:solidFill>
                <a:latin typeface="Calibri"/>
              </a:rPr>
              <a:t>RUTA DE APRENDIZAJE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39319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Bienvenida y punto de partida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1645920"/>
            <a:ext cx="53035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Qué es un antecedente y por qué se busca literatura.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87000" y="1755648"/>
            <a:ext cx="914400" cy="466344"/>
          </a:xfrm>
          <a:prstGeom prst="roundRect">
            <a:avLst>
              <a:gd name="adj" fmla="val 3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0" y="1755648"/>
            <a:ext cx="914400" cy="4663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23160"/>
            <a:ext cx="39319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Estrategia y términos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423160"/>
            <a:ext cx="53035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De la pregunta a los conceptos, el vocabulario y las cadenas.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7000" y="2532888"/>
            <a:ext cx="914400" cy="466344"/>
          </a:xfrm>
          <a:prstGeom prst="roundRect">
            <a:avLst>
              <a:gd name="adj" fmla="val 3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7000" y="2532888"/>
            <a:ext cx="914400" cy="4663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25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00400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00400"/>
            <a:ext cx="39319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Demostración en Google Scholar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200400"/>
            <a:ext cx="53035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Pantalla, filtros, «citado por», versiones y alertas.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87000" y="3310128"/>
            <a:ext cx="914400" cy="466344"/>
          </a:xfrm>
          <a:prstGeom prst="roundRect">
            <a:avLst>
              <a:gd name="adj" fmla="val 3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87000" y="3310128"/>
            <a:ext cx="914400" cy="4663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20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77639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977639"/>
            <a:ext cx="39319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Búsqueda acompañada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977639"/>
            <a:ext cx="53035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Aplicas el método a tu propio tema con apoyo de la 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87000" y="4087368"/>
            <a:ext cx="914400" cy="466344"/>
          </a:xfrm>
          <a:prstGeom prst="roundRect">
            <a:avLst>
              <a:gd name="adj" fmla="val 3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87000" y="4087368"/>
            <a:ext cx="914400" cy="4663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35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754879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754879"/>
            <a:ext cx="39319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Registro en la bitácora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754879"/>
            <a:ext cx="53035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Documentas cada búsqueda para poder repetirla.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864607"/>
            <a:ext cx="914400" cy="466344"/>
          </a:xfrm>
          <a:prstGeom prst="roundRect">
            <a:avLst>
              <a:gd name="adj" fmla="val 3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87000" y="4864607"/>
            <a:ext cx="914400" cy="4663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20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532119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532119"/>
            <a:ext cx="39319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Cierre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5532119"/>
            <a:ext cx="53035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Síntesis, dudas y transferencia al caso autónomo.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87000" y="5641847"/>
            <a:ext cx="914400" cy="466344"/>
          </a:xfrm>
          <a:prstGeom prst="roundRect">
            <a:avLst>
              <a:gd name="adj" fmla="val 3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87000" y="5641847"/>
            <a:ext cx="914400" cy="4663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ivid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2912" y="2676125"/>
            <a:ext cx="437840" cy="1999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12" y="4737409"/>
            <a:ext cx="10346277" cy="702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FFFFF"/>
                </a:solidFill>
                <a:latin typeface="Calibri"/>
              </a:rPr>
              <a:t>FUNDAMENTOS Y VOCABULARIO DE BÚSQUEDA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ivid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2912" y="2676125"/>
            <a:ext cx="437840" cy="1999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12" y="4737409"/>
            <a:ext cx="10346277" cy="702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FFFFF"/>
                </a:solidFill>
                <a:latin typeface="Calibri"/>
              </a:rPr>
              <a:t>OPERADORES Y CONSTRUCCIÓN DE CADENAS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ivid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2912" y="2676125"/>
            <a:ext cx="437840" cy="1999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12" y="4737409"/>
            <a:ext cx="10346277" cy="702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FFFFF"/>
                </a:solidFill>
                <a:latin typeface="Calibri"/>
              </a:rPr>
              <a:t>GOOGLE SCHOLAR E IA COMO APOYO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ivid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82912" y="2676125"/>
            <a:ext cx="437840" cy="1999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12" y="4737409"/>
            <a:ext cx="10346277" cy="702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FFFFF"/>
                </a:solidFill>
                <a:latin typeface="Calibri"/>
              </a:rPr>
              <a:t>PRÁCTICA DE BÚSQUEDA ACADÉMICA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f80e77ae7_4_178"/>
          <p:cNvSpPr/>
          <p:nvPr/>
        </p:nvSpPr>
        <p:spPr>
          <a:xfrm>
            <a:off x="-147963" y="-69639"/>
            <a:ext cx="12487926" cy="7117830"/>
          </a:xfrm>
          <a:custGeom>
            <a:avLst/>
            <a:gdLst/>
            <a:ahLst/>
            <a:cxnLst/>
            <a:rect l="l" t="t" r="r" b="b"/>
            <a:pathLst>
              <a:path w="4933502" h="2811982" extrusionOk="0">
                <a:moveTo>
                  <a:pt x="0" y="0"/>
                </a:moveTo>
                <a:lnTo>
                  <a:pt x="4933502" y="0"/>
                </a:lnTo>
                <a:lnTo>
                  <a:pt x="4933502" y="2811982"/>
                </a:lnTo>
                <a:lnTo>
                  <a:pt x="0" y="281198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p/>
        </p:txBody>
      </p:sp>
      <p:grpSp>
        <p:nvGrpSpPr>
          <p:cNvPr id="242" name="Google Shape;242;g3cf80e77ae7_4_178"/>
          <p:cNvGrpSpPr/>
          <p:nvPr/>
        </p:nvGrpSpPr>
        <p:grpSpPr>
          <a:xfrm>
            <a:off x="0" y="4707312"/>
            <a:ext cx="12192000" cy="2150689"/>
            <a:chOff x="0" y="-38100"/>
            <a:chExt cx="14449778" cy="2548965"/>
          </a:xfrm>
        </p:grpSpPr>
        <p:sp>
          <p:nvSpPr>
            <p:cNvPr id="243" name="Google Shape;243;g3cf80e77ae7_4_178"/>
            <p:cNvSpPr/>
            <p:nvPr/>
          </p:nvSpPr>
          <p:spPr>
            <a:xfrm>
              <a:off x="0" y="0"/>
              <a:ext cx="14449778" cy="2510865"/>
            </a:xfrm>
            <a:custGeom>
              <a:avLst/>
              <a:gdLst/>
              <a:ahLst/>
              <a:cxnLst/>
              <a:rect l="l" t="t" r="r" b="b"/>
              <a:pathLst>
                <a:path w="14449778" h="2510865" extrusionOk="0">
                  <a:moveTo>
                    <a:pt x="0" y="0"/>
                  </a:moveTo>
                  <a:lnTo>
                    <a:pt x="14449778" y="0"/>
                  </a:lnTo>
                  <a:lnTo>
                    <a:pt x="14449778" y="2510865"/>
                  </a:lnTo>
                  <a:lnTo>
                    <a:pt x="0" y="2510865"/>
                  </a:lnTo>
                  <a:close/>
                </a:path>
              </a:pathLst>
            </a:custGeom>
            <a:gradFill>
              <a:gsLst>
                <a:gs pos="0">
                  <a:srgbClr val="031A8D"/>
                </a:gs>
                <a:gs pos="33333">
                  <a:srgbClr val="000156"/>
                </a:gs>
                <a:gs pos="66667">
                  <a:srgbClr val="000156"/>
                </a:gs>
                <a:gs pos="100000">
                  <a:srgbClr val="000156"/>
                </a:gs>
              </a:gsLst>
              <a:lin ang="2700000" scaled="0"/>
            </a:gradFill>
            <a:ln>
              <a:noFill/>
            </a:ln>
          </p:spPr>
        </p:sp>
        <p:sp>
          <p:nvSpPr>
            <p:cNvPr id="244" name="Google Shape;244;g3cf80e77ae7_4_178"/>
            <p:cNvSpPr txBox="1"/>
            <p:nvPr/>
          </p:nvSpPr>
          <p:spPr>
            <a:xfrm>
              <a:off x="0" y="-38100"/>
              <a:ext cx="14449778" cy="254896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algn="ctr">
                <a:lnSpc>
                  <a:spcPct val="147722"/>
                </a:lnSpc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5" name="Google Shape;245;g3cf80e77ae7_4_178"/>
          <p:cNvSpPr/>
          <p:nvPr/>
        </p:nvSpPr>
        <p:spPr>
          <a:xfrm>
            <a:off x="7894980" y="0"/>
            <a:ext cx="3611221" cy="8014953"/>
          </a:xfrm>
          <a:custGeom>
            <a:avLst/>
            <a:gdLst/>
            <a:ahLst/>
            <a:cxnLst/>
            <a:rect l="l" t="t" r="r" b="b"/>
            <a:pathLst>
              <a:path w="2858770" h="6344920" extrusionOk="0">
                <a:moveTo>
                  <a:pt x="1827530" y="6344920"/>
                </a:moveTo>
                <a:lnTo>
                  <a:pt x="0" y="6344920"/>
                </a:lnTo>
                <a:lnTo>
                  <a:pt x="0" y="1031240"/>
                </a:lnTo>
                <a:cubicBezTo>
                  <a:pt x="0" y="461010"/>
                  <a:pt x="461010" y="0"/>
                  <a:pt x="1031240" y="0"/>
                </a:cubicBezTo>
                <a:lnTo>
                  <a:pt x="2858770" y="0"/>
                </a:lnTo>
                <a:lnTo>
                  <a:pt x="2858770" y="5313680"/>
                </a:lnTo>
                <a:cubicBezTo>
                  <a:pt x="2858770" y="5883910"/>
                  <a:pt x="2397760" y="6344920"/>
                  <a:pt x="1827530" y="6344920"/>
                </a:cubicBezTo>
                <a:close/>
              </a:path>
            </a:pathLst>
          </a:custGeom>
          <a:blipFill rotWithShape="1">
            <a:blip r:embed="rId3">
              <a:alphaModFix amt="93000"/>
            </a:blip>
            <a:stretch>
              <a:fillRect l="-113407" r="-119516"/>
            </a:stretch>
          </a:blipFill>
          <a:ln>
            <a:noFill/>
          </a:ln>
        </p:spPr>
        <p:txBody>
          <a:bodyPr spcFirstLastPara="1" wrap="square" lIns="60950" tIns="60950" rIns="60950" bIns="60950" anchor="ctr" anchorCtr="0">
            <a:noAutofit/>
          </a:bodyPr>
          <a:lstStyle/>
          <a:p>
            <a:endParaRPr sz="1200"/>
          </a:p>
        </p:txBody>
      </p:sp>
      <p:grpSp>
        <p:nvGrpSpPr>
          <p:cNvPr id="246" name="Google Shape;246;g3cf80e77ae7_4_178"/>
          <p:cNvGrpSpPr/>
          <p:nvPr/>
        </p:nvGrpSpPr>
        <p:grpSpPr>
          <a:xfrm>
            <a:off x="11506200" y="-32147"/>
            <a:ext cx="685800" cy="717947"/>
            <a:chOff x="0" y="-38100"/>
            <a:chExt cx="812800" cy="850900"/>
          </a:xfrm>
        </p:grpSpPr>
        <p:sp>
          <p:nvSpPr>
            <p:cNvPr id="247" name="Google Shape;247;g3cf80e77ae7_4_17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11754"/>
            </a:solidFill>
            <a:ln>
              <a:noFill/>
            </a:ln>
          </p:spPr>
        </p:sp>
        <p:sp>
          <p:nvSpPr>
            <p:cNvPr id="248" name="Google Shape;248;g3cf80e77ae7_4_17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algn="ctr">
                <a:lnSpc>
                  <a:spcPct val="147722"/>
                </a:lnSpc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g3cf80e77ae7_4_178"/>
          <p:cNvGrpSpPr/>
          <p:nvPr/>
        </p:nvGrpSpPr>
        <p:grpSpPr>
          <a:xfrm>
            <a:off x="7235925" y="462783"/>
            <a:ext cx="1318109" cy="1379896"/>
            <a:chOff x="0" y="-38100"/>
            <a:chExt cx="812800" cy="850900"/>
          </a:xfrm>
        </p:grpSpPr>
        <p:sp>
          <p:nvSpPr>
            <p:cNvPr id="250" name="Google Shape;250;g3cf80e77ae7_4_17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199699" y="0"/>
                  </a:moveTo>
                  <a:lnTo>
                    <a:pt x="613101" y="0"/>
                  </a:lnTo>
                  <a:cubicBezTo>
                    <a:pt x="666064" y="0"/>
                    <a:pt x="716859" y="21040"/>
                    <a:pt x="754309" y="58491"/>
                  </a:cubicBezTo>
                  <a:cubicBezTo>
                    <a:pt x="791760" y="95941"/>
                    <a:pt x="812800" y="146736"/>
                    <a:pt x="812800" y="199699"/>
                  </a:cubicBezTo>
                  <a:lnTo>
                    <a:pt x="812800" y="613101"/>
                  </a:lnTo>
                  <a:cubicBezTo>
                    <a:pt x="812800" y="666064"/>
                    <a:pt x="791760" y="716859"/>
                    <a:pt x="754309" y="754309"/>
                  </a:cubicBezTo>
                  <a:cubicBezTo>
                    <a:pt x="716859" y="791760"/>
                    <a:pt x="666064" y="812800"/>
                    <a:pt x="613101" y="812800"/>
                  </a:cubicBezTo>
                  <a:lnTo>
                    <a:pt x="199699" y="812800"/>
                  </a:lnTo>
                  <a:cubicBezTo>
                    <a:pt x="146736" y="812800"/>
                    <a:pt x="95941" y="791760"/>
                    <a:pt x="58491" y="754309"/>
                  </a:cubicBezTo>
                  <a:cubicBezTo>
                    <a:pt x="21040" y="716859"/>
                    <a:pt x="0" y="666064"/>
                    <a:pt x="0" y="613101"/>
                  </a:cubicBezTo>
                  <a:lnTo>
                    <a:pt x="0" y="199699"/>
                  </a:lnTo>
                  <a:cubicBezTo>
                    <a:pt x="0" y="146736"/>
                    <a:pt x="21040" y="95941"/>
                    <a:pt x="58491" y="58491"/>
                  </a:cubicBezTo>
                  <a:cubicBezTo>
                    <a:pt x="95941" y="21040"/>
                    <a:pt x="146736" y="0"/>
                    <a:pt x="199699" y="0"/>
                  </a:cubicBezTo>
                  <a:close/>
                </a:path>
              </a:pathLst>
            </a:custGeom>
            <a:solidFill>
              <a:srgbClr val="011754">
                <a:alpha val="29803"/>
              </a:srgbClr>
            </a:solidFill>
            <a:ln>
              <a:noFill/>
            </a:ln>
          </p:spPr>
          <p:txBody>
            <a:bodyPr spcFirstLastPara="1" wrap="square" lIns="60950" tIns="60950" rIns="60950" bIns="60950" anchor="ctr" anchorCtr="0">
              <a:noAutofit/>
            </a:bodyPr>
            <a:lstStyle/>
            <a:p>
              <a:endParaRPr sz="1200"/>
            </a:p>
          </p:txBody>
        </p:sp>
        <p:sp>
          <p:nvSpPr>
            <p:cNvPr id="251" name="Google Shape;251;g3cf80e77ae7_4_178"/>
            <p:cNvSpPr txBox="1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algn="ctr">
                <a:lnSpc>
                  <a:spcPct val="147722"/>
                </a:lnSpc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2" name="Google Shape;252;g3cf80e77ae7_4_178"/>
          <p:cNvSpPr txBox="1"/>
          <p:nvPr/>
        </p:nvSpPr>
        <p:spPr>
          <a:xfrm>
            <a:off x="904150" y="4800600"/>
            <a:ext cx="67104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spcAft>
                <a:spcPts val="800"/>
              </a:spcAft>
            </a:pPr>
            <a:r>
              <a:rPr lang="es-MX" sz="1800" dirty="0">
                <a:solidFill>
                  <a:srgbClr val="FFFFFF"/>
                </a:solidFill>
                <a:latin typeface="Calibri"/>
              </a:rPr>
              <a:t>Trabajaremos directamente en Google Scholar</a:t>
            </a:r>
          </a:p>
          <a:p>
            <a:pPr marL="331107" indent="-165553">
              <a:spcAft>
                <a:spcPts val="800"/>
              </a:spcAft>
              <a:buClr>
                <a:srgbClr val="FFFFFF"/>
              </a:buClr>
              <a:buChar char="•"/>
            </a:pPr>
            <a:r>
              <a:rPr lang="es-MX" sz="1800" dirty="0">
                <a:solidFill>
                  <a:srgbClr val="FFFFFF"/>
                </a:solidFill>
                <a:latin typeface="Calibri"/>
              </a:rPr>
              <a:t>Abre Google Scholar en una pestaña nueva</a:t>
            </a:r>
          </a:p>
          <a:p>
            <a:pPr marL="331107" indent="-165553">
              <a:spcAft>
                <a:spcPts val="800"/>
              </a:spcAft>
              <a:buClr>
                <a:srgbClr val="FFFFFF"/>
              </a:buClr>
              <a:buChar char="•"/>
            </a:pPr>
            <a:r>
              <a:rPr lang="es-MX" sz="1800" dirty="0">
                <a:solidFill>
                  <a:srgbClr val="FFFFFF"/>
                </a:solidFill>
                <a:latin typeface="Calibri"/>
              </a:rPr>
              <a:t>Ten a mano tu cuaderno o bitácora de registro</a:t>
            </a:r>
            <a:endParaRPr lang="es-MX" sz="160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3" name="Google Shape;253;g3cf80e77ae7_4_178"/>
          <p:cNvSpPr txBox="1"/>
          <p:nvPr/>
        </p:nvSpPr>
        <p:spPr>
          <a:xfrm>
            <a:off x="1082949" y="1563660"/>
            <a:ext cx="5863764" cy="2454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-US" sz="6934" b="1" dirty="0">
                <a:solidFill>
                  <a:srgbClr val="000156"/>
                </a:solidFill>
                <a:latin typeface="Fira Sans"/>
                <a:ea typeface="Fira Sans"/>
                <a:cs typeface="Fira Sans"/>
                <a:sym typeface="Fira Sans"/>
              </a:rPr>
              <a:t>VAMOS A LA PRÁCTICA</a:t>
            </a:r>
            <a:endParaRPr sz="1200" dirty="0"/>
          </a:p>
        </p:txBody>
      </p:sp>
      <p:grpSp>
        <p:nvGrpSpPr>
          <p:cNvPr id="254" name="Google Shape;254;g3cf80e77ae7_4_178"/>
          <p:cNvGrpSpPr/>
          <p:nvPr/>
        </p:nvGrpSpPr>
        <p:grpSpPr>
          <a:xfrm>
            <a:off x="5656329" y="6009371"/>
            <a:ext cx="1697259" cy="1697259"/>
            <a:chOff x="0" y="0"/>
            <a:chExt cx="812800" cy="812800"/>
          </a:xfrm>
        </p:grpSpPr>
        <p:sp>
          <p:nvSpPr>
            <p:cNvPr id="255" name="Google Shape;255;g3cf80e77ae7_4_17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noFill/>
            <a:ln w="571500" cap="sq" cmpd="sng">
              <a:solidFill>
                <a:srgbClr val="0345E4">
                  <a:alpha val="9803"/>
                </a:srgbClr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60950" tIns="60950" rIns="60950" bIns="60950" anchor="ctr" anchorCtr="0">
              <a:noAutofit/>
            </a:bodyPr>
            <a:lstStyle/>
            <a:p>
              <a:endParaRPr sz="1200"/>
            </a:p>
          </p:txBody>
        </p:sp>
        <p:sp>
          <p:nvSpPr>
            <p:cNvPr id="256" name="Google Shape;256;g3cf80e77ae7_4_17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algn="ctr">
                <a:lnSpc>
                  <a:spcPct val="147722"/>
                </a:lnSpc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7" name="Google Shape;257;g3cf80e77ae7_4_178"/>
          <p:cNvSpPr/>
          <p:nvPr/>
        </p:nvSpPr>
        <p:spPr>
          <a:xfrm>
            <a:off x="11170168" y="142088"/>
            <a:ext cx="879745" cy="879745"/>
          </a:xfrm>
          <a:custGeom>
            <a:avLst/>
            <a:gdLst/>
            <a:ahLst/>
            <a:cxnLst/>
            <a:rect l="l" t="t" r="r" b="b"/>
            <a:pathLst>
              <a:path w="1319617" h="1319617" extrusionOk="0">
                <a:moveTo>
                  <a:pt x="0" y="0"/>
                </a:moveTo>
                <a:lnTo>
                  <a:pt x="1319617" y="0"/>
                </a:lnTo>
                <a:lnTo>
                  <a:pt x="1319617" y="1319617"/>
                </a:lnTo>
                <a:lnTo>
                  <a:pt x="0" y="131961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 w="47625" cap="sq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EA5FC1F7-28A3-C8DA-1E0C-19D3168E7153}"/>
              </a:ext>
            </a:extLst>
          </p:cNvPr>
          <p:cNvSpPr txBox="1"/>
          <p:nvPr/>
        </p:nvSpPr>
        <p:spPr>
          <a:xfrm>
            <a:off x="324048" y="4124852"/>
            <a:ext cx="9863333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 dirty="0">
                <a:solidFill>
                  <a:srgbClr val="011754"/>
                </a:solidFill>
                <a:latin typeface="Calibri"/>
              </a:rPr>
              <a:t>De una pregunta de investigación a una búsqueda documentada</a:t>
            </a:r>
            <a:endParaRPr sz="1600" b="0" i="0" dirty="0">
              <a:solidFill>
                <a:srgbClr val="011754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Antes de buscar, pensemos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11754"/>
                </a:solidFill>
                <a:latin typeface="Calibri"/>
              </a:rPr>
              <a:t>Si necesitaras encontrar 20 artículos científicos relevantes, ¿por dónde empezarías?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67128"/>
            <a:ext cx="2240280" cy="24323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Google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Buscador abierto y general. Mezcla noticias, blogs, publicidad y algún artículo.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84448" y="2167128"/>
            <a:ext cx="2240280" cy="24323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Google Scholar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Buscador académico: artículos, tesis, libros y patentes con citas y versiones.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0488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2167128"/>
            <a:ext cx="2240280" cy="24323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ChatGPT / Claude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Exploración asistida por IA. Sugiere ideas, pero puede inventar fuentes.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62288" y="2167128"/>
            <a:ext cx="2240280" cy="24323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Base científica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Scopus, Web of Science o SciELO: curadas, pero con acceso institucional.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5029200"/>
            <a:ext cx="10972800" cy="8229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029200"/>
            <a:ext cx="105156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Pausa activa: comenta tu punto de partida con el compañero o compañera de al lado.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Punto de partida: ¿qué es un antecedente?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70992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Qué 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Un estudio previo, ya publicado, que trató un problema parecido al tuyo. Es la base sobre la que se apoya tu investigación.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160020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3368" y="170992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Para qué se busca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Para saber qué se ha hecho, qué métodos se usaron, qué se encontró y qué vacíos quedan por resolver.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3749039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385876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Qué no 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Una noticia, un blog, un resumen de IA o una cita que nadie puede comprobar.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3749039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385876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Dónde se usa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En el planteamiento del problema, el estado del arte, el marco teórico y la justificación.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5486400"/>
            <a:ext cx="10972800" cy="68580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486400"/>
            <a:ext cx="105156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Esta sesión es autocontenida: no necesitas haber cursado el módulo anterior.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Buscar es diseñar una estrategia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Convertimos una necesidad de información en consultas sistemáticas y repetibles.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2011680"/>
            <a:ext cx="2640330" cy="17830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2148840"/>
            <a:ext cx="502920" cy="50292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148840"/>
            <a:ext cx="190881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Problema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88920"/>
            <a:ext cx="227457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La pregunta de partida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138" y="2011680"/>
            <a:ext cx="2640330" cy="17830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7298" y="2148840"/>
            <a:ext cx="502920" cy="50292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5937" y="2148840"/>
            <a:ext cx="190881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Necesidad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3018" y="2788920"/>
            <a:ext cx="227457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Qué información falta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7628" y="2011680"/>
            <a:ext cx="2640330" cy="17830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4788" y="2148840"/>
            <a:ext cx="502920" cy="50292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3428" y="2148840"/>
            <a:ext cx="190881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Conceptos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508" y="2788920"/>
            <a:ext cx="227457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Los nodos centrales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5118" y="2011680"/>
            <a:ext cx="2640330" cy="17830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82278" y="2148840"/>
            <a:ext cx="502920" cy="50292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0918" y="2148840"/>
            <a:ext cx="190881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Palabras clave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7998" y="2788920"/>
            <a:ext cx="227457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Sinónimos y equivalentes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" y="3977639"/>
            <a:ext cx="2640330" cy="17830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9808" y="4114800"/>
            <a:ext cx="502920" cy="50292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4114800"/>
            <a:ext cx="190881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Cadena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4754879"/>
            <a:ext cx="227457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Sintaxis con operadores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90138" y="3977639"/>
            <a:ext cx="2640330" cy="17830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27298" y="4114800"/>
            <a:ext cx="502920" cy="50292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5937" y="4114800"/>
            <a:ext cx="190881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Fuentes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3018" y="4754879"/>
            <a:ext cx="227457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Bases académicas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977639"/>
            <a:ext cx="2640330" cy="17830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04788" y="4114800"/>
            <a:ext cx="502920" cy="502920"/>
          </a:xfrm>
          <a:prstGeom prst="ellipse">
            <a:avLst/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3428" y="4114800"/>
            <a:ext cx="190881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Evaluación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508" y="4754879"/>
            <a:ext cx="227457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Criterio y filtro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45118" y="3977639"/>
            <a:ext cx="2640330" cy="178308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27998" y="3977639"/>
            <a:ext cx="2274570" cy="1783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Buscar no es copiar el título de la tesis en la barra de texto.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De la pregunta a la necesidad de información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691640"/>
            <a:ext cx="4937760" cy="3383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D4AF37"/>
                </a:solidFill>
                <a:latin typeface="Calibri"/>
              </a:rPr>
              <a:t>Copiar el título</a:t>
            </a:r>
          </a:p>
          <a:p>
            <a:pPr algn="l">
              <a:spcAft>
                <a:spcPts val="10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«Relación entre el uso de la inteligencia artificial generativa y el aprendizaje autónomo en estudiantes universitarios»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Resultado: pocas coincidencias exactas, ruido y literatura clave que no aparece.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160020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691640"/>
            <a:ext cx="4937760" cy="3383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Descomponer en conceptos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1. IA generativa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2. Aprendizaje autónomo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3. Estudiantes universitarios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Cada concepto se busca con varios términos y luego se combinan con operadores.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440680"/>
            <a:ext cx="10972800" cy="73152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440680"/>
            <a:ext cx="1051560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Una buena necesidad de información dice qué, en quién y en qué contexto se busca.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La pregunta se convierte en conceptos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11754"/>
                </a:solidFill>
                <a:latin typeface="Calibri"/>
              </a:rPr>
              <a:t>Pregunta guía: ¿Qué relación existe entre la IA generativa y el aprendizaje autónomo en estudiantes universitarios?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2331720"/>
            <a:ext cx="3535680" cy="26974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441448"/>
            <a:ext cx="3169920" cy="2478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Concepto 1 · Tecnología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Inteligencia artificial generativa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Modelos y herramientas que generan texto, imagen o código de forma interactiva.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1208" y="2331720"/>
            <a:ext cx="3535680" cy="26974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4088" y="2441448"/>
            <a:ext cx="3169920" cy="2478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Concepto 2 · Proceso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Aprendizaje autónomo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Autorregulación, iniciativa y agencia del estudiante en su propio estudio.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9767" y="2331720"/>
            <a:ext cx="3535680" cy="26974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2647" y="2441448"/>
            <a:ext cx="3169920" cy="2478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Concepto 3 · Población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Estudiantes universitarios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Comunidad de educación superior, de pregrado y posgrado.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" y="5257800"/>
            <a:ext cx="10972800" cy="8229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257800"/>
            <a:ext cx="105156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Actividad: identifica los tres conceptos nucleares en tres preguntas de investigación distintas.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Un concepto necesita un vocabulario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38912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Función metodológica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Ejemplo: IA generativa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Palabra clave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Término central del concepto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inteligencia artificial generativa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Sinónimo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Otra forma de decirlo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IA generativa, GenAI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Variante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Denominación académica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modelos de lenguaje de gran tamaño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Término relacionado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Concepto próximo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chatbots, ChatGPT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Equivalente en inglés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Expresión internacional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generative AI, large language models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585216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Sin vocabulario variado, la búsqueda deja fuera literatura que usa otras palabras.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Equivalencias en español y en inglés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13232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Concepto en español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Equivalentes en inglés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IA generativa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"generative AI", "generative artificial intelligence"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Aprendizaje autónomo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"self-directed learning", "self-regulated learning", "learner autonomy"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Estudiantes universitarios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"university students", "college students", "higher education"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617720"/>
            <a:ext cx="5394960" cy="16002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4727448"/>
            <a:ext cx="5029200" cy="1380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Por qué el inglés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La mayor parte de la literatura indexada se publica en inglés; buscar solo en español recupera una fracción.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4617720"/>
            <a:ext cx="5394960" cy="16002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4727448"/>
            <a:ext cx="5029200" cy="1380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Cómo se verifica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Un término es útil si aparece en títulos y resúmenes de artículos reales, no solo en una lista de la 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Primero a mano, después con la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Antes de abrir un modelo de lenguaje, articula tu propio mapa de términos.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2011680"/>
            <a:ext cx="5394960" cy="17373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1408"/>
            <a:ext cx="5029200" cy="15179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Concepto núcleo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Inteligencia artificial generativa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2011680"/>
            <a:ext cx="5394960" cy="17373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2121408"/>
            <a:ext cx="5029200" cy="15179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Variantes y equivalentes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Generative AI · GenAI · Large language models · LLMs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3977639"/>
            <a:ext cx="3535680" cy="15087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4087368"/>
            <a:ext cx="3169920" cy="12893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1. Escribe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Concepto, término principal, sinónimos y traducción.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3977639"/>
            <a:ext cx="3535680" cy="15087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4088" y="4087368"/>
            <a:ext cx="3169920" cy="12893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2. Consulta a la IA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Solo después, para expandir lo que ya trabajaste.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9767" y="3977639"/>
            <a:ext cx="3535680" cy="15087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2647" y="4087368"/>
            <a:ext cx="3169920" cy="12893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3. Compara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Marca qué aportó la IA que tú no habías considerado.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5623560"/>
            <a:ext cx="10972800" cy="5943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623560"/>
            <a:ext cx="105156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Regla metodológica: la IA amplía tu vocabulario; no lo reemplaza.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La IA amplía; el investigador decide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10972800" cy="160020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600200"/>
            <a:ext cx="1051560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D4AF37"/>
                </a:solidFill>
                <a:latin typeface="Calibri"/>
              </a:rPr>
              <a:t>Prompt estructurado para enriquecer el vocabulario</a:t>
            </a:r>
          </a:p>
          <a:p>
            <a:pPr algn="l">
              <a:spcAft>
                <a:spcPts val="4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«Identifica conceptos, términos principales, sinónimos, variantes y equivalentes en inglés para esta necesidad. Señala términos demasiado amplios y no inventes referencias.»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342900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3538728"/>
            <a:ext cx="2240280" cy="2157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1. Mis términos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Vocabulario formulado antes, sin asistencia.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342900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3538728"/>
            <a:ext cx="2240280" cy="2157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2. Propuestos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Sugerencias y sinónimos aportados por la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342900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3538728"/>
            <a:ext cx="2240280" cy="2157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3. Qué conservo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Solo los términos que encajan con mi pregunta.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408" y="3429000"/>
            <a:ext cx="2606040" cy="23774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2288" y="3538728"/>
            <a:ext cx="2240280" cy="2157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4. Por qué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Justifico cada inclusión y cada descarte.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589788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Cada término que descartas, con su razón, también va a la bitácora.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Los operadores cambian lo que recuperas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2084832" cy="40233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2688" y="1783080"/>
            <a:ext cx="1444752" cy="822960"/>
          </a:xfrm>
          <a:prstGeom prst="roundRect">
            <a:avLst>
              <a:gd name="adj" fmla="val 2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83080"/>
            <a:ext cx="1444752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" 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43200"/>
            <a:ext cx="1865376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Comillas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Frase exacta: palabras juntas y en ese orden.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00200"/>
            <a:ext cx="2084832" cy="40233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54680" y="1783080"/>
            <a:ext cx="1444752" cy="822960"/>
          </a:xfrm>
          <a:prstGeom prst="roundRect">
            <a:avLst>
              <a:gd name="adj" fmla="val 2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783080"/>
            <a:ext cx="1444752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743200"/>
            <a:ext cx="1865376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Intersección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Ambos conceptos deben estar presentes. En Scholar es implícito.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56632" y="1600200"/>
            <a:ext cx="2084832" cy="40233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76672" y="1783080"/>
            <a:ext cx="1444752" cy="822960"/>
          </a:xfrm>
          <a:prstGeom prst="roundRect">
            <a:avLst>
              <a:gd name="adj" fmla="val 2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6672" y="1783080"/>
            <a:ext cx="1444752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743200"/>
            <a:ext cx="1865376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Ampliación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Une sinónimos. Va en mayúsculas.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78624" y="1600200"/>
            <a:ext cx="2084832" cy="40233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98664" y="1783080"/>
            <a:ext cx="1444752" cy="822960"/>
          </a:xfrm>
          <a:prstGeom prst="roundRect">
            <a:avLst>
              <a:gd name="adj" fmla="val 2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98664" y="1783080"/>
            <a:ext cx="1444752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(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8352" y="2743200"/>
            <a:ext cx="1865376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Agrupación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Agrupa los sinónimos antes de cruzar conceptos.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0616" y="1600200"/>
            <a:ext cx="2084832" cy="40233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20656" y="1783080"/>
            <a:ext cx="1444752" cy="822960"/>
          </a:xfrm>
          <a:prstGeom prst="roundRect">
            <a:avLst>
              <a:gd name="adj" fmla="val 20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0656" y="1783080"/>
            <a:ext cx="1444752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0344" y="2743200"/>
            <a:ext cx="1865376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Exclusión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Un guion antes del término lo excluye del resultado.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57607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En Google Scholar, la exclusión se escribe con guion, no con la palabra NOT.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Operadores útiles en Google Scholar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47548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Recurso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"frase"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Busca la expresión exacta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"self-directed learning"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Acepta cualquiera de las opciones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"college students" OR "university students"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-término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Excluye un término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"generative AI" -blog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author: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Busca por autor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author:"A. Martín-Martín"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allintitle: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Exige los términos en el título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allintitle: generative AI learning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585216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El operador site: se usa en Google, no en Scholar. Ej.: site:edu.pe inteligencia artificial.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Una cadena se construye por capas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017520" cy="96012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2834639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 · Término simple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21607" y="1600200"/>
            <a:ext cx="7863840" cy="96012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1600200"/>
            <a:ext cx="7589519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generative artificial intelligence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697480"/>
            <a:ext cx="3017520" cy="96012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834639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 · Intersección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21607" y="2697480"/>
            <a:ext cx="7863840" cy="96012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2697480"/>
            <a:ext cx="7589519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"generative artificial intelligence" "self-directed learning"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3794760"/>
            <a:ext cx="3017520" cy="96012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794760"/>
            <a:ext cx="2834639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 · Con sinónimos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21607" y="3794760"/>
            <a:ext cx="7863840" cy="96012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86200" y="3794760"/>
            <a:ext cx="7589519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("generative artificial intelligence" OR "generative AI") ("self-directed learning" OR "autonomous learning")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" y="4892040"/>
            <a:ext cx="3017520" cy="96012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92040"/>
            <a:ext cx="2834639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 · Con población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21607" y="4892040"/>
            <a:ext cx="7863840" cy="96012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200" y="4892040"/>
            <a:ext cx="7589519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… AND ("university students" OR "college students" OR "higher education")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" y="5669280"/>
            <a:ext cx="10972800" cy="5943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669280"/>
            <a:ext cx="105156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Se avanza de la palabra aislada a una ecuación con la población delimitada.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Amplitud y precisión deben equilibrarse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535680" cy="3108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709928"/>
            <a:ext cx="3169920" cy="2889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Cadena amplia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Muchos resultados, menor precisión. Útil para mapear el terreno y captar discusiones emergentes.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1208" y="1600200"/>
            <a:ext cx="3535680" cy="3108960"/>
          </a:xfrm>
          <a:prstGeom prst="roundRect">
            <a:avLst>
              <a:gd name="adj" fmla="val 6000"/>
            </a:avLst>
          </a:prstGeom>
          <a:solidFill>
            <a:srgbClr val="F6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14088" y="1709928"/>
            <a:ext cx="3169920" cy="2889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Zona de equilibrio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Volumen suficiente y pertinente para evaluar tendencias y ajustar la estrategia con criterio.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9767" y="1600200"/>
            <a:ext cx="3535680" cy="3108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32647" y="1709928"/>
            <a:ext cx="3169920" cy="2889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Cadena específica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Pocos resultados muy precisos, con el riesgo de perder literatura que use otra terminología.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4983480"/>
            <a:ext cx="10972800" cy="8229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983480"/>
            <a:ext cx="105156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Actividad rápida: formula en tu cuaderno una cadena amplia, una intermedia y una específica.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Errores frecuentes al construir cadenas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6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70992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8A5A00"/>
                </a:solidFill>
                <a:latin typeface="Calibri"/>
              </a:rPr>
              <a:t>OR en minúscula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Scholar lo trata como una palabra más. Escribe siempre OR en mayúsculas.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160020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6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3368" y="170992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8A5A00"/>
                </a:solidFill>
                <a:latin typeface="Calibri"/>
              </a:rPr>
              <a:t>Comillas sin criterio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Entre comillas, la frase debe aparecer idéntica; si es muy larga, casi no recupera nada.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3749039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6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385876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8A5A00"/>
                </a:solidFill>
                <a:latin typeface="Calibri"/>
              </a:rPr>
              <a:t>Un solo idioma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Buscar solo en español omite gran parte de la literatura indexada.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3749039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6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385876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8A5A00"/>
                </a:solidFill>
                <a:latin typeface="Calibri"/>
              </a:rPr>
              <a:t>No registrar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Una búsqueda sin cadena, fecha y filtros anotados no se puede repetir.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5486400"/>
            <a:ext cx="10972800" cy="64008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486400"/>
            <a:ext cx="105156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Prueba, observa cuántos resultados salen y ajusta: buscar es un proceso iterativo.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Herramientas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709928"/>
            <a:ext cx="2240280" cy="29809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Google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Búsqueda general. Ubica páginas de revistas, instituciones y términos relacionados.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1568" y="160020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1709928"/>
            <a:ext cx="2240280" cy="29809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Google Scholar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Ejecución académica: búsqueda masiva, rastreo de citas y versiones del artículo.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60020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709928"/>
            <a:ext cx="2240280" cy="29809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ChatGPT o Claude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Sinónimos y traducciones. Proponen cadenas que el investigador prueba.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79408" y="160020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62288" y="1709928"/>
            <a:ext cx="2240280" cy="29809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Bitácora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Registro reproducible: cadena, fecha, filtros y resultados.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5029200"/>
            <a:ext cx="10972800" cy="8229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029200"/>
            <a:ext cx="105156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Google Scholar recupera fuentes; la IA amplía el vocabulario; la bitácora deja constancia.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Explorar no es validar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3152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Entorno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Función en la búsqueda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Web general: páginas, noticias, blogs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Google Scholar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Literatura académica recuperada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IA conversacional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Generación y exploración de ideas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IA para literatura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Descubrimiento y análisis asistido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5212080"/>
            <a:ext cx="10972800" cy="86868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5212080"/>
            <a:ext cx="1051560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Una fuente que muestra una IA no es evidencia validada: hay que encontrarla y comprobarla.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La IA amplía el vocabulario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70992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Vocabulario nuevo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Detecta conceptos emergentes y palabras clave técnicas de publicaciones recientes.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160020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3368" y="170992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Traducción académica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Traduce términos al inglés conservando el sentido de la pregunta.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3749039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385876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Cadenas alternativas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Propone combinaciones con comillas, AND y OR para probar.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3749039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3858768"/>
            <a:ext cx="502920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Verificación humana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Tú compruebas que cada fuente exista y responda al tema.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5486400"/>
            <a:ext cx="10972800" cy="64008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486400"/>
            <a:ext cx="105156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Pide sinónimos y equivalencias; luego ejecuta y verifica la cadena en Google Scholar.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Google Scholar ejecuta y rastrea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32004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 · Ejecutar y filtrar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87368" y="1600200"/>
            <a:ext cx="7498080" cy="9144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600200"/>
            <a:ext cx="722376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Ingresa la cadena y acota la ventana temporal, por ejemplo los últimos 3 a 5 años.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65176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32004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 · Revisar metadatos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87368" y="2651760"/>
            <a:ext cx="7498080" cy="9144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2651760"/>
            <a:ext cx="722376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Evalúa título, autores y resumen de los primeros 20 a 30 resultados.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370332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32004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 · Citado por y versiones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87368" y="3703320"/>
            <a:ext cx="7498080" cy="9144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3703320"/>
            <a:ext cx="722376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Rastrea estudios posteriores y accede a preprints o repositorios.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" y="4754879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754879"/>
            <a:ext cx="32004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 · Texto completo y alertas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87368" y="4754879"/>
            <a:ext cx="7498080" cy="91440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4754879"/>
            <a:ext cx="722376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Verifica el acceso abierto y activa alertas de nuevos artículos.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" y="5669280"/>
            <a:ext cx="10972800" cy="5943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669280"/>
            <a:ext cx="105156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Scholar es la estación de trabajo central: volumen, pertinencia y trazabilidad.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Qué te permite hacer Google Scholar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53568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709928"/>
            <a:ext cx="316992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Filtro por año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Limita a literatura reciente en temas que cambian rápido.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1208" y="1600200"/>
            <a:ext cx="353568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14088" y="1709928"/>
            <a:ext cx="316992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Citado por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Muestra qué estudios posteriores usaron este artículo.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9767" y="1600200"/>
            <a:ext cx="353568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32647" y="1709928"/>
            <a:ext cx="316992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Versiones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Reúne copias en repositorios o de acceso abierto.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3749039"/>
            <a:ext cx="353568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3858768"/>
            <a:ext cx="316992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Texto completo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Enlaza al PDF o a la página del editor.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1208" y="3749039"/>
            <a:ext cx="353568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4088" y="3858768"/>
            <a:ext cx="316992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Biblioteca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Guarda artículos y conecta el acceso de tu universidad.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9767" y="3749039"/>
            <a:ext cx="3535680" cy="196596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2647" y="3858768"/>
            <a:ext cx="3169920" cy="1746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Alertas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Avisa cuando hay publicaciones nuevas sobre tu cadena.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57607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La IA facilita el descubrimiento; no reemplaza la lectura del artículo.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El reto: una búsqueda que hoy no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11754"/>
                </a:solidFill>
                <a:latin typeface="Calibri"/>
              </a:rPr>
              <a:t>Una investigadora estudia la relación entre herramientas de IA generativa y aprendizaje autónomo en estudiantes universitarios.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2331720"/>
            <a:ext cx="5394960" cy="2240280"/>
          </a:xfrm>
          <a:prstGeom prst="roundRect">
            <a:avLst>
              <a:gd name="adj" fmla="val 6000"/>
            </a:avLst>
          </a:prstGeom>
          <a:solidFill>
            <a:srgbClr val="F6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441448"/>
            <a:ext cx="5029200" cy="20208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8A5A00"/>
                </a:solidFill>
                <a:latin typeface="Calibri"/>
              </a:rPr>
              <a:t>Lo que le pasa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Recupera noticias y blogs.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Obtiene documentos poco relacionados.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2331720"/>
            <a:ext cx="5394960" cy="2240280"/>
          </a:xfrm>
          <a:prstGeom prst="roundRect">
            <a:avLst>
              <a:gd name="adj" fmla="val 6000"/>
            </a:avLst>
          </a:prstGeom>
          <a:solidFill>
            <a:srgbClr val="F6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2441448"/>
            <a:ext cx="5029200" cy="20208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8A5A00"/>
                </a:solidFill>
                <a:latin typeface="Calibri"/>
              </a:rPr>
              <a:t>Lo que no sabe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Si las sugerencias de la IA son académicas.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Cómo repetir su búsqueda.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4846320"/>
            <a:ext cx="10972800" cy="8229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846320"/>
            <a:ext cx="105156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Su tarea: construir una estrategia de búsqueda reproducible, paso a paso.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Paso 1 · Delimitamos lo que buscamos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Antes de usar cualquier herramienta, completa la matriz de delimitación (sin IA).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" y="2011680"/>
          <a:ext cx="10972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863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Resolución esperada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Tema y pregunta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¿Qué relación existe entre la IA generativa y el aprendizaje autónomo en universitarios?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Población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Estudiantes de pregrado y posgrado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Conceptos 1, 2 y 3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IA generativa · aprendizaje autónomo · estudiantes universitarios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Qué NO buscamos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Noticias, blogs de empresas, foros de opinión y ensayos no empíricos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Paso 2 · Construimos el vocabulario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Propuestos (tú + IA)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Decisión y justificación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IA generativa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generative AI, GenAI, LLMs, ChatGPT, chatbots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Conservo "generative AI" y "LLMs". Descarto "chatbots": demasiado vago.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Aprendizaje autónomo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self-directed, autonomous y self-regulated learning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Conservo todos: son términos teóricos consolidados.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Estudiantes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university students, college students, higher education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Conservo "university students" y "higher education". Descarto escolares.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585216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Bitácora activa: anota qué términos descartas y la razón académica.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Paso 3 · Construimos tres cadenas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2377440" cy="123444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2194560" cy="1234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Amplia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81528" y="1600200"/>
            <a:ext cx="8503920" cy="12344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600200"/>
            <a:ext cx="8229600" cy="1234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"generative AI"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971800"/>
            <a:ext cx="2377440" cy="123444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194560" cy="1234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Intermedia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1528" y="2971800"/>
            <a:ext cx="8503920" cy="12344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2971800"/>
            <a:ext cx="8229600" cy="1234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("generative AI" OR "generative artificial intelligence") ("self-directed learning" OR "self-regulated learning")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4343400"/>
            <a:ext cx="2377440" cy="1234440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2194560" cy="1234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Específica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81528" y="4343400"/>
            <a:ext cx="8503920" cy="12344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4343400"/>
            <a:ext cx="8229600" cy="12344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… ("self-directed learning" OR "self-regulated learning") ("university students" OR "college students" OR "higher education")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" y="5394960"/>
            <a:ext cx="10972800" cy="73152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394960"/>
            <a:ext cx="1051560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Discute qué gana y qué pierde cada nivel antes de ejecutarlo en Google Scholar.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Paso 4 · Ampliamos los términos con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535680" cy="33832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709928"/>
            <a:ext cx="3169920" cy="31638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Hallazgos útiles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Sinónimos útiles en español e inglés.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Variantes del concepto central.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1208" y="1600200"/>
            <a:ext cx="3535680" cy="3383280"/>
          </a:xfrm>
          <a:prstGeom prst="roundRect">
            <a:avLst>
              <a:gd name="adj" fmla="val 6000"/>
            </a:avLst>
          </a:prstGeom>
          <a:solidFill>
            <a:srgbClr val="F6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14088" y="1709928"/>
            <a:ext cx="3169920" cy="31638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Por verificar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Términos que cambian el sentido de la pregunta.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Fuentes sugeridas sin enlace verificable.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9767" y="1600200"/>
            <a:ext cx="3535680" cy="33832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32647" y="1709928"/>
            <a:ext cx="3169920" cy="31638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Regla de oro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La IA sugiere términos; el investigador prueba la cadena y verifica las fuentes en Scholar.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" y="5257800"/>
            <a:ext cx="10972800" cy="8229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105156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Evalúa cada propuesta antes de buscar y descarta lo que no encaje con tu pregunta.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Paso 5 · Probamos las cadenas en Scholar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Cadena amplia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Cadena específica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Comportamiento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Recupera más con términos generales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Comillas y AND delimitan los conceptos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Volumen y pertinencia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Mayor volumen; revisar pertinencia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Menos resultados; más pertinentes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Trazabilidad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Registrar cadena, fecha y filtros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Registrar fecha, filtros y resultados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Limitaciones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Mucho resultado ajeno al tema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Puede excluir estudios con otros términos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585216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Anota cuántos resultados obtuviste con cada cadena y qué filtros usaste.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Pasos 6 y 7 · Artículo semilla y citas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94960" cy="33832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709928"/>
            <a:ext cx="5029200" cy="31638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Paso 6 · Elegimos un artículo semilla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Selecciona un resultado preliminar y explica por qué parece relevante.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¿Coincide con los conceptos? ¿Se acerca a la población? ¿Abre nuevas rutas?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1600200"/>
            <a:ext cx="5394960" cy="338328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3368" y="1709928"/>
            <a:ext cx="5029200" cy="31638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Paso 7 · Seguimos las citas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Desde ese artículo revisa «Citado por», versiones y artículos relacionados.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Pregunta: ¿qué resultados pertinentes aparecieron?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257800"/>
            <a:ext cx="10972800" cy="8229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257800"/>
            <a:ext cx="1051560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La verificación completa de DOI, metodología y calidad se hace en la sesión siguiente.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Paso 8 · La bitácora documenta el recorrido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6809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Qué se anota</a:t>
                      </a:r>
                    </a:p>
                  </a:txBody>
                  <a:tcPr anchor="ctr" marL="109728" marR="109728">
                    <a:solidFill>
                      <a:srgbClr val="01175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Día en que se hizo la búsqueda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Herramienta o base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Google Scholar, ChatGPT, Claude…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Cadena exacta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Copiada tal cual, con operadores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Filtros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Rango de años, orden, idioma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011754"/>
                          </a:solidFill>
                          <a:latin typeface="Calibri"/>
                        </a:rPr>
                        <a:t>Resultados y notas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011754"/>
                          </a:solidFill>
                          <a:latin typeface="Calibri"/>
                        </a:rPr>
                        <a:t>Cantidad, pertinencia y decisiones</a:t>
                      </a:r>
                    </a:p>
                  </a:txBody>
                  <a:tcPr anchor="ctr" marL="109728" marR="109728">
                    <a:solidFill>
                      <a:srgbClr val="D9DEE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5349240"/>
            <a:ext cx="10972800" cy="77724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5349240"/>
            <a:ext cx="1051560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Si no puedo explicar cómo encontré una fuente, la búsqueda no está documentada.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La decisión final pertenece al investigador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691640"/>
            <a:ext cx="4937760" cy="4023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La IA puede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• Sugerir términos alternativos y sinónimos.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• Explorar conexiones iniciales.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• Organizar tablas preliminares.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• Relacionar autores y literatura.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160020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691640"/>
            <a:ext cx="4937760" cy="4023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D4AF37"/>
                </a:solidFill>
                <a:latin typeface="Calibri"/>
              </a:rPr>
              <a:t>El investigador debe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Evaluar la pertinencia real.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Verificar la autenticidad y el DOI.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Leer críticamente el texto completo.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Decidir qué se incluye y qué se excluye.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89788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Asistencia tecnológica y juicio académico no son lo mismo.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Práctica autónoma: aplica la estrategia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11754"/>
                </a:solidFill>
                <a:latin typeface="Calibri"/>
              </a:rPr>
              <a:t>Caso: relación entre el uso de redes sociales y la calidad del sueño en estudiantes universitarios.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2057400"/>
            <a:ext cx="3535680" cy="19202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67128"/>
            <a:ext cx="3169920" cy="1700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1 · Conceptos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Delimita variables y términos sin asistencia.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1208" y="2057400"/>
            <a:ext cx="3535680" cy="19202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4088" y="2167128"/>
            <a:ext cx="3169920" cy="1700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2 · Vocabulario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Sinónimos y equivalentes en inglés.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9767" y="2057400"/>
            <a:ext cx="3535680" cy="19202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32647" y="2167128"/>
            <a:ext cx="3169920" cy="1700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3 · Tres cadenas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Amplia, intermedia y específica.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" y="4160520"/>
            <a:ext cx="3535680" cy="19202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4270248"/>
            <a:ext cx="3169920" cy="1700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4 · Exploración con IA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Prueba términos alternativos en ChatGPT o Claude.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1208" y="4160520"/>
            <a:ext cx="3535680" cy="19202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4270248"/>
            <a:ext cx="3169920" cy="1700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5 · Ejecución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Corre las cadenas en Google Scholar.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7" y="4160520"/>
            <a:ext cx="3535680" cy="192024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2647" y="4270248"/>
            <a:ext cx="3169920" cy="1700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B4EB4"/>
                </a:solidFill>
                <a:latin typeface="Calibri"/>
              </a:rPr>
              <a:t>6 · Bitácora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Registra y justifica tu selección.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6126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Producto: conceptos, vocabulario, cadenas y bitácora.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Cinco ideas para llevarte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383280" cy="786384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3200400" cy="7863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 · Diseñar estrategia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87368" y="1600200"/>
            <a:ext cx="7498080" cy="786384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600200"/>
            <a:ext cx="7223760" cy="7863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Buscar literatura es diseñar una estrategia intencionada, no escribir al azar.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2505456"/>
            <a:ext cx="3383280" cy="786384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3200400" cy="7863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 · El poder léxico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87368" y="2505456"/>
            <a:ext cx="7498080" cy="786384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2505456"/>
            <a:ext cx="7223760" cy="7863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Las palabras y los operadores que eliges cambian lo que recuperas.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3410712"/>
            <a:ext cx="3383280" cy="786384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10712"/>
            <a:ext cx="3200400" cy="7863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 · La IA explora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87368" y="3410712"/>
            <a:ext cx="7498080" cy="786384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3410712"/>
            <a:ext cx="7223760" cy="7863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Amplía el vocabulario y abre rutas; no cierra la evidencia.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" y="4315968"/>
            <a:ext cx="3383280" cy="786384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15968"/>
            <a:ext cx="3200400" cy="7863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 · Sugerencia ≠ evidencia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87368" y="4315968"/>
            <a:ext cx="7498080" cy="786384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4315968"/>
            <a:ext cx="7223760" cy="7863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Una referencia que muestra un modelo no es evidencia científica.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" y="5221224"/>
            <a:ext cx="3383280" cy="786384"/>
          </a:xfrm>
          <a:prstGeom prst="roundRect">
            <a:avLst>
              <a:gd name="adj" fmla="val 6000"/>
            </a:avLst>
          </a:prstGeom>
          <a:solidFill>
            <a:srgbClr val="2B4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21224"/>
            <a:ext cx="3200400" cy="7863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 · Criterio humano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87368" y="5221224"/>
            <a:ext cx="7498080" cy="786384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5221224"/>
            <a:ext cx="7223760" cy="7863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Evaluar, verificar y seleccionar le corresponde al investigador.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" y="5669280"/>
            <a:ext cx="10972800" cy="594360"/>
          </a:xfrm>
          <a:prstGeom prst="roundRect">
            <a:avLst>
              <a:gd name="adj" fmla="val 6000"/>
            </a:avLst>
          </a:prstGeom>
          <a:solidFill>
            <a:srgbClr val="011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5669280"/>
            <a:ext cx="1051560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¿La IA busca por nosotros o nos ayuda a buscar mejor?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12648" y="777240"/>
            <a:ext cx="103327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836B2"/>
                </a:solidFill>
                <a:latin typeface="Calibri"/>
              </a:rPr>
              <a:t>Bibliografía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Fuentes que sustentan los conceptos, operadores y criterios de esta sesión.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92024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029968"/>
            <a:ext cx="5074920" cy="11978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Martín-Martín, A. et al. (2018)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Google Scholar, Web of Science, and Scopus: a systematic comparison of citations. Journal of Informetrics, 12(4).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92024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2029968"/>
            <a:ext cx="5074920" cy="11978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Booth, A. et al. (2016)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Systematic Approaches to a Successful Literature Review (2.ª ed.). Sage.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" y="342900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3538728"/>
            <a:ext cx="5074920" cy="11978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Wang, S. et al. (2023)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Can ChatGPT Write a Good Boolean Query for Systematic Review Search? SIGIR '23.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342900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3538728"/>
            <a:ext cx="5074920" cy="11978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Walters, W. H., &amp; Wilder, E. I. (2023)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Fabrication and errors in the bibliographic citations generated by ChatGPT. Sci. Rep., 13.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93776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5047488"/>
            <a:ext cx="5074920" cy="11978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Alkaissi, H., &amp; McFarlane, S. I. (2023)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Artificial Hallucinations in ChatGPT: Implications in Scientific Writing. Cureus, 15(2).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493776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D9D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5047488"/>
            <a:ext cx="5074920" cy="11978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B4EB4"/>
                </a:solidFill>
                <a:latin typeface="Calibri"/>
              </a:rPr>
              <a:t>UNESCO (2021)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11754"/>
                </a:solidFill>
                <a:latin typeface="Calibri"/>
              </a:rPr>
              <a:t>Recomendación sobre la ética de la inteligencia artificial.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1271</Words>
  <Application>Microsoft Office PowerPoint</Application>
  <PresentationFormat>Panorámica</PresentationFormat>
  <Paragraphs>233</Paragraphs>
  <Slides>30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Aptos</vt:lpstr>
      <vt:lpstr>Arial</vt:lpstr>
      <vt:lpstr>Calibri</vt:lpstr>
      <vt:lpstr>Fira Sans</vt:lpstr>
      <vt:lpstr>Montserrat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PILAR SAYAN MEJIA</cp:lastModifiedBy>
  <cp:revision>7</cp:revision>
  <dcterms:created xsi:type="dcterms:W3CDTF">2013-01-27T09:14:16Z</dcterms:created>
  <dcterms:modified xsi:type="dcterms:W3CDTF">2026-09-27T19:09:21Z</dcterms:modified>
  <cp:category/>
</cp:coreProperties>
</file>